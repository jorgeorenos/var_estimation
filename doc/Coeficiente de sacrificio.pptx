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73" r:id="rId2"/>
    <p:sldId id="262" r:id="rId3"/>
    <p:sldId id="274" r:id="rId4"/>
    <p:sldId id="263" r:id="rId5"/>
    <p:sldId id="275" r:id="rId6"/>
    <p:sldId id="276" r:id="rId7"/>
    <p:sldId id="277" r:id="rId8"/>
  </p:sldIdLst>
  <p:sldSz cx="12192000" cy="6858000"/>
  <p:notesSz cx="6858000" cy="9144000"/>
  <p:defaultTextStyle>
    <a:defPPr>
      <a:defRPr lang="es-G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F5084F0-A6C4-C578-9AE7-B10C524F5785}" name="Jorge Orenos" initials="JO" userId="23c8ceddaea92e4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F00"/>
    <a:srgbClr val="CFB280"/>
    <a:srgbClr val="00C1EB"/>
    <a:srgbClr val="00A3CF"/>
    <a:srgbClr val="0045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6" autoAdjust="0"/>
    <p:restoredTop sz="96236" autoAdjust="0"/>
  </p:normalViewPr>
  <p:slideViewPr>
    <p:cSldViewPr snapToGrid="0">
      <p:cViewPr varScale="1">
        <p:scale>
          <a:sx n="109" d="100"/>
          <a:sy n="109" d="100"/>
        </p:scale>
        <p:origin x="58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76F4CC-8EEC-4B7D-8690-FE5A2CF4A996}" type="datetimeFigureOut">
              <a:rPr lang="es-MX" smtClean="0"/>
              <a:t>31/10/2025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6B6AF6-8D20-47C3-B043-A4175CDAFA80}" type="slidenum">
              <a:rPr lang="es-MX" smtClean="0"/>
              <a:t>‹Nº›</a:t>
            </a:fld>
            <a:endParaRPr lang="es-MX"/>
          </a:p>
        </p:txBody>
      </p:sp>
    </p:spTree>
    <p:extLst>
      <p:ext uri="{BB962C8B-B14F-4D97-AF65-F5344CB8AC3E}">
        <p14:creationId xmlns:p14="http://schemas.microsoft.com/office/powerpoint/2010/main" val="1112974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4EBBF-A0AB-D2AF-D232-8F293B8B91B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B326EF9-25D5-6B07-6E30-97B17AFB76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4D39E68-53E7-F9B1-7546-37737BF365D1}"/>
              </a:ext>
            </a:extLst>
          </p:cNvPr>
          <p:cNvSpPr>
            <a:spLocks noGrp="1"/>
          </p:cNvSpPr>
          <p:nvPr>
            <p:ph type="body" idx="1"/>
          </p:nvPr>
        </p:nvSpPr>
        <p:spPr/>
        <p:txBody>
          <a:bodyPr/>
          <a:lstStyle/>
          <a:p>
            <a:r>
              <a:rPr lang="es-MX" dirty="0" err="1"/>
              <a:t>The</a:t>
            </a:r>
            <a:r>
              <a:rPr lang="es-MX" dirty="0"/>
              <a:t> case </a:t>
            </a:r>
            <a:r>
              <a:rPr lang="es-MX" dirty="0" err="1"/>
              <a:t>for</a:t>
            </a:r>
            <a:r>
              <a:rPr lang="es-MX" dirty="0"/>
              <a:t> </a:t>
            </a:r>
            <a:r>
              <a:rPr lang="es-MX" dirty="0" err="1"/>
              <a:t>four</a:t>
            </a:r>
            <a:r>
              <a:rPr lang="es-MX" dirty="0"/>
              <a:t> </a:t>
            </a:r>
            <a:r>
              <a:rPr lang="es-MX" dirty="0" err="1"/>
              <a:t>percent</a:t>
            </a:r>
            <a:r>
              <a:rPr lang="es-MX" dirty="0"/>
              <a:t> </a:t>
            </a:r>
            <a:r>
              <a:rPr lang="es-MX" dirty="0" err="1"/>
              <a:t>inflation</a:t>
            </a:r>
            <a:r>
              <a:rPr lang="es-MX" dirty="0"/>
              <a:t> – Laurence Ball – </a:t>
            </a:r>
            <a:r>
              <a:rPr lang="es-MX" dirty="0" err="1"/>
              <a:t>Jhons</a:t>
            </a:r>
            <a:r>
              <a:rPr lang="es-MX" dirty="0"/>
              <a:t> Hopkins </a:t>
            </a:r>
            <a:r>
              <a:rPr lang="es-MX" dirty="0" err="1"/>
              <a:t>University</a:t>
            </a:r>
            <a:r>
              <a:rPr lang="es-MX" dirty="0"/>
              <a:t> propone el vínculo entre la meta de inflación y el problema del límite inferior cero. Además de indicar que estar dentro de este límite podría agravar cualquier crisis, opinión que es compartida por otros economistas como Olivier Blanchard.</a:t>
            </a:r>
          </a:p>
          <a:p>
            <a:endParaRPr lang="es-MX" dirty="0"/>
          </a:p>
          <a:p>
            <a:r>
              <a:rPr lang="es-MX" dirty="0"/>
              <a:t>En el mismo trabajo Laurence Ball propone que la historia de la inflación podría ayudar a explicar porque no se había padecido del problema del límite inferior cero. Pone de ejemplo a japón y la recesión de 2008 indicando que estas sucedieron en periodos en los cuales le meta de inflación era baja para las economías avanzadas.</a:t>
            </a:r>
          </a:p>
          <a:p>
            <a:endParaRPr lang="es-MX" dirty="0"/>
          </a:p>
          <a:p>
            <a:endParaRPr lang="es-MX" dirty="0"/>
          </a:p>
        </p:txBody>
      </p:sp>
      <p:sp>
        <p:nvSpPr>
          <p:cNvPr id="4" name="Marcador de número de diapositiva 3">
            <a:extLst>
              <a:ext uri="{FF2B5EF4-FFF2-40B4-BE49-F238E27FC236}">
                <a16:creationId xmlns:a16="http://schemas.microsoft.com/office/drawing/2014/main" id="{400DCB3C-08D4-50A6-D500-C836FCBA5014}"/>
              </a:ext>
            </a:extLst>
          </p:cNvPr>
          <p:cNvSpPr>
            <a:spLocks noGrp="1"/>
          </p:cNvSpPr>
          <p:nvPr>
            <p:ph type="sldNum" sz="quarter" idx="5"/>
          </p:nvPr>
        </p:nvSpPr>
        <p:spPr/>
        <p:txBody>
          <a:bodyPr/>
          <a:lstStyle/>
          <a:p>
            <a:fld id="{106B6AF6-8D20-47C3-B043-A4175CDAFA80}" type="slidenum">
              <a:rPr lang="es-MX" smtClean="0"/>
              <a:t>1</a:t>
            </a:fld>
            <a:endParaRPr lang="es-MX"/>
          </a:p>
        </p:txBody>
      </p:sp>
    </p:spTree>
    <p:extLst>
      <p:ext uri="{BB962C8B-B14F-4D97-AF65-F5344CB8AC3E}">
        <p14:creationId xmlns:p14="http://schemas.microsoft.com/office/powerpoint/2010/main" val="1049619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2C489B-6F11-43C2-B59C-A16E77CEDE8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GT"/>
          </a:p>
        </p:txBody>
      </p:sp>
      <p:sp>
        <p:nvSpPr>
          <p:cNvPr id="3" name="Subtítulo 2">
            <a:extLst>
              <a:ext uri="{FF2B5EF4-FFF2-40B4-BE49-F238E27FC236}">
                <a16:creationId xmlns:a16="http://schemas.microsoft.com/office/drawing/2014/main" id="{E581BB51-EF15-41A3-8405-A7B4E2EB95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GT"/>
          </a:p>
        </p:txBody>
      </p:sp>
      <p:sp>
        <p:nvSpPr>
          <p:cNvPr id="4" name="Marcador de fecha 3">
            <a:extLst>
              <a:ext uri="{FF2B5EF4-FFF2-40B4-BE49-F238E27FC236}">
                <a16:creationId xmlns:a16="http://schemas.microsoft.com/office/drawing/2014/main" id="{58C28AEB-2F07-4D8C-A2E2-580F85A3863B}"/>
              </a:ext>
            </a:extLst>
          </p:cNvPr>
          <p:cNvSpPr>
            <a:spLocks noGrp="1"/>
          </p:cNvSpPr>
          <p:nvPr>
            <p:ph type="dt" sz="half" idx="10"/>
          </p:nvPr>
        </p:nvSpPr>
        <p:spPr/>
        <p:txBody>
          <a:bodyPr/>
          <a:lstStyle/>
          <a:p>
            <a:fld id="{D207358E-6E89-42EC-A39F-28F52F3BB1DC}" type="datetimeFigureOut">
              <a:rPr lang="es-GT" smtClean="0"/>
              <a:t>31/10/2025</a:t>
            </a:fld>
            <a:endParaRPr lang="es-GT"/>
          </a:p>
        </p:txBody>
      </p:sp>
      <p:sp>
        <p:nvSpPr>
          <p:cNvPr id="5" name="Marcador de pie de página 4">
            <a:extLst>
              <a:ext uri="{FF2B5EF4-FFF2-40B4-BE49-F238E27FC236}">
                <a16:creationId xmlns:a16="http://schemas.microsoft.com/office/drawing/2014/main" id="{3B1A2453-F67D-4765-8AE1-4E2325754BCE}"/>
              </a:ext>
            </a:extLst>
          </p:cNvPr>
          <p:cNvSpPr>
            <a:spLocks noGrp="1"/>
          </p:cNvSpPr>
          <p:nvPr>
            <p:ph type="ftr" sz="quarter" idx="11"/>
          </p:nvPr>
        </p:nvSpPr>
        <p:spPr/>
        <p:txBody>
          <a:bodyPr/>
          <a:lstStyle/>
          <a:p>
            <a:endParaRPr lang="es-GT"/>
          </a:p>
        </p:txBody>
      </p:sp>
      <p:sp>
        <p:nvSpPr>
          <p:cNvPr id="6" name="Marcador de número de diapositiva 5">
            <a:extLst>
              <a:ext uri="{FF2B5EF4-FFF2-40B4-BE49-F238E27FC236}">
                <a16:creationId xmlns:a16="http://schemas.microsoft.com/office/drawing/2014/main" id="{021ED1F2-212F-41BC-98E9-3FC585E0569D}"/>
              </a:ext>
            </a:extLst>
          </p:cNvPr>
          <p:cNvSpPr>
            <a:spLocks noGrp="1"/>
          </p:cNvSpPr>
          <p:nvPr>
            <p:ph type="sldNum" sz="quarter" idx="12"/>
          </p:nvPr>
        </p:nvSpPr>
        <p:spPr/>
        <p:txBody>
          <a:bodyPr/>
          <a:lstStyle/>
          <a:p>
            <a:fld id="{BD8E36B0-AB87-4E02-9E91-54D4050C1E9E}" type="slidenum">
              <a:rPr lang="es-GT" smtClean="0"/>
              <a:t>‹Nº›</a:t>
            </a:fld>
            <a:endParaRPr lang="es-GT"/>
          </a:p>
        </p:txBody>
      </p:sp>
    </p:spTree>
    <p:extLst>
      <p:ext uri="{BB962C8B-B14F-4D97-AF65-F5344CB8AC3E}">
        <p14:creationId xmlns:p14="http://schemas.microsoft.com/office/powerpoint/2010/main" val="1401935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D9B028-6B31-4ACB-821F-FDFC21CE9606}"/>
              </a:ext>
            </a:extLst>
          </p:cNvPr>
          <p:cNvSpPr>
            <a:spLocks noGrp="1"/>
          </p:cNvSpPr>
          <p:nvPr>
            <p:ph type="title"/>
          </p:nvPr>
        </p:nvSpPr>
        <p:spPr/>
        <p:txBody>
          <a:bodyPr/>
          <a:lstStyle/>
          <a:p>
            <a:r>
              <a:rPr lang="es-ES"/>
              <a:t>Haga clic para modificar el estilo de título del patrón</a:t>
            </a:r>
            <a:endParaRPr lang="es-GT"/>
          </a:p>
        </p:txBody>
      </p:sp>
      <p:sp>
        <p:nvSpPr>
          <p:cNvPr id="3" name="Marcador de contenido 2">
            <a:extLst>
              <a:ext uri="{FF2B5EF4-FFF2-40B4-BE49-F238E27FC236}">
                <a16:creationId xmlns:a16="http://schemas.microsoft.com/office/drawing/2014/main" id="{138570EF-72DA-42EF-9113-108FB679455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4" name="Marcador de fecha 3">
            <a:extLst>
              <a:ext uri="{FF2B5EF4-FFF2-40B4-BE49-F238E27FC236}">
                <a16:creationId xmlns:a16="http://schemas.microsoft.com/office/drawing/2014/main" id="{B9F2D7CE-59E3-438B-BD73-216AB641331B}"/>
              </a:ext>
            </a:extLst>
          </p:cNvPr>
          <p:cNvSpPr>
            <a:spLocks noGrp="1"/>
          </p:cNvSpPr>
          <p:nvPr>
            <p:ph type="dt" sz="half" idx="10"/>
          </p:nvPr>
        </p:nvSpPr>
        <p:spPr/>
        <p:txBody>
          <a:bodyPr/>
          <a:lstStyle/>
          <a:p>
            <a:fld id="{D207358E-6E89-42EC-A39F-28F52F3BB1DC}" type="datetimeFigureOut">
              <a:rPr lang="es-GT" smtClean="0"/>
              <a:t>31/10/2025</a:t>
            </a:fld>
            <a:endParaRPr lang="es-GT"/>
          </a:p>
        </p:txBody>
      </p:sp>
      <p:sp>
        <p:nvSpPr>
          <p:cNvPr id="5" name="Marcador de pie de página 4">
            <a:extLst>
              <a:ext uri="{FF2B5EF4-FFF2-40B4-BE49-F238E27FC236}">
                <a16:creationId xmlns:a16="http://schemas.microsoft.com/office/drawing/2014/main" id="{14F42CEB-251F-4479-9936-AF05CC0DF4A0}"/>
              </a:ext>
            </a:extLst>
          </p:cNvPr>
          <p:cNvSpPr>
            <a:spLocks noGrp="1"/>
          </p:cNvSpPr>
          <p:nvPr>
            <p:ph type="ftr" sz="quarter" idx="11"/>
          </p:nvPr>
        </p:nvSpPr>
        <p:spPr/>
        <p:txBody>
          <a:bodyPr/>
          <a:lstStyle/>
          <a:p>
            <a:endParaRPr lang="es-GT"/>
          </a:p>
        </p:txBody>
      </p:sp>
      <p:sp>
        <p:nvSpPr>
          <p:cNvPr id="6" name="Marcador de número de diapositiva 5">
            <a:extLst>
              <a:ext uri="{FF2B5EF4-FFF2-40B4-BE49-F238E27FC236}">
                <a16:creationId xmlns:a16="http://schemas.microsoft.com/office/drawing/2014/main" id="{0EAEA5EA-BBE6-41EE-9386-CB36549179DF}"/>
              </a:ext>
            </a:extLst>
          </p:cNvPr>
          <p:cNvSpPr>
            <a:spLocks noGrp="1"/>
          </p:cNvSpPr>
          <p:nvPr>
            <p:ph type="sldNum" sz="quarter" idx="12"/>
          </p:nvPr>
        </p:nvSpPr>
        <p:spPr/>
        <p:txBody>
          <a:bodyPr/>
          <a:lstStyle/>
          <a:p>
            <a:fld id="{BD8E36B0-AB87-4E02-9E91-54D4050C1E9E}" type="slidenum">
              <a:rPr lang="es-GT" smtClean="0"/>
              <a:t>‹Nº›</a:t>
            </a:fld>
            <a:endParaRPr lang="es-GT"/>
          </a:p>
        </p:txBody>
      </p:sp>
    </p:spTree>
    <p:extLst>
      <p:ext uri="{BB962C8B-B14F-4D97-AF65-F5344CB8AC3E}">
        <p14:creationId xmlns:p14="http://schemas.microsoft.com/office/powerpoint/2010/main" val="2370539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175F74-0973-47AE-AAB5-7D83B898667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GT"/>
          </a:p>
        </p:txBody>
      </p:sp>
      <p:sp>
        <p:nvSpPr>
          <p:cNvPr id="3" name="Marcador de texto 2">
            <a:extLst>
              <a:ext uri="{FF2B5EF4-FFF2-40B4-BE49-F238E27FC236}">
                <a16:creationId xmlns:a16="http://schemas.microsoft.com/office/drawing/2014/main" id="{BDB2E791-C4E3-4F05-8182-73CA89428BE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2996EAAC-920B-4E9E-9718-8C2F46E9A779}"/>
              </a:ext>
            </a:extLst>
          </p:cNvPr>
          <p:cNvSpPr>
            <a:spLocks noGrp="1"/>
          </p:cNvSpPr>
          <p:nvPr>
            <p:ph type="dt" sz="half" idx="10"/>
          </p:nvPr>
        </p:nvSpPr>
        <p:spPr/>
        <p:txBody>
          <a:bodyPr/>
          <a:lstStyle/>
          <a:p>
            <a:fld id="{D207358E-6E89-42EC-A39F-28F52F3BB1DC}" type="datetimeFigureOut">
              <a:rPr lang="es-GT" smtClean="0"/>
              <a:t>31/10/2025</a:t>
            </a:fld>
            <a:endParaRPr lang="es-GT"/>
          </a:p>
        </p:txBody>
      </p:sp>
      <p:sp>
        <p:nvSpPr>
          <p:cNvPr id="5" name="Marcador de pie de página 4">
            <a:extLst>
              <a:ext uri="{FF2B5EF4-FFF2-40B4-BE49-F238E27FC236}">
                <a16:creationId xmlns:a16="http://schemas.microsoft.com/office/drawing/2014/main" id="{B6E9745B-570D-4250-9790-29DC52000B54}"/>
              </a:ext>
            </a:extLst>
          </p:cNvPr>
          <p:cNvSpPr>
            <a:spLocks noGrp="1"/>
          </p:cNvSpPr>
          <p:nvPr>
            <p:ph type="ftr" sz="quarter" idx="11"/>
          </p:nvPr>
        </p:nvSpPr>
        <p:spPr/>
        <p:txBody>
          <a:bodyPr/>
          <a:lstStyle/>
          <a:p>
            <a:endParaRPr lang="es-GT"/>
          </a:p>
        </p:txBody>
      </p:sp>
      <p:sp>
        <p:nvSpPr>
          <p:cNvPr id="6" name="Marcador de número de diapositiva 5">
            <a:extLst>
              <a:ext uri="{FF2B5EF4-FFF2-40B4-BE49-F238E27FC236}">
                <a16:creationId xmlns:a16="http://schemas.microsoft.com/office/drawing/2014/main" id="{1E447EFE-48A2-4B32-8C1F-D52919EE2D6D}"/>
              </a:ext>
            </a:extLst>
          </p:cNvPr>
          <p:cNvSpPr>
            <a:spLocks noGrp="1"/>
          </p:cNvSpPr>
          <p:nvPr>
            <p:ph type="sldNum" sz="quarter" idx="12"/>
          </p:nvPr>
        </p:nvSpPr>
        <p:spPr/>
        <p:txBody>
          <a:bodyPr/>
          <a:lstStyle/>
          <a:p>
            <a:fld id="{BD8E36B0-AB87-4E02-9E91-54D4050C1E9E}" type="slidenum">
              <a:rPr lang="es-GT" smtClean="0"/>
              <a:t>‹Nº›</a:t>
            </a:fld>
            <a:endParaRPr lang="es-GT"/>
          </a:p>
        </p:txBody>
      </p:sp>
    </p:spTree>
    <p:extLst>
      <p:ext uri="{BB962C8B-B14F-4D97-AF65-F5344CB8AC3E}">
        <p14:creationId xmlns:p14="http://schemas.microsoft.com/office/powerpoint/2010/main" val="358524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76AECE-9F02-4A10-B180-4249ABE8DCA2}"/>
              </a:ext>
            </a:extLst>
          </p:cNvPr>
          <p:cNvSpPr>
            <a:spLocks noGrp="1"/>
          </p:cNvSpPr>
          <p:nvPr>
            <p:ph type="title"/>
          </p:nvPr>
        </p:nvSpPr>
        <p:spPr/>
        <p:txBody>
          <a:bodyPr/>
          <a:lstStyle/>
          <a:p>
            <a:r>
              <a:rPr lang="es-ES"/>
              <a:t>Haga clic para modificar el estilo de título del patrón</a:t>
            </a:r>
            <a:endParaRPr lang="es-GT"/>
          </a:p>
        </p:txBody>
      </p:sp>
      <p:sp>
        <p:nvSpPr>
          <p:cNvPr id="3" name="Marcador de contenido 2">
            <a:extLst>
              <a:ext uri="{FF2B5EF4-FFF2-40B4-BE49-F238E27FC236}">
                <a16:creationId xmlns:a16="http://schemas.microsoft.com/office/drawing/2014/main" id="{AB8982AE-D1DE-437D-B06A-905F2915F87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4" name="Marcador de contenido 3">
            <a:extLst>
              <a:ext uri="{FF2B5EF4-FFF2-40B4-BE49-F238E27FC236}">
                <a16:creationId xmlns:a16="http://schemas.microsoft.com/office/drawing/2014/main" id="{602E218D-884D-4937-ADB3-1DC067B64A8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5" name="Marcador de fecha 4">
            <a:extLst>
              <a:ext uri="{FF2B5EF4-FFF2-40B4-BE49-F238E27FC236}">
                <a16:creationId xmlns:a16="http://schemas.microsoft.com/office/drawing/2014/main" id="{DF35BF05-7B9C-45D3-8D94-DCC0C55C22B4}"/>
              </a:ext>
            </a:extLst>
          </p:cNvPr>
          <p:cNvSpPr>
            <a:spLocks noGrp="1"/>
          </p:cNvSpPr>
          <p:nvPr>
            <p:ph type="dt" sz="half" idx="10"/>
          </p:nvPr>
        </p:nvSpPr>
        <p:spPr/>
        <p:txBody>
          <a:bodyPr/>
          <a:lstStyle/>
          <a:p>
            <a:fld id="{D207358E-6E89-42EC-A39F-28F52F3BB1DC}" type="datetimeFigureOut">
              <a:rPr lang="es-GT" smtClean="0"/>
              <a:t>31/10/2025</a:t>
            </a:fld>
            <a:endParaRPr lang="es-GT"/>
          </a:p>
        </p:txBody>
      </p:sp>
      <p:sp>
        <p:nvSpPr>
          <p:cNvPr id="6" name="Marcador de pie de página 5">
            <a:extLst>
              <a:ext uri="{FF2B5EF4-FFF2-40B4-BE49-F238E27FC236}">
                <a16:creationId xmlns:a16="http://schemas.microsoft.com/office/drawing/2014/main" id="{71D9D067-7482-405C-9725-D7BD831EC637}"/>
              </a:ext>
            </a:extLst>
          </p:cNvPr>
          <p:cNvSpPr>
            <a:spLocks noGrp="1"/>
          </p:cNvSpPr>
          <p:nvPr>
            <p:ph type="ftr" sz="quarter" idx="11"/>
          </p:nvPr>
        </p:nvSpPr>
        <p:spPr/>
        <p:txBody>
          <a:bodyPr/>
          <a:lstStyle/>
          <a:p>
            <a:endParaRPr lang="es-GT"/>
          </a:p>
        </p:txBody>
      </p:sp>
      <p:sp>
        <p:nvSpPr>
          <p:cNvPr id="7" name="Marcador de número de diapositiva 6">
            <a:extLst>
              <a:ext uri="{FF2B5EF4-FFF2-40B4-BE49-F238E27FC236}">
                <a16:creationId xmlns:a16="http://schemas.microsoft.com/office/drawing/2014/main" id="{DCB20F0D-E4E8-4037-A509-FE0334007F18}"/>
              </a:ext>
            </a:extLst>
          </p:cNvPr>
          <p:cNvSpPr>
            <a:spLocks noGrp="1"/>
          </p:cNvSpPr>
          <p:nvPr>
            <p:ph type="sldNum" sz="quarter" idx="12"/>
          </p:nvPr>
        </p:nvSpPr>
        <p:spPr/>
        <p:txBody>
          <a:bodyPr/>
          <a:lstStyle/>
          <a:p>
            <a:fld id="{BD8E36B0-AB87-4E02-9E91-54D4050C1E9E}" type="slidenum">
              <a:rPr lang="es-GT" smtClean="0"/>
              <a:t>‹Nº›</a:t>
            </a:fld>
            <a:endParaRPr lang="es-GT"/>
          </a:p>
        </p:txBody>
      </p:sp>
    </p:spTree>
    <p:extLst>
      <p:ext uri="{BB962C8B-B14F-4D97-AF65-F5344CB8AC3E}">
        <p14:creationId xmlns:p14="http://schemas.microsoft.com/office/powerpoint/2010/main" val="2089948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D4CEE4-751C-41CA-8A85-DA7E63DE8BB8}"/>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GT"/>
          </a:p>
        </p:txBody>
      </p:sp>
      <p:sp>
        <p:nvSpPr>
          <p:cNvPr id="3" name="Marcador de texto 2">
            <a:extLst>
              <a:ext uri="{FF2B5EF4-FFF2-40B4-BE49-F238E27FC236}">
                <a16:creationId xmlns:a16="http://schemas.microsoft.com/office/drawing/2014/main" id="{5EF0BEEC-1A9F-48AE-9342-26E5751D60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CACB47E-12E2-45BA-9DAC-6DFBB8C26E0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5" name="Marcador de texto 4">
            <a:extLst>
              <a:ext uri="{FF2B5EF4-FFF2-40B4-BE49-F238E27FC236}">
                <a16:creationId xmlns:a16="http://schemas.microsoft.com/office/drawing/2014/main" id="{7C3D8530-D6BC-4552-B46A-ACFFF28458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9D761F-E67A-48CE-8D8E-6BFAD2DA8DB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7" name="Marcador de fecha 6">
            <a:extLst>
              <a:ext uri="{FF2B5EF4-FFF2-40B4-BE49-F238E27FC236}">
                <a16:creationId xmlns:a16="http://schemas.microsoft.com/office/drawing/2014/main" id="{3DF86A71-29F9-4042-A7CC-B10D6E119158}"/>
              </a:ext>
            </a:extLst>
          </p:cNvPr>
          <p:cNvSpPr>
            <a:spLocks noGrp="1"/>
          </p:cNvSpPr>
          <p:nvPr>
            <p:ph type="dt" sz="half" idx="10"/>
          </p:nvPr>
        </p:nvSpPr>
        <p:spPr/>
        <p:txBody>
          <a:bodyPr/>
          <a:lstStyle/>
          <a:p>
            <a:fld id="{D207358E-6E89-42EC-A39F-28F52F3BB1DC}" type="datetimeFigureOut">
              <a:rPr lang="es-GT" smtClean="0"/>
              <a:t>31/10/2025</a:t>
            </a:fld>
            <a:endParaRPr lang="es-GT"/>
          </a:p>
        </p:txBody>
      </p:sp>
      <p:sp>
        <p:nvSpPr>
          <p:cNvPr id="8" name="Marcador de pie de página 7">
            <a:extLst>
              <a:ext uri="{FF2B5EF4-FFF2-40B4-BE49-F238E27FC236}">
                <a16:creationId xmlns:a16="http://schemas.microsoft.com/office/drawing/2014/main" id="{407A42DB-40AE-48EA-AEA0-004B9FC53FF9}"/>
              </a:ext>
            </a:extLst>
          </p:cNvPr>
          <p:cNvSpPr>
            <a:spLocks noGrp="1"/>
          </p:cNvSpPr>
          <p:nvPr>
            <p:ph type="ftr" sz="quarter" idx="11"/>
          </p:nvPr>
        </p:nvSpPr>
        <p:spPr/>
        <p:txBody>
          <a:bodyPr/>
          <a:lstStyle/>
          <a:p>
            <a:endParaRPr lang="es-GT"/>
          </a:p>
        </p:txBody>
      </p:sp>
      <p:sp>
        <p:nvSpPr>
          <p:cNvPr id="9" name="Marcador de número de diapositiva 8">
            <a:extLst>
              <a:ext uri="{FF2B5EF4-FFF2-40B4-BE49-F238E27FC236}">
                <a16:creationId xmlns:a16="http://schemas.microsoft.com/office/drawing/2014/main" id="{6200B0AA-C1CA-489A-B955-71FC57A8646B}"/>
              </a:ext>
            </a:extLst>
          </p:cNvPr>
          <p:cNvSpPr>
            <a:spLocks noGrp="1"/>
          </p:cNvSpPr>
          <p:nvPr>
            <p:ph type="sldNum" sz="quarter" idx="12"/>
          </p:nvPr>
        </p:nvSpPr>
        <p:spPr/>
        <p:txBody>
          <a:bodyPr/>
          <a:lstStyle/>
          <a:p>
            <a:fld id="{BD8E36B0-AB87-4E02-9E91-54D4050C1E9E}" type="slidenum">
              <a:rPr lang="es-GT" smtClean="0"/>
              <a:t>‹Nº›</a:t>
            </a:fld>
            <a:endParaRPr lang="es-GT"/>
          </a:p>
        </p:txBody>
      </p:sp>
    </p:spTree>
    <p:extLst>
      <p:ext uri="{BB962C8B-B14F-4D97-AF65-F5344CB8AC3E}">
        <p14:creationId xmlns:p14="http://schemas.microsoft.com/office/powerpoint/2010/main" val="3671652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381559-553F-4156-BE5A-DDA2BDB85DED}"/>
              </a:ext>
            </a:extLst>
          </p:cNvPr>
          <p:cNvSpPr>
            <a:spLocks noGrp="1"/>
          </p:cNvSpPr>
          <p:nvPr>
            <p:ph type="title"/>
          </p:nvPr>
        </p:nvSpPr>
        <p:spPr/>
        <p:txBody>
          <a:bodyPr/>
          <a:lstStyle/>
          <a:p>
            <a:r>
              <a:rPr lang="es-ES"/>
              <a:t>Haga clic para modificar el estilo de título del patrón</a:t>
            </a:r>
            <a:endParaRPr lang="es-GT"/>
          </a:p>
        </p:txBody>
      </p:sp>
      <p:sp>
        <p:nvSpPr>
          <p:cNvPr id="3" name="Marcador de fecha 2">
            <a:extLst>
              <a:ext uri="{FF2B5EF4-FFF2-40B4-BE49-F238E27FC236}">
                <a16:creationId xmlns:a16="http://schemas.microsoft.com/office/drawing/2014/main" id="{E2831B6F-FC91-46E9-AF0E-14687FC65D37}"/>
              </a:ext>
            </a:extLst>
          </p:cNvPr>
          <p:cNvSpPr>
            <a:spLocks noGrp="1"/>
          </p:cNvSpPr>
          <p:nvPr>
            <p:ph type="dt" sz="half" idx="10"/>
          </p:nvPr>
        </p:nvSpPr>
        <p:spPr/>
        <p:txBody>
          <a:bodyPr/>
          <a:lstStyle/>
          <a:p>
            <a:fld id="{D207358E-6E89-42EC-A39F-28F52F3BB1DC}" type="datetimeFigureOut">
              <a:rPr lang="es-GT" smtClean="0"/>
              <a:t>31/10/2025</a:t>
            </a:fld>
            <a:endParaRPr lang="es-GT"/>
          </a:p>
        </p:txBody>
      </p:sp>
      <p:sp>
        <p:nvSpPr>
          <p:cNvPr id="4" name="Marcador de pie de página 3">
            <a:extLst>
              <a:ext uri="{FF2B5EF4-FFF2-40B4-BE49-F238E27FC236}">
                <a16:creationId xmlns:a16="http://schemas.microsoft.com/office/drawing/2014/main" id="{F1D4840B-3510-4D46-95F9-4BAB216072CD}"/>
              </a:ext>
            </a:extLst>
          </p:cNvPr>
          <p:cNvSpPr>
            <a:spLocks noGrp="1"/>
          </p:cNvSpPr>
          <p:nvPr>
            <p:ph type="ftr" sz="quarter" idx="11"/>
          </p:nvPr>
        </p:nvSpPr>
        <p:spPr/>
        <p:txBody>
          <a:bodyPr/>
          <a:lstStyle/>
          <a:p>
            <a:endParaRPr lang="es-GT"/>
          </a:p>
        </p:txBody>
      </p:sp>
      <p:sp>
        <p:nvSpPr>
          <p:cNvPr id="5" name="Marcador de número de diapositiva 4">
            <a:extLst>
              <a:ext uri="{FF2B5EF4-FFF2-40B4-BE49-F238E27FC236}">
                <a16:creationId xmlns:a16="http://schemas.microsoft.com/office/drawing/2014/main" id="{286301C2-B966-484F-A207-3D13EE1B4440}"/>
              </a:ext>
            </a:extLst>
          </p:cNvPr>
          <p:cNvSpPr>
            <a:spLocks noGrp="1"/>
          </p:cNvSpPr>
          <p:nvPr>
            <p:ph type="sldNum" sz="quarter" idx="12"/>
          </p:nvPr>
        </p:nvSpPr>
        <p:spPr/>
        <p:txBody>
          <a:bodyPr/>
          <a:lstStyle/>
          <a:p>
            <a:fld id="{BD8E36B0-AB87-4E02-9E91-54D4050C1E9E}" type="slidenum">
              <a:rPr lang="es-GT" smtClean="0"/>
              <a:t>‹Nº›</a:t>
            </a:fld>
            <a:endParaRPr lang="es-GT"/>
          </a:p>
        </p:txBody>
      </p:sp>
    </p:spTree>
    <p:extLst>
      <p:ext uri="{BB962C8B-B14F-4D97-AF65-F5344CB8AC3E}">
        <p14:creationId xmlns:p14="http://schemas.microsoft.com/office/powerpoint/2010/main" val="293716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CF6A49D-19AF-4B3E-BF96-D18F89C6FEF8}"/>
              </a:ext>
            </a:extLst>
          </p:cNvPr>
          <p:cNvSpPr>
            <a:spLocks noGrp="1"/>
          </p:cNvSpPr>
          <p:nvPr>
            <p:ph type="dt" sz="half" idx="10"/>
          </p:nvPr>
        </p:nvSpPr>
        <p:spPr/>
        <p:txBody>
          <a:bodyPr/>
          <a:lstStyle/>
          <a:p>
            <a:fld id="{D207358E-6E89-42EC-A39F-28F52F3BB1DC}" type="datetimeFigureOut">
              <a:rPr lang="es-GT" smtClean="0"/>
              <a:t>31/10/2025</a:t>
            </a:fld>
            <a:endParaRPr lang="es-GT"/>
          </a:p>
        </p:txBody>
      </p:sp>
      <p:sp>
        <p:nvSpPr>
          <p:cNvPr id="3" name="Marcador de pie de página 2">
            <a:extLst>
              <a:ext uri="{FF2B5EF4-FFF2-40B4-BE49-F238E27FC236}">
                <a16:creationId xmlns:a16="http://schemas.microsoft.com/office/drawing/2014/main" id="{832C2EB8-0DF8-4E66-8886-F930E51345FB}"/>
              </a:ext>
            </a:extLst>
          </p:cNvPr>
          <p:cNvSpPr>
            <a:spLocks noGrp="1"/>
          </p:cNvSpPr>
          <p:nvPr>
            <p:ph type="ftr" sz="quarter" idx="11"/>
          </p:nvPr>
        </p:nvSpPr>
        <p:spPr/>
        <p:txBody>
          <a:bodyPr/>
          <a:lstStyle/>
          <a:p>
            <a:endParaRPr lang="es-GT"/>
          </a:p>
        </p:txBody>
      </p:sp>
      <p:sp>
        <p:nvSpPr>
          <p:cNvPr id="4" name="Marcador de número de diapositiva 3">
            <a:extLst>
              <a:ext uri="{FF2B5EF4-FFF2-40B4-BE49-F238E27FC236}">
                <a16:creationId xmlns:a16="http://schemas.microsoft.com/office/drawing/2014/main" id="{BB6F46F0-035A-4AE9-8B34-D3163A4A8AE6}"/>
              </a:ext>
            </a:extLst>
          </p:cNvPr>
          <p:cNvSpPr>
            <a:spLocks noGrp="1"/>
          </p:cNvSpPr>
          <p:nvPr>
            <p:ph type="sldNum" sz="quarter" idx="12"/>
          </p:nvPr>
        </p:nvSpPr>
        <p:spPr/>
        <p:txBody>
          <a:bodyPr/>
          <a:lstStyle/>
          <a:p>
            <a:fld id="{BD8E36B0-AB87-4E02-9E91-54D4050C1E9E}" type="slidenum">
              <a:rPr lang="es-GT" smtClean="0"/>
              <a:t>‹Nº›</a:t>
            </a:fld>
            <a:endParaRPr lang="es-GT"/>
          </a:p>
        </p:txBody>
      </p:sp>
    </p:spTree>
    <p:extLst>
      <p:ext uri="{BB962C8B-B14F-4D97-AF65-F5344CB8AC3E}">
        <p14:creationId xmlns:p14="http://schemas.microsoft.com/office/powerpoint/2010/main" val="2704777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375D32-E2CF-48A7-9AE6-E542A183C09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GT"/>
          </a:p>
        </p:txBody>
      </p:sp>
      <p:sp>
        <p:nvSpPr>
          <p:cNvPr id="3" name="Marcador de contenido 2">
            <a:extLst>
              <a:ext uri="{FF2B5EF4-FFF2-40B4-BE49-F238E27FC236}">
                <a16:creationId xmlns:a16="http://schemas.microsoft.com/office/drawing/2014/main" id="{D4D4BDAE-C21B-490F-9E6D-C23DAA5D17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4" name="Marcador de texto 3">
            <a:extLst>
              <a:ext uri="{FF2B5EF4-FFF2-40B4-BE49-F238E27FC236}">
                <a16:creationId xmlns:a16="http://schemas.microsoft.com/office/drawing/2014/main" id="{FCD4F73E-49BD-48F4-B6FC-8FBAE596C1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756D542-DC57-4EC6-B039-E65C3DC538C9}"/>
              </a:ext>
            </a:extLst>
          </p:cNvPr>
          <p:cNvSpPr>
            <a:spLocks noGrp="1"/>
          </p:cNvSpPr>
          <p:nvPr>
            <p:ph type="dt" sz="half" idx="10"/>
          </p:nvPr>
        </p:nvSpPr>
        <p:spPr/>
        <p:txBody>
          <a:bodyPr/>
          <a:lstStyle/>
          <a:p>
            <a:fld id="{D207358E-6E89-42EC-A39F-28F52F3BB1DC}" type="datetimeFigureOut">
              <a:rPr lang="es-GT" smtClean="0"/>
              <a:t>31/10/2025</a:t>
            </a:fld>
            <a:endParaRPr lang="es-GT"/>
          </a:p>
        </p:txBody>
      </p:sp>
      <p:sp>
        <p:nvSpPr>
          <p:cNvPr id="6" name="Marcador de pie de página 5">
            <a:extLst>
              <a:ext uri="{FF2B5EF4-FFF2-40B4-BE49-F238E27FC236}">
                <a16:creationId xmlns:a16="http://schemas.microsoft.com/office/drawing/2014/main" id="{700B3145-F035-4526-BC8F-1F485C3E6AAE}"/>
              </a:ext>
            </a:extLst>
          </p:cNvPr>
          <p:cNvSpPr>
            <a:spLocks noGrp="1"/>
          </p:cNvSpPr>
          <p:nvPr>
            <p:ph type="ftr" sz="quarter" idx="11"/>
          </p:nvPr>
        </p:nvSpPr>
        <p:spPr/>
        <p:txBody>
          <a:bodyPr/>
          <a:lstStyle/>
          <a:p>
            <a:endParaRPr lang="es-GT"/>
          </a:p>
        </p:txBody>
      </p:sp>
      <p:sp>
        <p:nvSpPr>
          <p:cNvPr id="7" name="Marcador de número de diapositiva 6">
            <a:extLst>
              <a:ext uri="{FF2B5EF4-FFF2-40B4-BE49-F238E27FC236}">
                <a16:creationId xmlns:a16="http://schemas.microsoft.com/office/drawing/2014/main" id="{00C8CF14-0901-4F08-90F4-C36C1F3AE6EA}"/>
              </a:ext>
            </a:extLst>
          </p:cNvPr>
          <p:cNvSpPr>
            <a:spLocks noGrp="1"/>
          </p:cNvSpPr>
          <p:nvPr>
            <p:ph type="sldNum" sz="quarter" idx="12"/>
          </p:nvPr>
        </p:nvSpPr>
        <p:spPr/>
        <p:txBody>
          <a:bodyPr/>
          <a:lstStyle/>
          <a:p>
            <a:fld id="{BD8E36B0-AB87-4E02-9E91-54D4050C1E9E}" type="slidenum">
              <a:rPr lang="es-GT" smtClean="0"/>
              <a:t>‹Nº›</a:t>
            </a:fld>
            <a:endParaRPr lang="es-GT"/>
          </a:p>
        </p:txBody>
      </p:sp>
    </p:spTree>
    <p:extLst>
      <p:ext uri="{BB962C8B-B14F-4D97-AF65-F5344CB8AC3E}">
        <p14:creationId xmlns:p14="http://schemas.microsoft.com/office/powerpoint/2010/main" val="27385777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7B2C8C-0DEB-4CAB-B0D0-05303338856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GT"/>
          </a:p>
        </p:txBody>
      </p:sp>
      <p:sp>
        <p:nvSpPr>
          <p:cNvPr id="3" name="Marcador de posición de imagen 2">
            <a:extLst>
              <a:ext uri="{FF2B5EF4-FFF2-40B4-BE49-F238E27FC236}">
                <a16:creationId xmlns:a16="http://schemas.microsoft.com/office/drawing/2014/main" id="{0F5C2178-5B2A-4742-BD2D-6AF3822DDF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GT"/>
          </a:p>
        </p:txBody>
      </p:sp>
      <p:sp>
        <p:nvSpPr>
          <p:cNvPr id="4" name="Marcador de texto 3">
            <a:extLst>
              <a:ext uri="{FF2B5EF4-FFF2-40B4-BE49-F238E27FC236}">
                <a16:creationId xmlns:a16="http://schemas.microsoft.com/office/drawing/2014/main" id="{9B1D62EE-93C6-4F39-96CE-B9A0F310F2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7F37D26-9A3F-405B-B4BA-7C407BCA940A}"/>
              </a:ext>
            </a:extLst>
          </p:cNvPr>
          <p:cNvSpPr>
            <a:spLocks noGrp="1"/>
          </p:cNvSpPr>
          <p:nvPr>
            <p:ph type="dt" sz="half" idx="10"/>
          </p:nvPr>
        </p:nvSpPr>
        <p:spPr/>
        <p:txBody>
          <a:bodyPr/>
          <a:lstStyle/>
          <a:p>
            <a:fld id="{D207358E-6E89-42EC-A39F-28F52F3BB1DC}" type="datetimeFigureOut">
              <a:rPr lang="es-GT" smtClean="0"/>
              <a:t>31/10/2025</a:t>
            </a:fld>
            <a:endParaRPr lang="es-GT"/>
          </a:p>
        </p:txBody>
      </p:sp>
      <p:sp>
        <p:nvSpPr>
          <p:cNvPr id="6" name="Marcador de pie de página 5">
            <a:extLst>
              <a:ext uri="{FF2B5EF4-FFF2-40B4-BE49-F238E27FC236}">
                <a16:creationId xmlns:a16="http://schemas.microsoft.com/office/drawing/2014/main" id="{8E28E0CB-8BFD-42EE-BE5B-79C238410AED}"/>
              </a:ext>
            </a:extLst>
          </p:cNvPr>
          <p:cNvSpPr>
            <a:spLocks noGrp="1"/>
          </p:cNvSpPr>
          <p:nvPr>
            <p:ph type="ftr" sz="quarter" idx="11"/>
          </p:nvPr>
        </p:nvSpPr>
        <p:spPr/>
        <p:txBody>
          <a:bodyPr/>
          <a:lstStyle/>
          <a:p>
            <a:endParaRPr lang="es-GT"/>
          </a:p>
        </p:txBody>
      </p:sp>
      <p:sp>
        <p:nvSpPr>
          <p:cNvPr id="7" name="Marcador de número de diapositiva 6">
            <a:extLst>
              <a:ext uri="{FF2B5EF4-FFF2-40B4-BE49-F238E27FC236}">
                <a16:creationId xmlns:a16="http://schemas.microsoft.com/office/drawing/2014/main" id="{006A02E3-FE4E-4175-AFE0-A4A3379CE7C4}"/>
              </a:ext>
            </a:extLst>
          </p:cNvPr>
          <p:cNvSpPr>
            <a:spLocks noGrp="1"/>
          </p:cNvSpPr>
          <p:nvPr>
            <p:ph type="sldNum" sz="quarter" idx="12"/>
          </p:nvPr>
        </p:nvSpPr>
        <p:spPr/>
        <p:txBody>
          <a:bodyPr/>
          <a:lstStyle/>
          <a:p>
            <a:fld id="{BD8E36B0-AB87-4E02-9E91-54D4050C1E9E}" type="slidenum">
              <a:rPr lang="es-GT" smtClean="0"/>
              <a:t>‹Nº›</a:t>
            </a:fld>
            <a:endParaRPr lang="es-GT"/>
          </a:p>
        </p:txBody>
      </p:sp>
    </p:spTree>
    <p:extLst>
      <p:ext uri="{BB962C8B-B14F-4D97-AF65-F5344CB8AC3E}">
        <p14:creationId xmlns:p14="http://schemas.microsoft.com/office/powerpoint/2010/main" val="136400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DF781A-342F-4707-BA3B-4441EFCB48C7}"/>
              </a:ext>
            </a:extLst>
          </p:cNvPr>
          <p:cNvSpPr>
            <a:spLocks noGrp="1"/>
          </p:cNvSpPr>
          <p:nvPr>
            <p:ph type="title"/>
          </p:nvPr>
        </p:nvSpPr>
        <p:spPr/>
        <p:txBody>
          <a:bodyPr/>
          <a:lstStyle/>
          <a:p>
            <a:r>
              <a:rPr lang="es-ES"/>
              <a:t>Haga clic para modificar el estilo de título del patrón</a:t>
            </a:r>
            <a:endParaRPr lang="es-GT"/>
          </a:p>
        </p:txBody>
      </p:sp>
      <p:sp>
        <p:nvSpPr>
          <p:cNvPr id="3" name="Marcador de texto vertical 2">
            <a:extLst>
              <a:ext uri="{FF2B5EF4-FFF2-40B4-BE49-F238E27FC236}">
                <a16:creationId xmlns:a16="http://schemas.microsoft.com/office/drawing/2014/main" id="{4A764C5A-1724-431B-8632-CAEA8DB47AC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4" name="Marcador de fecha 3">
            <a:extLst>
              <a:ext uri="{FF2B5EF4-FFF2-40B4-BE49-F238E27FC236}">
                <a16:creationId xmlns:a16="http://schemas.microsoft.com/office/drawing/2014/main" id="{7AAB1DEA-1869-4E53-8BB8-064162A3EAEA}"/>
              </a:ext>
            </a:extLst>
          </p:cNvPr>
          <p:cNvSpPr>
            <a:spLocks noGrp="1"/>
          </p:cNvSpPr>
          <p:nvPr>
            <p:ph type="dt" sz="half" idx="10"/>
          </p:nvPr>
        </p:nvSpPr>
        <p:spPr/>
        <p:txBody>
          <a:bodyPr/>
          <a:lstStyle/>
          <a:p>
            <a:fld id="{D207358E-6E89-42EC-A39F-28F52F3BB1DC}" type="datetimeFigureOut">
              <a:rPr lang="es-GT" smtClean="0"/>
              <a:t>31/10/2025</a:t>
            </a:fld>
            <a:endParaRPr lang="es-GT"/>
          </a:p>
        </p:txBody>
      </p:sp>
      <p:sp>
        <p:nvSpPr>
          <p:cNvPr id="5" name="Marcador de pie de página 4">
            <a:extLst>
              <a:ext uri="{FF2B5EF4-FFF2-40B4-BE49-F238E27FC236}">
                <a16:creationId xmlns:a16="http://schemas.microsoft.com/office/drawing/2014/main" id="{2CAAC54A-1BD3-4F45-971D-4AC95E1B6A10}"/>
              </a:ext>
            </a:extLst>
          </p:cNvPr>
          <p:cNvSpPr>
            <a:spLocks noGrp="1"/>
          </p:cNvSpPr>
          <p:nvPr>
            <p:ph type="ftr" sz="quarter" idx="11"/>
          </p:nvPr>
        </p:nvSpPr>
        <p:spPr/>
        <p:txBody>
          <a:bodyPr/>
          <a:lstStyle/>
          <a:p>
            <a:endParaRPr lang="es-GT"/>
          </a:p>
        </p:txBody>
      </p:sp>
      <p:sp>
        <p:nvSpPr>
          <p:cNvPr id="6" name="Marcador de número de diapositiva 5">
            <a:extLst>
              <a:ext uri="{FF2B5EF4-FFF2-40B4-BE49-F238E27FC236}">
                <a16:creationId xmlns:a16="http://schemas.microsoft.com/office/drawing/2014/main" id="{BDE40B26-F095-454A-BD41-2109BB8B9F68}"/>
              </a:ext>
            </a:extLst>
          </p:cNvPr>
          <p:cNvSpPr>
            <a:spLocks noGrp="1"/>
          </p:cNvSpPr>
          <p:nvPr>
            <p:ph type="sldNum" sz="quarter" idx="12"/>
          </p:nvPr>
        </p:nvSpPr>
        <p:spPr/>
        <p:txBody>
          <a:bodyPr/>
          <a:lstStyle/>
          <a:p>
            <a:fld id="{BD8E36B0-AB87-4E02-9E91-54D4050C1E9E}" type="slidenum">
              <a:rPr lang="es-GT" smtClean="0"/>
              <a:t>‹Nº›</a:t>
            </a:fld>
            <a:endParaRPr lang="es-GT"/>
          </a:p>
        </p:txBody>
      </p:sp>
    </p:spTree>
    <p:extLst>
      <p:ext uri="{BB962C8B-B14F-4D97-AF65-F5344CB8AC3E}">
        <p14:creationId xmlns:p14="http://schemas.microsoft.com/office/powerpoint/2010/main" val="70330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BED5CAC-C9E0-40C9-85B8-B768CA32E9B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GT"/>
          </a:p>
        </p:txBody>
      </p:sp>
      <p:sp>
        <p:nvSpPr>
          <p:cNvPr id="3" name="Marcador de texto vertical 2">
            <a:extLst>
              <a:ext uri="{FF2B5EF4-FFF2-40B4-BE49-F238E27FC236}">
                <a16:creationId xmlns:a16="http://schemas.microsoft.com/office/drawing/2014/main" id="{7467D9E6-123F-41B7-A04F-DCA753C81F81}"/>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4" name="Marcador de fecha 3">
            <a:extLst>
              <a:ext uri="{FF2B5EF4-FFF2-40B4-BE49-F238E27FC236}">
                <a16:creationId xmlns:a16="http://schemas.microsoft.com/office/drawing/2014/main" id="{31FB598A-56BC-46F3-B83E-1253BF71F5A1}"/>
              </a:ext>
            </a:extLst>
          </p:cNvPr>
          <p:cNvSpPr>
            <a:spLocks noGrp="1"/>
          </p:cNvSpPr>
          <p:nvPr>
            <p:ph type="dt" sz="half" idx="10"/>
          </p:nvPr>
        </p:nvSpPr>
        <p:spPr/>
        <p:txBody>
          <a:bodyPr/>
          <a:lstStyle/>
          <a:p>
            <a:fld id="{D207358E-6E89-42EC-A39F-28F52F3BB1DC}" type="datetimeFigureOut">
              <a:rPr lang="es-GT" smtClean="0"/>
              <a:t>31/10/2025</a:t>
            </a:fld>
            <a:endParaRPr lang="es-GT"/>
          </a:p>
        </p:txBody>
      </p:sp>
      <p:sp>
        <p:nvSpPr>
          <p:cNvPr id="5" name="Marcador de pie de página 4">
            <a:extLst>
              <a:ext uri="{FF2B5EF4-FFF2-40B4-BE49-F238E27FC236}">
                <a16:creationId xmlns:a16="http://schemas.microsoft.com/office/drawing/2014/main" id="{EC925A9B-E620-4C4A-88E6-383AF9626E40}"/>
              </a:ext>
            </a:extLst>
          </p:cNvPr>
          <p:cNvSpPr>
            <a:spLocks noGrp="1"/>
          </p:cNvSpPr>
          <p:nvPr>
            <p:ph type="ftr" sz="quarter" idx="11"/>
          </p:nvPr>
        </p:nvSpPr>
        <p:spPr/>
        <p:txBody>
          <a:bodyPr/>
          <a:lstStyle/>
          <a:p>
            <a:endParaRPr lang="es-GT"/>
          </a:p>
        </p:txBody>
      </p:sp>
      <p:sp>
        <p:nvSpPr>
          <p:cNvPr id="6" name="Marcador de número de diapositiva 5">
            <a:extLst>
              <a:ext uri="{FF2B5EF4-FFF2-40B4-BE49-F238E27FC236}">
                <a16:creationId xmlns:a16="http://schemas.microsoft.com/office/drawing/2014/main" id="{9FDF1B5D-1F1E-417A-985A-E6FAB540C6D5}"/>
              </a:ext>
            </a:extLst>
          </p:cNvPr>
          <p:cNvSpPr>
            <a:spLocks noGrp="1"/>
          </p:cNvSpPr>
          <p:nvPr>
            <p:ph type="sldNum" sz="quarter" idx="12"/>
          </p:nvPr>
        </p:nvSpPr>
        <p:spPr/>
        <p:txBody>
          <a:bodyPr/>
          <a:lstStyle/>
          <a:p>
            <a:fld id="{BD8E36B0-AB87-4E02-9E91-54D4050C1E9E}" type="slidenum">
              <a:rPr lang="es-GT" smtClean="0"/>
              <a:t>‹Nº›</a:t>
            </a:fld>
            <a:endParaRPr lang="es-GT"/>
          </a:p>
        </p:txBody>
      </p:sp>
    </p:spTree>
    <p:extLst>
      <p:ext uri="{BB962C8B-B14F-4D97-AF65-F5344CB8AC3E}">
        <p14:creationId xmlns:p14="http://schemas.microsoft.com/office/powerpoint/2010/main" val="4245689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99E81DA-632F-4299-86AA-DCE8552E6B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GT"/>
          </a:p>
        </p:txBody>
      </p:sp>
      <p:sp>
        <p:nvSpPr>
          <p:cNvPr id="3" name="Marcador de texto 2">
            <a:extLst>
              <a:ext uri="{FF2B5EF4-FFF2-40B4-BE49-F238E27FC236}">
                <a16:creationId xmlns:a16="http://schemas.microsoft.com/office/drawing/2014/main" id="{50A8CBD5-EAA2-42A8-98B4-EBD1B60363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4" name="Marcador de fecha 3">
            <a:extLst>
              <a:ext uri="{FF2B5EF4-FFF2-40B4-BE49-F238E27FC236}">
                <a16:creationId xmlns:a16="http://schemas.microsoft.com/office/drawing/2014/main" id="{210C411A-98C9-437D-B36B-A34C603187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07358E-6E89-42EC-A39F-28F52F3BB1DC}" type="datetimeFigureOut">
              <a:rPr lang="es-GT" smtClean="0"/>
              <a:t>31/10/2025</a:t>
            </a:fld>
            <a:endParaRPr lang="es-GT"/>
          </a:p>
        </p:txBody>
      </p:sp>
      <p:sp>
        <p:nvSpPr>
          <p:cNvPr id="5" name="Marcador de pie de página 4">
            <a:extLst>
              <a:ext uri="{FF2B5EF4-FFF2-40B4-BE49-F238E27FC236}">
                <a16:creationId xmlns:a16="http://schemas.microsoft.com/office/drawing/2014/main" id="{33B54C67-9F37-478C-AD62-79A0A9FA12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GT"/>
          </a:p>
        </p:txBody>
      </p:sp>
      <p:sp>
        <p:nvSpPr>
          <p:cNvPr id="6" name="Marcador de número de diapositiva 5">
            <a:extLst>
              <a:ext uri="{FF2B5EF4-FFF2-40B4-BE49-F238E27FC236}">
                <a16:creationId xmlns:a16="http://schemas.microsoft.com/office/drawing/2014/main" id="{6BB1516F-ADAF-48DB-8451-CEA724D936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8E36B0-AB87-4E02-9E91-54D4050C1E9E}" type="slidenum">
              <a:rPr lang="es-GT" smtClean="0"/>
              <a:t>‹Nº›</a:t>
            </a:fld>
            <a:endParaRPr lang="es-GT"/>
          </a:p>
        </p:txBody>
      </p:sp>
    </p:spTree>
    <p:extLst>
      <p:ext uri="{BB962C8B-B14F-4D97-AF65-F5344CB8AC3E}">
        <p14:creationId xmlns:p14="http://schemas.microsoft.com/office/powerpoint/2010/main" val="32387334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G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AA1A9-8DB9-8217-6799-61188BA14BE4}"/>
            </a:ext>
          </a:extLst>
        </p:cNvPr>
        <p:cNvGrpSpPr/>
        <p:nvPr/>
      </p:nvGrpSpPr>
      <p:grpSpPr>
        <a:xfrm>
          <a:off x="0" y="0"/>
          <a:ext cx="0" cy="0"/>
          <a:chOff x="0" y="0"/>
          <a:chExt cx="0" cy="0"/>
        </a:xfrm>
      </p:grpSpPr>
      <p:pic>
        <p:nvPicPr>
          <p:cNvPr id="13" name="Imagen 12">
            <a:extLst>
              <a:ext uri="{FF2B5EF4-FFF2-40B4-BE49-F238E27FC236}">
                <a16:creationId xmlns:a16="http://schemas.microsoft.com/office/drawing/2014/main" id="{AB09F7BA-0A85-1EAF-B696-43D631D42693}"/>
              </a:ext>
            </a:extLst>
          </p:cNvPr>
          <p:cNvPicPr>
            <a:picLocks noChangeAspect="1"/>
          </p:cNvPicPr>
          <p:nvPr/>
        </p:nvPicPr>
        <p:blipFill>
          <a:blip r:embed="rId3"/>
          <a:stretch>
            <a:fillRect/>
          </a:stretch>
        </p:blipFill>
        <p:spPr>
          <a:xfrm>
            <a:off x="-1" y="0"/>
            <a:ext cx="12208956" cy="6858000"/>
          </a:xfrm>
          <a:prstGeom prst="rect">
            <a:avLst/>
          </a:prstGeom>
        </p:spPr>
      </p:pic>
      <p:sp>
        <p:nvSpPr>
          <p:cNvPr id="4" name="CuadroTexto 3">
            <a:extLst>
              <a:ext uri="{FF2B5EF4-FFF2-40B4-BE49-F238E27FC236}">
                <a16:creationId xmlns:a16="http://schemas.microsoft.com/office/drawing/2014/main" id="{A6C8FC43-76E7-592A-8555-D7EDEA428B80}"/>
              </a:ext>
            </a:extLst>
          </p:cNvPr>
          <p:cNvSpPr txBox="1"/>
          <p:nvPr/>
        </p:nvSpPr>
        <p:spPr>
          <a:xfrm>
            <a:off x="3575381" y="2357717"/>
            <a:ext cx="4671072" cy="1569660"/>
          </a:xfrm>
          <a:prstGeom prst="rect">
            <a:avLst/>
          </a:prstGeom>
          <a:noFill/>
        </p:spPr>
        <p:txBody>
          <a:bodyPr wrap="square" rtlCol="0">
            <a:spAutoFit/>
          </a:bodyPr>
          <a:lstStyle/>
          <a:p>
            <a:pPr algn="ctr"/>
            <a:r>
              <a:rPr lang="es-MX" sz="4800" b="1" dirty="0">
                <a:solidFill>
                  <a:schemeClr val="bg1"/>
                </a:solidFill>
                <a:latin typeface="Libre Franklin" pitchFamily="2" charset="0"/>
              </a:rPr>
              <a:t>Coeficiente de sacrificio</a:t>
            </a:r>
          </a:p>
        </p:txBody>
      </p:sp>
    </p:spTree>
    <p:extLst>
      <p:ext uri="{BB962C8B-B14F-4D97-AF65-F5344CB8AC3E}">
        <p14:creationId xmlns:p14="http://schemas.microsoft.com/office/powerpoint/2010/main" val="846759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F0AAD-ECC2-32BE-DECD-0D9604DA319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1900F02-ABC8-21BB-307E-1566DCF51A94}"/>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BEE58B2C-E433-81DA-70CB-142F66D78F98}"/>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4B669E8B-6D95-C7F1-3F5A-CFA3D8C0D3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8D9E3BE8-5C07-C585-EA90-C2BBA38C9D99}"/>
              </a:ext>
            </a:extLst>
          </p:cNvPr>
          <p:cNvSpPr txBox="1"/>
          <p:nvPr/>
        </p:nvSpPr>
        <p:spPr>
          <a:xfrm>
            <a:off x="165181" y="207239"/>
            <a:ext cx="9899117" cy="523220"/>
          </a:xfrm>
          <a:prstGeom prst="rect">
            <a:avLst/>
          </a:prstGeom>
          <a:noFill/>
        </p:spPr>
        <p:txBody>
          <a:bodyPr wrap="square" rtlCol="0">
            <a:spAutoFit/>
          </a:bodyPr>
          <a:lstStyle/>
          <a:p>
            <a:r>
              <a:rPr lang="es-ES" sz="2800" b="1" dirty="0">
                <a:latin typeface="Libre Franklin" pitchFamily="2" charset="0"/>
              </a:rPr>
              <a:t>Estimación mediante un SVAR</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98A7597A-60A0-AD08-21CB-F17E93085EDA}"/>
              </a:ext>
            </a:extLst>
          </p:cNvPr>
          <p:cNvCxnSpPr>
            <a:cxnSpLocks/>
          </p:cNvCxnSpPr>
          <p:nvPr/>
        </p:nvCxnSpPr>
        <p:spPr>
          <a:xfrm>
            <a:off x="201081" y="685386"/>
            <a:ext cx="5256000"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FC108DCB-15E3-DC3E-70ED-F000A2B1A319}"/>
              </a:ext>
            </a:extLst>
          </p:cNvPr>
          <p:cNvSpPr txBox="1"/>
          <p:nvPr/>
        </p:nvSpPr>
        <p:spPr>
          <a:xfrm>
            <a:off x="490600" y="747487"/>
            <a:ext cx="9899117" cy="400110"/>
          </a:xfrm>
          <a:prstGeom prst="rect">
            <a:avLst/>
          </a:prstGeom>
          <a:noFill/>
        </p:spPr>
        <p:txBody>
          <a:bodyPr wrap="square" rtlCol="0">
            <a:spAutoFit/>
          </a:bodyPr>
          <a:lstStyle/>
          <a:p>
            <a:r>
              <a:rPr lang="es-ES" sz="2000" b="1" dirty="0">
                <a:latin typeface="Libre Franklin" pitchFamily="2" charset="0"/>
              </a:rPr>
              <a:t>Definición y algunos resultados previos</a:t>
            </a:r>
            <a:endParaRPr lang="es-ES" sz="2000" dirty="0">
              <a:latin typeface="Libre Franklin" pitchFamily="2" charset="0"/>
            </a:endParaRPr>
          </a:p>
        </p:txBody>
      </p:sp>
      <p:sp>
        <p:nvSpPr>
          <p:cNvPr id="15" name="CuadroTexto 14">
            <a:extLst>
              <a:ext uri="{FF2B5EF4-FFF2-40B4-BE49-F238E27FC236}">
                <a16:creationId xmlns:a16="http://schemas.microsoft.com/office/drawing/2014/main" id="{5E32B4D1-3FE8-041C-85DA-C5B67772E78E}"/>
              </a:ext>
            </a:extLst>
          </p:cNvPr>
          <p:cNvSpPr txBox="1"/>
          <p:nvPr/>
        </p:nvSpPr>
        <p:spPr>
          <a:xfrm>
            <a:off x="490600" y="1239672"/>
            <a:ext cx="11338646" cy="1754326"/>
          </a:xfrm>
          <a:prstGeom prst="rect">
            <a:avLst/>
          </a:prstGeom>
          <a:noFill/>
        </p:spPr>
        <p:txBody>
          <a:bodyPr wrap="square">
            <a:spAutoFit/>
          </a:bodyPr>
          <a:lstStyle/>
          <a:p>
            <a:pPr algn="just"/>
            <a:r>
              <a:rPr lang="es-ES" sz="1800" dirty="0">
                <a:latin typeface="Libre Franklin" pitchFamily="2" charset="0"/>
              </a:rPr>
              <a:t>Distintos autores definen al coeficiente de sacrificio como el precio que debe pagarse en términos del producto para conseguir una reducción en el nivel de inflación y proponen utilizar un modelo SVAR identificado por restricciones de largo plazo.</a:t>
            </a:r>
          </a:p>
          <a:p>
            <a:pPr algn="just"/>
            <a:endParaRPr lang="es-ES" dirty="0">
              <a:latin typeface="Libre Franklin" pitchFamily="2" charset="0"/>
            </a:endParaRPr>
          </a:p>
          <a:p>
            <a:pPr algn="just"/>
            <a:r>
              <a:rPr lang="es-ES" sz="1800" dirty="0">
                <a:latin typeface="Libre Franklin" pitchFamily="2" charset="0"/>
              </a:rPr>
              <a:t>El motivo es identificar de manera adecuada los choques de oferta y demanda de tal manera que existan efectos permanentes en la inflación pero que no sea el caso en ele producto.</a:t>
            </a:r>
          </a:p>
        </p:txBody>
      </p:sp>
      <p:sp>
        <p:nvSpPr>
          <p:cNvPr id="9" name="CuadroTexto 8">
            <a:extLst>
              <a:ext uri="{FF2B5EF4-FFF2-40B4-BE49-F238E27FC236}">
                <a16:creationId xmlns:a16="http://schemas.microsoft.com/office/drawing/2014/main" id="{746EDFA1-C7E8-829C-5BAF-53B180801525}"/>
              </a:ext>
            </a:extLst>
          </p:cNvPr>
          <p:cNvSpPr txBox="1"/>
          <p:nvPr/>
        </p:nvSpPr>
        <p:spPr>
          <a:xfrm>
            <a:off x="623682" y="3968254"/>
            <a:ext cx="6440380" cy="923330"/>
          </a:xfrm>
          <a:prstGeom prst="rect">
            <a:avLst/>
          </a:prstGeom>
          <a:noFill/>
        </p:spPr>
        <p:txBody>
          <a:bodyPr wrap="square">
            <a:spAutoFit/>
          </a:bodyPr>
          <a:lstStyle/>
          <a:p>
            <a:pPr algn="just"/>
            <a:r>
              <a:rPr lang="es-ES" sz="1800" dirty="0">
                <a:latin typeface="Libre Franklin" pitchFamily="2" charset="0"/>
              </a:rPr>
              <a:t>La tabla muestra el coeficiente de sacrificio a 5 años, siendo España la economía que presenta el mayor coeficiente de sacrificio.</a:t>
            </a:r>
          </a:p>
        </p:txBody>
      </p:sp>
      <p:graphicFrame>
        <p:nvGraphicFramePr>
          <p:cNvPr id="10" name="Tabla 9">
            <a:extLst>
              <a:ext uri="{FF2B5EF4-FFF2-40B4-BE49-F238E27FC236}">
                <a16:creationId xmlns:a16="http://schemas.microsoft.com/office/drawing/2014/main" id="{5CCFE62D-9981-46A5-B1D5-9114675F9A3B}"/>
              </a:ext>
            </a:extLst>
          </p:cNvPr>
          <p:cNvGraphicFramePr>
            <a:graphicFrameLocks noGrp="1"/>
          </p:cNvGraphicFramePr>
          <p:nvPr>
            <p:extLst>
              <p:ext uri="{D42A27DB-BD31-4B8C-83A1-F6EECF244321}">
                <p14:modId xmlns:p14="http://schemas.microsoft.com/office/powerpoint/2010/main" val="1817075756"/>
              </p:ext>
            </p:extLst>
          </p:nvPr>
        </p:nvGraphicFramePr>
        <p:xfrm>
          <a:off x="7687744" y="3143064"/>
          <a:ext cx="3280088" cy="2646362"/>
        </p:xfrm>
        <a:graphic>
          <a:graphicData uri="http://schemas.openxmlformats.org/drawingml/2006/table">
            <a:tbl>
              <a:tblPr/>
              <a:tblGrid>
                <a:gridCol w="1910856">
                  <a:extLst>
                    <a:ext uri="{9D8B030D-6E8A-4147-A177-3AD203B41FA5}">
                      <a16:colId xmlns:a16="http://schemas.microsoft.com/office/drawing/2014/main" val="2125253763"/>
                    </a:ext>
                  </a:extLst>
                </a:gridCol>
                <a:gridCol w="1369232">
                  <a:extLst>
                    <a:ext uri="{9D8B030D-6E8A-4147-A177-3AD203B41FA5}">
                      <a16:colId xmlns:a16="http://schemas.microsoft.com/office/drawing/2014/main" val="1295487736"/>
                    </a:ext>
                  </a:extLst>
                </a:gridCol>
              </a:tblGrid>
              <a:tr h="436562">
                <a:tc>
                  <a:txBody>
                    <a:bodyPr/>
                    <a:lstStyle/>
                    <a:p>
                      <a:pPr algn="ctr" fontAlgn="ctr"/>
                      <a:r>
                        <a:rPr lang="es-GT" sz="1400" b="1" i="0" u="none" strike="noStrike">
                          <a:solidFill>
                            <a:srgbClr val="000000"/>
                          </a:solidFill>
                          <a:effectLst/>
                          <a:latin typeface="Libre Franklin" pitchFamily="2" charset="0"/>
                        </a:rPr>
                        <a:t>País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GT" sz="1400" b="1" i="0" u="none" strike="noStrike">
                          <a:solidFill>
                            <a:srgbClr val="000000"/>
                          </a:solidFill>
                          <a:effectLst/>
                          <a:latin typeface="Libre Franklin" pitchFamily="2" charset="0"/>
                        </a:rPr>
                        <a:t>Coeficiente de sacrificio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5703779"/>
                  </a:ext>
                </a:extLst>
              </a:tr>
              <a:tr h="190500">
                <a:tc>
                  <a:txBody>
                    <a:bodyPr/>
                    <a:lstStyle/>
                    <a:p>
                      <a:pPr algn="l" fontAlgn="b"/>
                      <a:r>
                        <a:rPr lang="es-GT" sz="1400" b="0" i="0" u="none" strike="noStrike">
                          <a:solidFill>
                            <a:srgbClr val="000000"/>
                          </a:solidFill>
                          <a:effectLst/>
                          <a:latin typeface="Libre Franklin" pitchFamily="2" charset="0"/>
                        </a:rPr>
                        <a:t>Estados Unidos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s-GT" sz="1400" b="0" i="0" u="none" strike="noStrike">
                          <a:solidFill>
                            <a:srgbClr val="000000"/>
                          </a:solidFill>
                          <a:effectLst/>
                          <a:latin typeface="Libre Franklin" pitchFamily="2" charset="0"/>
                        </a:rPr>
                        <a:t>1.376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847008768"/>
                  </a:ext>
                </a:extLst>
              </a:tr>
              <a:tr h="381000">
                <a:tc>
                  <a:txBody>
                    <a:bodyPr/>
                    <a:lstStyle/>
                    <a:p>
                      <a:pPr algn="l" fontAlgn="b"/>
                      <a:r>
                        <a:rPr lang="es-GT" sz="1400" b="0" i="0" u="none" strike="noStrike">
                          <a:solidFill>
                            <a:srgbClr val="000000"/>
                          </a:solidFill>
                          <a:effectLst/>
                          <a:latin typeface="Libre Franklin" pitchFamily="2" charset="0"/>
                        </a:rPr>
                        <a:t>Cecchetti and Robert (2001)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es-GT" sz="1400" b="0" i="0" u="none" strike="noStrike">
                          <a:solidFill>
                            <a:srgbClr val="000000"/>
                          </a:solidFill>
                          <a:effectLst/>
                          <a:latin typeface="Libre Franklin" pitchFamily="2"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31080267"/>
                  </a:ext>
                </a:extLst>
              </a:tr>
              <a:tr h="190500">
                <a:tc>
                  <a:txBody>
                    <a:bodyPr/>
                    <a:lstStyle/>
                    <a:p>
                      <a:pPr algn="l" fontAlgn="b"/>
                      <a:r>
                        <a:rPr lang="es-GT" sz="1400" b="0" i="0" u="none" strike="noStrike">
                          <a:solidFill>
                            <a:srgbClr val="000000"/>
                          </a:solidFill>
                          <a:effectLst/>
                          <a:latin typeface="Libre Franklin" pitchFamily="2" charset="0"/>
                        </a:rPr>
                        <a:t>Zona Euro</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l" fontAlgn="b"/>
                      <a:r>
                        <a:rPr lang="es-GT" sz="1400" b="0" i="0" u="none" strike="noStrike">
                          <a:solidFill>
                            <a:srgbClr val="000000"/>
                          </a:solidFill>
                          <a:effectLst/>
                          <a:latin typeface="Libre Franklin" pitchFamily="2" charset="0"/>
                        </a:rPr>
                        <a:t>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02925782"/>
                  </a:ext>
                </a:extLst>
              </a:tr>
              <a:tr h="381000">
                <a:tc gridSpan="2">
                  <a:txBody>
                    <a:bodyPr/>
                    <a:lstStyle/>
                    <a:p>
                      <a:pPr algn="l" fontAlgn="ctr"/>
                      <a:r>
                        <a:rPr lang="sv-SE" sz="1400" b="0" i="0" u="none" strike="noStrike">
                          <a:solidFill>
                            <a:srgbClr val="000000"/>
                          </a:solidFill>
                          <a:effectLst/>
                          <a:latin typeface="Libre Franklin" pitchFamily="2" charset="0"/>
                        </a:rPr>
                        <a:t>Belke, Ansgar; Böing,</a:t>
                      </a:r>
                      <a:br>
                        <a:rPr lang="sv-SE" sz="1400" b="0" i="0" u="none" strike="noStrike">
                          <a:solidFill>
                            <a:srgbClr val="000000"/>
                          </a:solidFill>
                          <a:effectLst/>
                          <a:latin typeface="Libre Franklin" pitchFamily="2" charset="0"/>
                        </a:rPr>
                      </a:br>
                      <a:r>
                        <a:rPr lang="sv-SE" sz="1400" b="0" i="0" u="none" strike="noStrike">
                          <a:solidFill>
                            <a:srgbClr val="000000"/>
                          </a:solidFill>
                          <a:effectLst/>
                          <a:latin typeface="Libre Franklin" pitchFamily="2" charset="0"/>
                        </a:rPr>
                        <a:t>Tobias (2007)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xBody>
                    <a:bodyPr/>
                    <a:lstStyle/>
                    <a:p>
                      <a:endParaRPr lang="es-GT"/>
                    </a:p>
                  </a:txBody>
                  <a:tcPr/>
                </a:tc>
                <a:extLst>
                  <a:ext uri="{0D108BD9-81ED-4DB2-BD59-A6C34878D82A}">
                    <a16:rowId xmlns:a16="http://schemas.microsoft.com/office/drawing/2014/main" val="3428616578"/>
                  </a:ext>
                </a:extLst>
              </a:tr>
              <a:tr h="190500">
                <a:tc>
                  <a:txBody>
                    <a:bodyPr/>
                    <a:lstStyle/>
                    <a:p>
                      <a:pPr algn="l" fontAlgn="b"/>
                      <a:r>
                        <a:rPr lang="es-GT" sz="1400" b="0" i="0" u="none" strike="noStrike">
                          <a:solidFill>
                            <a:srgbClr val="000000"/>
                          </a:solidFill>
                          <a:effectLst/>
                          <a:latin typeface="Libre Franklin" pitchFamily="2" charset="0"/>
                        </a:rPr>
                        <a:t>Italia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GT" sz="1400" b="0" i="0" u="none" strike="noStrike">
                          <a:solidFill>
                            <a:srgbClr val="000000"/>
                          </a:solidFill>
                          <a:effectLst/>
                          <a:latin typeface="Libre Franklin" pitchFamily="2" charset="0"/>
                        </a:rPr>
                        <a:t>0.121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96936949"/>
                  </a:ext>
                </a:extLst>
              </a:tr>
              <a:tr h="190500">
                <a:tc>
                  <a:txBody>
                    <a:bodyPr/>
                    <a:lstStyle/>
                    <a:p>
                      <a:pPr algn="l" fontAlgn="b"/>
                      <a:r>
                        <a:rPr lang="es-GT" sz="1400" b="0" i="0" u="none" strike="noStrike">
                          <a:solidFill>
                            <a:srgbClr val="000000"/>
                          </a:solidFill>
                          <a:effectLst/>
                          <a:latin typeface="Libre Franklin" pitchFamily="2" charset="0"/>
                        </a:rPr>
                        <a:t>Francia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GT" sz="1400" b="0" i="0" u="none" strike="noStrike">
                          <a:solidFill>
                            <a:srgbClr val="000000"/>
                          </a:solidFill>
                          <a:effectLst/>
                          <a:latin typeface="Libre Franklin" pitchFamily="2" charset="0"/>
                        </a:rPr>
                        <a:t>0.314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264597"/>
                  </a:ext>
                </a:extLst>
              </a:tr>
              <a:tr h="190500">
                <a:tc>
                  <a:txBody>
                    <a:bodyPr/>
                    <a:lstStyle/>
                    <a:p>
                      <a:pPr algn="l" fontAlgn="b"/>
                      <a:r>
                        <a:rPr lang="es-GT" sz="1400" b="0" i="0" u="none" strike="noStrike">
                          <a:solidFill>
                            <a:srgbClr val="000000"/>
                          </a:solidFill>
                          <a:effectLst/>
                          <a:latin typeface="Libre Franklin" pitchFamily="2" charset="0"/>
                        </a:rPr>
                        <a:t>Países Bajos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GT" sz="1400" b="0" i="0" u="none" strike="noStrike">
                          <a:solidFill>
                            <a:srgbClr val="000000"/>
                          </a:solidFill>
                          <a:effectLst/>
                          <a:latin typeface="Libre Franklin" pitchFamily="2" charset="0"/>
                        </a:rPr>
                        <a:t>1.323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63025372"/>
                  </a:ext>
                </a:extLst>
              </a:tr>
              <a:tr h="190500">
                <a:tc>
                  <a:txBody>
                    <a:bodyPr/>
                    <a:lstStyle/>
                    <a:p>
                      <a:pPr algn="l" fontAlgn="b"/>
                      <a:r>
                        <a:rPr lang="es-GT" sz="1400" b="0" i="0" u="none" strike="noStrike">
                          <a:solidFill>
                            <a:srgbClr val="000000"/>
                          </a:solidFill>
                          <a:effectLst/>
                          <a:latin typeface="Libre Franklin" pitchFamily="2" charset="0"/>
                        </a:rPr>
                        <a:t>España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GT" sz="1400" b="0" i="0" u="none" strike="noStrike" dirty="0">
                          <a:solidFill>
                            <a:srgbClr val="000000"/>
                          </a:solidFill>
                          <a:effectLst/>
                          <a:latin typeface="Libre Franklin" pitchFamily="2" charset="0"/>
                        </a:rPr>
                        <a:t>3.107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4692001"/>
                  </a:ext>
                </a:extLst>
              </a:tr>
            </a:tbl>
          </a:graphicData>
        </a:graphic>
      </p:graphicFrame>
    </p:spTree>
    <p:extLst>
      <p:ext uri="{BB962C8B-B14F-4D97-AF65-F5344CB8AC3E}">
        <p14:creationId xmlns:p14="http://schemas.microsoft.com/office/powerpoint/2010/main" val="2440913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E9594-4557-6789-7591-C3FE85A6E67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A4BBE82-0BC0-72E6-A6F2-52C2D7A4B3AA}"/>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70C380E4-3841-7A81-4096-3756B903C026}"/>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19F1B8F1-B60C-595A-3BBE-6F50819FCD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220B7F8F-1CBD-BBF0-13E2-0C38E92BE011}"/>
              </a:ext>
            </a:extLst>
          </p:cNvPr>
          <p:cNvSpPr txBox="1"/>
          <p:nvPr/>
        </p:nvSpPr>
        <p:spPr>
          <a:xfrm>
            <a:off x="165181" y="207239"/>
            <a:ext cx="9899117" cy="523220"/>
          </a:xfrm>
          <a:prstGeom prst="rect">
            <a:avLst/>
          </a:prstGeom>
          <a:noFill/>
        </p:spPr>
        <p:txBody>
          <a:bodyPr wrap="square" rtlCol="0">
            <a:spAutoFit/>
          </a:bodyPr>
          <a:lstStyle/>
          <a:p>
            <a:r>
              <a:rPr lang="es-ES" sz="2800" b="1" dirty="0">
                <a:latin typeface="Libre Franklin" pitchFamily="2" charset="0"/>
              </a:rPr>
              <a:t>Estimación mediante un SVAR</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BA9CC84A-E59B-24BF-7149-2B08BAEA3B47}"/>
              </a:ext>
            </a:extLst>
          </p:cNvPr>
          <p:cNvCxnSpPr>
            <a:cxnSpLocks/>
          </p:cNvCxnSpPr>
          <p:nvPr/>
        </p:nvCxnSpPr>
        <p:spPr>
          <a:xfrm>
            <a:off x="201081" y="685386"/>
            <a:ext cx="5256000"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8231C645-A506-817B-9470-992626ADEFCE}"/>
                  </a:ext>
                </a:extLst>
              </p:cNvPr>
              <p:cNvSpPr txBox="1"/>
              <p:nvPr/>
            </p:nvSpPr>
            <p:spPr>
              <a:xfrm>
                <a:off x="497040" y="851714"/>
                <a:ext cx="11338646" cy="2308324"/>
              </a:xfrm>
              <a:prstGeom prst="rect">
                <a:avLst/>
              </a:prstGeom>
              <a:noFill/>
            </p:spPr>
            <p:txBody>
              <a:bodyPr wrap="square">
                <a:spAutoFit/>
              </a:bodyPr>
              <a:lstStyle/>
              <a:p>
                <a:pPr algn="just"/>
                <a:r>
                  <a:rPr lang="es-ES" sz="1800" dirty="0">
                    <a:latin typeface="Libre Franklin" pitchFamily="2" charset="0"/>
                  </a:rPr>
                  <a:t>Nuestra estimación utiliza la misma metodología estimando un VAR con 3 variables y 4 rezagos identificado mediante el esquema de Blanchard-Qua.</a:t>
                </a:r>
              </a:p>
              <a:p>
                <a:pPr algn="just"/>
                <a:endParaRPr lang="es-ES" dirty="0">
                  <a:latin typeface="Libre Franklin" pitchFamily="2" charset="0"/>
                </a:endParaRPr>
              </a:p>
              <a:p>
                <a:pPr lvl="6" algn="just"/>
                <a:r>
                  <a:rPr lang="es-ES" dirty="0">
                    <a:latin typeface="Libre Franklin" pitchFamily="2" charset="0"/>
                  </a:rPr>
                  <a:t>Variables:</a:t>
                </a:r>
              </a:p>
              <a:p>
                <a:pPr lvl="6" algn="just"/>
                <a:endParaRPr lang="es-ES" dirty="0">
                  <a:latin typeface="Libre Franklin" pitchFamily="2" charset="0"/>
                </a:endParaRPr>
              </a:p>
              <a:p>
                <a:pPr lvl="6" algn="just"/>
                <a:r>
                  <a:rPr lang="es-ES" dirty="0">
                    <a:latin typeface="Libre Franklin" pitchFamily="2" charset="0"/>
                  </a:rPr>
                  <a:t>	</a:t>
                </a:r>
                <a14:m>
                  <m:oMath xmlns:m="http://schemas.openxmlformats.org/officeDocument/2006/math">
                    <m:sSub>
                      <m:sSubPr>
                        <m:ctrlPr>
                          <a:rPr lang="es-ES" i="1" smtClean="0">
                            <a:latin typeface="Cambria Math" panose="02040503050406030204" pitchFamily="18" charset="0"/>
                          </a:rPr>
                        </m:ctrlPr>
                      </m:sSubPr>
                      <m:e>
                        <m:r>
                          <a:rPr lang="es-MX" b="0" i="1" smtClean="0">
                            <a:latin typeface="Cambria Math" panose="02040503050406030204" pitchFamily="18" charset="0"/>
                          </a:rPr>
                          <m:t>𝑌</m:t>
                        </m:r>
                      </m:e>
                      <m:sub>
                        <m:r>
                          <a:rPr lang="es-MX" b="0" i="1" smtClean="0">
                            <a:latin typeface="Cambria Math" panose="02040503050406030204" pitchFamily="18" charset="0"/>
                          </a:rPr>
                          <m:t>𝑏𝑟𝑒𝑐h𝑎</m:t>
                        </m:r>
                      </m:sub>
                    </m:sSub>
                    <m:r>
                      <a:rPr lang="es-MX" b="0" i="0" smtClean="0">
                        <a:latin typeface="Cambria Math" panose="02040503050406030204" pitchFamily="18" charset="0"/>
                      </a:rPr>
                      <m:t>:</m:t>
                    </m:r>
                  </m:oMath>
                </a14:m>
                <a:r>
                  <a:rPr lang="es-ES" dirty="0">
                    <a:latin typeface="Libre Franklin" pitchFamily="2" charset="0"/>
                  </a:rPr>
                  <a:t>   Brecha del producto real</a:t>
                </a:r>
              </a:p>
              <a:p>
                <a:pPr lvl="6" algn="just"/>
                <a:r>
                  <a:rPr lang="es-ES" dirty="0">
                    <a:latin typeface="Libre Franklin" pitchFamily="2" charset="0"/>
                  </a:rPr>
                  <a:t>	</a:t>
                </a:r>
                <a:r>
                  <a:rPr lang="es-ES" dirty="0"/>
                  <a:t>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π</m:t>
                    </m:r>
                    <m:r>
                      <a:rPr lang="es-MX">
                        <a:latin typeface="Cambria Math" panose="02040503050406030204" pitchFamily="18" charset="0"/>
                      </a:rPr>
                      <m:t>:</m:t>
                    </m:r>
                  </m:oMath>
                </a14:m>
                <a:r>
                  <a:rPr lang="es-ES" dirty="0">
                    <a:latin typeface="Libre Franklin" pitchFamily="2" charset="0"/>
                  </a:rPr>
                  <a:t>             Inflación interanual</a:t>
                </a:r>
              </a:p>
              <a:p>
                <a:pPr lvl="6" algn="just"/>
                <a:r>
                  <a:rPr lang="es-ES" dirty="0">
                    <a:latin typeface="Libre Franklin" pitchFamily="2" charset="0"/>
                  </a:rPr>
                  <a:t>	</a:t>
                </a:r>
                <a:r>
                  <a:rPr lang="es-ES" dirty="0"/>
                  <a:t> </a:t>
                </a:r>
                <a14:m>
                  <m:oMath xmlns:m="http://schemas.openxmlformats.org/officeDocument/2006/math">
                    <m:r>
                      <m:rPr>
                        <m:sty m:val="p"/>
                      </m:rPr>
                      <a:rPr lang="es-MX" b="0" i="0" smtClean="0">
                        <a:latin typeface="Cambria Math" panose="02040503050406030204" pitchFamily="18" charset="0"/>
                      </a:rPr>
                      <m:t>r</m:t>
                    </m:r>
                    <m:r>
                      <a:rPr lang="es-MX">
                        <a:latin typeface="Cambria Math" panose="02040503050406030204" pitchFamily="18" charset="0"/>
                      </a:rPr>
                      <m:t>:</m:t>
                    </m:r>
                  </m:oMath>
                </a14:m>
                <a:r>
                  <a:rPr lang="es-ES" dirty="0">
                    <a:latin typeface="Libre Franklin" pitchFamily="2" charset="0"/>
                  </a:rPr>
                  <a:t>              Tasa de interés real</a:t>
                </a:r>
              </a:p>
            </p:txBody>
          </p:sp>
        </mc:Choice>
        <mc:Fallback xmlns="">
          <p:sp>
            <p:nvSpPr>
              <p:cNvPr id="15" name="CuadroTexto 14">
                <a:extLst>
                  <a:ext uri="{FF2B5EF4-FFF2-40B4-BE49-F238E27FC236}">
                    <a16:creationId xmlns:a16="http://schemas.microsoft.com/office/drawing/2014/main" id="{8231C645-A506-817B-9470-992626ADEFCE}"/>
                  </a:ext>
                </a:extLst>
              </p:cNvPr>
              <p:cNvSpPr txBox="1">
                <a:spLocks noRot="1" noChangeAspect="1" noMove="1" noResize="1" noEditPoints="1" noAdjustHandles="1" noChangeArrowheads="1" noChangeShapeType="1" noTextEdit="1"/>
              </p:cNvSpPr>
              <p:nvPr/>
            </p:nvSpPr>
            <p:spPr>
              <a:xfrm>
                <a:off x="497040" y="851714"/>
                <a:ext cx="11338646" cy="2308324"/>
              </a:xfrm>
              <a:prstGeom prst="rect">
                <a:avLst/>
              </a:prstGeom>
              <a:blipFill>
                <a:blip r:embed="rId3"/>
                <a:stretch>
                  <a:fillRect l="-484" t="-1587" r="-860" b="-3175"/>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51E5FD38-F285-63DA-2820-E52628DA4E0E}"/>
                  </a:ext>
                </a:extLst>
              </p:cNvPr>
              <p:cNvSpPr txBox="1"/>
              <p:nvPr/>
            </p:nvSpPr>
            <p:spPr>
              <a:xfrm>
                <a:off x="4075699" y="4362113"/>
                <a:ext cx="3190821" cy="7710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i="1" smtClean="0">
                              <a:latin typeface="Cambria Math" panose="02040503050406030204" pitchFamily="18" charset="0"/>
                            </a:rPr>
                          </m:ctrlPr>
                        </m:sSubPr>
                        <m:e>
                          <m:r>
                            <a:rPr lang="es-MX" i="1">
                              <a:latin typeface="Cambria Math" panose="02040503050406030204" pitchFamily="18" charset="0"/>
                            </a:rPr>
                            <m:t>𝑆</m:t>
                          </m:r>
                        </m:e>
                        <m:sub>
                          <m:sSup>
                            <m:sSupPr>
                              <m:ctrlPr>
                                <a:rPr lang="es-MX" i="1">
                                  <a:latin typeface="Cambria Math" panose="02040503050406030204" pitchFamily="18" charset="0"/>
                                </a:rPr>
                              </m:ctrlPr>
                            </m:sSupPr>
                            <m:e>
                              <m:r>
                                <a:rPr lang="es-MX" i="1">
                                  <a:latin typeface="Cambria Math" panose="02040503050406030204" pitchFamily="18" charset="0"/>
                                </a:rPr>
                                <m:t>𝜖</m:t>
                              </m:r>
                            </m:e>
                            <m:sup>
                              <m:r>
                                <a:rPr lang="es-MX" i="1">
                                  <a:latin typeface="Cambria Math" panose="02040503050406030204" pitchFamily="18" charset="0"/>
                                </a:rPr>
                                <m:t>𝜋</m:t>
                              </m:r>
                            </m:sup>
                          </m:sSup>
                        </m:sub>
                      </m:sSub>
                      <m:d>
                        <m:dPr>
                          <m:ctrlPr>
                            <a:rPr lang="es-MX" i="1">
                              <a:latin typeface="Cambria Math" panose="02040503050406030204" pitchFamily="18" charset="0"/>
                            </a:rPr>
                          </m:ctrlPr>
                        </m:dPr>
                        <m:e>
                          <m:r>
                            <a:rPr lang="es-MX" i="1">
                              <a:latin typeface="Cambria Math" panose="02040503050406030204" pitchFamily="18" charset="0"/>
                            </a:rPr>
                            <m:t>𝜏</m:t>
                          </m:r>
                        </m:e>
                      </m:d>
                      <m:r>
                        <a:rPr lang="es-MX" i="0">
                          <a:latin typeface="Cambria Math" panose="02040503050406030204" pitchFamily="18" charset="0"/>
                        </a:rPr>
                        <m:t>=</m:t>
                      </m:r>
                      <m:f>
                        <m:fPr>
                          <m:ctrlPr>
                            <a:rPr lang="es-MX" i="1">
                              <a:latin typeface="Cambria Math" panose="02040503050406030204" pitchFamily="18" charset="0"/>
                            </a:rPr>
                          </m:ctrlPr>
                        </m:fPr>
                        <m:num>
                          <m:d>
                            <m:dPr>
                              <m:ctrlPr>
                                <a:rPr lang="es-MX" i="1">
                                  <a:latin typeface="Cambria Math" panose="02040503050406030204" pitchFamily="18" charset="0"/>
                                </a:rPr>
                              </m:ctrlPr>
                            </m:dPr>
                            <m:e>
                              <m:nary>
                                <m:naryPr>
                                  <m:chr m:val="∑"/>
                                  <m:limLoc m:val="undOvr"/>
                                  <m:ctrlPr>
                                    <a:rPr lang="es-MX" i="1">
                                      <a:latin typeface="Cambria Math" panose="02040503050406030204" pitchFamily="18" charset="0"/>
                                    </a:rPr>
                                  </m:ctrlPr>
                                </m:naryPr>
                                <m:sub>
                                  <m:r>
                                    <a:rPr lang="es-MX" i="1">
                                      <a:latin typeface="Cambria Math" panose="02040503050406030204" pitchFamily="18" charset="0"/>
                                    </a:rPr>
                                    <m:t>𝑖</m:t>
                                  </m:r>
                                  <m:r>
                                    <a:rPr lang="es-MX" i="0">
                                      <a:latin typeface="Cambria Math" panose="02040503050406030204" pitchFamily="18" charset="0"/>
                                    </a:rPr>
                                    <m:t>=0</m:t>
                                  </m:r>
                                </m:sub>
                                <m:sup>
                                  <m:r>
                                    <a:rPr lang="es-MX" i="1">
                                      <a:latin typeface="Cambria Math" panose="02040503050406030204" pitchFamily="18" charset="0"/>
                                    </a:rPr>
                                    <m:t>𝜏</m:t>
                                  </m:r>
                                </m:sup>
                                <m:e>
                                  <m:nary>
                                    <m:naryPr>
                                      <m:chr m:val="∑"/>
                                      <m:limLoc m:val="undOvr"/>
                                      <m:ctrlPr>
                                        <a:rPr lang="es-MX" i="1">
                                          <a:latin typeface="Cambria Math" panose="02040503050406030204" pitchFamily="18" charset="0"/>
                                        </a:rPr>
                                      </m:ctrlPr>
                                    </m:naryPr>
                                    <m:sub>
                                      <m:r>
                                        <a:rPr lang="es-MX" i="1">
                                          <a:latin typeface="Cambria Math" panose="02040503050406030204" pitchFamily="18" charset="0"/>
                                        </a:rPr>
                                        <m:t>𝑗</m:t>
                                      </m:r>
                                      <m:r>
                                        <a:rPr lang="es-MX" i="0">
                                          <a:latin typeface="Cambria Math" panose="02040503050406030204" pitchFamily="18" charset="0"/>
                                        </a:rPr>
                                        <m:t>=0</m:t>
                                      </m:r>
                                    </m:sub>
                                    <m:sup>
                                      <m:r>
                                        <a:rPr lang="es-MX" i="1">
                                          <a:latin typeface="Cambria Math" panose="02040503050406030204" pitchFamily="18" charset="0"/>
                                        </a:rPr>
                                        <m:t>𝑖</m:t>
                                      </m:r>
                                    </m:sup>
                                    <m:e>
                                      <m:sSubSup>
                                        <m:sSubSupPr>
                                          <m:ctrlPr>
                                            <a:rPr lang="es-MX" i="1">
                                              <a:latin typeface="Cambria Math" panose="02040503050406030204" pitchFamily="18" charset="0"/>
                                            </a:rPr>
                                          </m:ctrlPr>
                                        </m:sSubSupPr>
                                        <m:e>
                                          <m:r>
                                            <a:rPr lang="es-MX" i="1">
                                              <a:latin typeface="Cambria Math" panose="02040503050406030204" pitchFamily="18" charset="0"/>
                                            </a:rPr>
                                            <m:t>𝑎</m:t>
                                          </m:r>
                                        </m:e>
                                        <m:sub>
                                          <m:r>
                                            <a:rPr lang="es-MX" i="0">
                                              <a:latin typeface="Cambria Math" panose="02040503050406030204" pitchFamily="18" charset="0"/>
                                            </a:rPr>
                                            <m:t>12</m:t>
                                          </m:r>
                                        </m:sub>
                                        <m:sup>
                                          <m:r>
                                            <a:rPr lang="es-MX" i="1">
                                              <a:latin typeface="Cambria Math" panose="02040503050406030204" pitchFamily="18" charset="0"/>
                                            </a:rPr>
                                            <m:t>𝑖</m:t>
                                          </m:r>
                                        </m:sup>
                                      </m:sSubSup>
                                    </m:e>
                                  </m:nary>
                                </m:e>
                              </m:nary>
                            </m:e>
                          </m:d>
                        </m:num>
                        <m:den>
                          <m:nary>
                            <m:naryPr>
                              <m:chr m:val="∑"/>
                              <m:limLoc m:val="subSup"/>
                              <m:ctrlPr>
                                <a:rPr lang="es-MX" i="1">
                                  <a:latin typeface="Cambria Math" panose="02040503050406030204" pitchFamily="18" charset="0"/>
                                </a:rPr>
                              </m:ctrlPr>
                            </m:naryPr>
                            <m:sub>
                              <m:r>
                                <a:rPr lang="es-MX" i="1">
                                  <a:latin typeface="Cambria Math" panose="02040503050406030204" pitchFamily="18" charset="0"/>
                                </a:rPr>
                                <m:t>𝑖</m:t>
                              </m:r>
                              <m:r>
                                <a:rPr lang="es-MX" i="0">
                                  <a:latin typeface="Cambria Math" panose="02040503050406030204" pitchFamily="18" charset="0"/>
                                </a:rPr>
                                <m:t>=0</m:t>
                              </m:r>
                            </m:sub>
                            <m:sup>
                              <m:r>
                                <a:rPr lang="es-MX" i="1">
                                  <a:latin typeface="Cambria Math" panose="02040503050406030204" pitchFamily="18" charset="0"/>
                                </a:rPr>
                                <m:t>𝜏</m:t>
                              </m:r>
                            </m:sup>
                            <m:e>
                              <m:sSubSup>
                                <m:sSubSupPr>
                                  <m:ctrlPr>
                                    <a:rPr lang="es-MX" i="1">
                                      <a:latin typeface="Cambria Math" panose="02040503050406030204" pitchFamily="18" charset="0"/>
                                    </a:rPr>
                                  </m:ctrlPr>
                                </m:sSubSupPr>
                                <m:e>
                                  <m:r>
                                    <a:rPr lang="es-MX" i="1">
                                      <a:latin typeface="Cambria Math" panose="02040503050406030204" pitchFamily="18" charset="0"/>
                                    </a:rPr>
                                    <m:t>𝑎</m:t>
                                  </m:r>
                                </m:e>
                                <m:sub>
                                  <m:r>
                                    <a:rPr lang="es-MX" i="0">
                                      <a:latin typeface="Cambria Math" panose="02040503050406030204" pitchFamily="18" charset="0"/>
                                    </a:rPr>
                                    <m:t>22</m:t>
                                  </m:r>
                                </m:sub>
                                <m:sup>
                                  <m:r>
                                    <a:rPr lang="es-MX" i="1">
                                      <a:latin typeface="Cambria Math" panose="02040503050406030204" pitchFamily="18" charset="0"/>
                                    </a:rPr>
                                    <m:t>𝑖</m:t>
                                  </m:r>
                                </m:sup>
                              </m:sSubSup>
                            </m:e>
                          </m:nary>
                        </m:den>
                      </m:f>
                    </m:oMath>
                  </m:oMathPara>
                </a14:m>
                <a:endParaRPr lang="es-MX" dirty="0"/>
              </a:p>
            </p:txBody>
          </p:sp>
        </mc:Choice>
        <mc:Fallback xmlns="">
          <p:sp>
            <p:nvSpPr>
              <p:cNvPr id="11" name="CuadroTexto 10">
                <a:extLst>
                  <a:ext uri="{FF2B5EF4-FFF2-40B4-BE49-F238E27FC236}">
                    <a16:creationId xmlns:a16="http://schemas.microsoft.com/office/drawing/2014/main" id="{51E5FD38-F285-63DA-2820-E52628DA4E0E}"/>
                  </a:ext>
                </a:extLst>
              </p:cNvPr>
              <p:cNvSpPr txBox="1">
                <a:spLocks noRot="1" noChangeAspect="1" noMove="1" noResize="1" noEditPoints="1" noAdjustHandles="1" noChangeArrowheads="1" noChangeShapeType="1" noTextEdit="1"/>
              </p:cNvSpPr>
              <p:nvPr/>
            </p:nvSpPr>
            <p:spPr>
              <a:xfrm>
                <a:off x="4075699" y="4362113"/>
                <a:ext cx="3190821" cy="771045"/>
              </a:xfrm>
              <a:prstGeom prst="rect">
                <a:avLst/>
              </a:prstGeom>
              <a:blipFill>
                <a:blip r:embed="rId4"/>
                <a:stretch>
                  <a:fillRect/>
                </a:stretch>
              </a:blipFill>
            </p:spPr>
            <p:txBody>
              <a:bodyPr/>
              <a:lstStyle/>
              <a:p>
                <a:r>
                  <a:rPr lang="es-MX">
                    <a:noFill/>
                  </a:rPr>
                  <a:t> </a:t>
                </a:r>
              </a:p>
            </p:txBody>
          </p:sp>
        </mc:Fallback>
      </mc:AlternateContent>
      <p:sp>
        <p:nvSpPr>
          <p:cNvPr id="13" name="CuadroTexto 12">
            <a:extLst>
              <a:ext uri="{FF2B5EF4-FFF2-40B4-BE49-F238E27FC236}">
                <a16:creationId xmlns:a16="http://schemas.microsoft.com/office/drawing/2014/main" id="{E7FC55FC-7D8C-AF26-AF56-0C4B5FCF288E}"/>
              </a:ext>
            </a:extLst>
          </p:cNvPr>
          <p:cNvSpPr txBox="1"/>
          <p:nvPr/>
        </p:nvSpPr>
        <p:spPr>
          <a:xfrm>
            <a:off x="497040" y="3256032"/>
            <a:ext cx="11338646" cy="923330"/>
          </a:xfrm>
          <a:prstGeom prst="rect">
            <a:avLst/>
          </a:prstGeom>
          <a:noFill/>
        </p:spPr>
        <p:txBody>
          <a:bodyPr wrap="square">
            <a:spAutoFit/>
          </a:bodyPr>
          <a:lstStyle/>
          <a:p>
            <a:pPr algn="just"/>
            <a:r>
              <a:rPr lang="es-ES" sz="1800" dirty="0">
                <a:latin typeface="Libre Franklin" pitchFamily="2" charset="0"/>
              </a:rPr>
              <a:t>El coeficiente de sacrificio se define como la respuesta acumulada del producto dividida dentro de la respuesta de la inflación. Además de lo anterior y siguiendo la bibliografía se estiman múltiples coeficientes mediante datos simulados.</a:t>
            </a:r>
          </a:p>
        </p:txBody>
      </p:sp>
    </p:spTree>
    <p:extLst>
      <p:ext uri="{BB962C8B-B14F-4D97-AF65-F5344CB8AC3E}">
        <p14:creationId xmlns:p14="http://schemas.microsoft.com/office/powerpoint/2010/main" val="290535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C1E0F-3A03-65A1-EAA9-2150EE119E8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A1DD0DA-3E52-35FA-6008-F1DA6CD45944}"/>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B1D0F4EF-2D98-0191-3B39-63B5D52D1DD5}"/>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2E0DEF24-BB80-82A7-8138-494FBF9BA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ADD180B3-394E-F5B7-5528-22C8C3FB6E23}"/>
              </a:ext>
            </a:extLst>
          </p:cNvPr>
          <p:cNvSpPr txBox="1"/>
          <p:nvPr/>
        </p:nvSpPr>
        <p:spPr>
          <a:xfrm>
            <a:off x="165182" y="207239"/>
            <a:ext cx="2281990" cy="523220"/>
          </a:xfrm>
          <a:prstGeom prst="rect">
            <a:avLst/>
          </a:prstGeom>
          <a:noFill/>
        </p:spPr>
        <p:txBody>
          <a:bodyPr wrap="square" rtlCol="0">
            <a:spAutoFit/>
          </a:bodyPr>
          <a:lstStyle/>
          <a:p>
            <a:r>
              <a:rPr lang="es-ES" sz="2800" b="1" dirty="0">
                <a:latin typeface="Libre Franklin" pitchFamily="2" charset="0"/>
              </a:rPr>
              <a:t>Resultados</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16C81271-FEEB-0FD9-DC17-5AE6F8772B6E}"/>
              </a:ext>
            </a:extLst>
          </p:cNvPr>
          <p:cNvCxnSpPr>
            <a:cxnSpLocks/>
          </p:cNvCxnSpPr>
          <p:nvPr/>
        </p:nvCxnSpPr>
        <p:spPr>
          <a:xfrm>
            <a:off x="265471" y="730459"/>
            <a:ext cx="1908000"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pic>
        <p:nvPicPr>
          <p:cNvPr id="11" name="Imagen 10" descr="Gráfico, Gráfico de líneas&#10;&#10;El contenido generado por IA puede ser incorrecto.">
            <a:extLst>
              <a:ext uri="{FF2B5EF4-FFF2-40B4-BE49-F238E27FC236}">
                <a16:creationId xmlns:a16="http://schemas.microsoft.com/office/drawing/2014/main" id="{2F4FDF3C-69E2-BDE9-57BC-85FA23515B5D}"/>
              </a:ext>
            </a:extLst>
          </p:cNvPr>
          <p:cNvPicPr>
            <a:picLocks noChangeAspect="1"/>
          </p:cNvPicPr>
          <p:nvPr/>
        </p:nvPicPr>
        <p:blipFill>
          <a:blip r:embed="rId3">
            <a:extLst>
              <a:ext uri="{28A0092B-C50C-407E-A947-70E740481C1C}">
                <a14:useLocalDpi xmlns:a14="http://schemas.microsoft.com/office/drawing/2010/main" val="0"/>
              </a:ext>
            </a:extLst>
          </a:blip>
          <a:srcRect l="5436" r="5678"/>
          <a:stretch>
            <a:fillRect/>
          </a:stretch>
        </p:blipFill>
        <p:spPr>
          <a:xfrm>
            <a:off x="522018" y="822534"/>
            <a:ext cx="4506216" cy="3802219"/>
          </a:xfrm>
          <a:prstGeom prst="rect">
            <a:avLst/>
          </a:prstGeom>
        </p:spPr>
      </p:pic>
      <p:sp>
        <p:nvSpPr>
          <p:cNvPr id="17" name="CuadroTexto 16">
            <a:extLst>
              <a:ext uri="{FF2B5EF4-FFF2-40B4-BE49-F238E27FC236}">
                <a16:creationId xmlns:a16="http://schemas.microsoft.com/office/drawing/2014/main" id="{F6FAA530-1636-E419-6A74-6FC7195996EA}"/>
              </a:ext>
            </a:extLst>
          </p:cNvPr>
          <p:cNvSpPr txBox="1"/>
          <p:nvPr/>
        </p:nvSpPr>
        <p:spPr>
          <a:xfrm>
            <a:off x="615293" y="4812916"/>
            <a:ext cx="8996941" cy="646331"/>
          </a:xfrm>
          <a:prstGeom prst="rect">
            <a:avLst/>
          </a:prstGeom>
          <a:noFill/>
        </p:spPr>
        <p:txBody>
          <a:bodyPr wrap="square">
            <a:spAutoFit/>
          </a:bodyPr>
          <a:lstStyle/>
          <a:p>
            <a:pPr algn="just"/>
            <a:r>
              <a:rPr lang="es-ES" sz="1800" dirty="0">
                <a:latin typeface="Libre Franklin" pitchFamily="2" charset="0"/>
              </a:rPr>
              <a:t>La estimación del coeficiente de sacrificio es de 0.3027 para un periodo de 5 años</a:t>
            </a:r>
          </a:p>
          <a:p>
            <a:pPr algn="just"/>
            <a:r>
              <a:rPr lang="es-ES" dirty="0">
                <a:latin typeface="Libre Franklin" pitchFamily="2" charset="0"/>
              </a:rPr>
              <a:t>El intervalo de confianza al 90% dentro de la simulación es </a:t>
            </a:r>
            <a:r>
              <a:rPr lang="es-MX" dirty="0">
                <a:latin typeface="Libre Franklin" pitchFamily="2" charset="0"/>
              </a:rPr>
              <a:t>(-0.7410, 1.3252)</a:t>
            </a:r>
            <a:endParaRPr lang="es-ES" sz="1800" dirty="0">
              <a:latin typeface="Libre Franklin" pitchFamily="2" charset="0"/>
            </a:endParaRPr>
          </a:p>
        </p:txBody>
      </p:sp>
      <p:sp>
        <p:nvSpPr>
          <p:cNvPr id="10" name="CuadroTexto 9">
            <a:extLst>
              <a:ext uri="{FF2B5EF4-FFF2-40B4-BE49-F238E27FC236}">
                <a16:creationId xmlns:a16="http://schemas.microsoft.com/office/drawing/2014/main" id="{DFCBF30B-8806-4C75-B5F8-64873EFCAEFB}"/>
              </a:ext>
            </a:extLst>
          </p:cNvPr>
          <p:cNvSpPr txBox="1"/>
          <p:nvPr/>
        </p:nvSpPr>
        <p:spPr>
          <a:xfrm>
            <a:off x="2720341" y="208127"/>
            <a:ext cx="9206188" cy="584775"/>
          </a:xfrm>
          <a:prstGeom prst="rect">
            <a:avLst/>
          </a:prstGeom>
          <a:noFill/>
        </p:spPr>
        <p:txBody>
          <a:bodyPr wrap="square" rtlCol="0">
            <a:spAutoFit/>
          </a:bodyPr>
          <a:lstStyle/>
          <a:p>
            <a:r>
              <a:rPr lang="es-MX" sz="3200" dirty="0">
                <a:solidFill>
                  <a:srgbClr val="FF7F00"/>
                </a:solidFill>
              </a:rPr>
              <a:t>Propuesta utilizando inflación total</a:t>
            </a:r>
            <a:endParaRPr lang="es-GT" sz="2400" dirty="0">
              <a:solidFill>
                <a:srgbClr val="FF7F00"/>
              </a:solidFill>
            </a:endParaRPr>
          </a:p>
        </p:txBody>
      </p:sp>
      <p:pic>
        <p:nvPicPr>
          <p:cNvPr id="5" name="Imagen 4">
            <a:extLst>
              <a:ext uri="{FF2B5EF4-FFF2-40B4-BE49-F238E27FC236}">
                <a16:creationId xmlns:a16="http://schemas.microsoft.com/office/drawing/2014/main" id="{B1FC391E-6E82-4EB4-A9A1-082E173862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38434" y="730459"/>
            <a:ext cx="5976436" cy="3984291"/>
          </a:xfrm>
          <a:prstGeom prst="rect">
            <a:avLst/>
          </a:prstGeom>
        </p:spPr>
      </p:pic>
    </p:spTree>
    <p:extLst>
      <p:ext uri="{BB962C8B-B14F-4D97-AF65-F5344CB8AC3E}">
        <p14:creationId xmlns:p14="http://schemas.microsoft.com/office/powerpoint/2010/main" val="1952798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C1E0F-3A03-65A1-EAA9-2150EE119E8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A1DD0DA-3E52-35FA-6008-F1DA6CD45944}"/>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B1D0F4EF-2D98-0191-3B39-63B5D52D1DD5}"/>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2E0DEF24-BB80-82A7-8138-494FBF9BA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ADD180B3-394E-F5B7-5528-22C8C3FB6E23}"/>
              </a:ext>
            </a:extLst>
          </p:cNvPr>
          <p:cNvSpPr txBox="1"/>
          <p:nvPr/>
        </p:nvSpPr>
        <p:spPr>
          <a:xfrm>
            <a:off x="165182" y="207239"/>
            <a:ext cx="2281990" cy="523220"/>
          </a:xfrm>
          <a:prstGeom prst="rect">
            <a:avLst/>
          </a:prstGeom>
          <a:noFill/>
        </p:spPr>
        <p:txBody>
          <a:bodyPr wrap="square" rtlCol="0">
            <a:spAutoFit/>
          </a:bodyPr>
          <a:lstStyle/>
          <a:p>
            <a:r>
              <a:rPr lang="es-ES" sz="2800" b="1" dirty="0">
                <a:latin typeface="Libre Franklin" pitchFamily="2" charset="0"/>
              </a:rPr>
              <a:t>Resultados</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16C81271-FEEB-0FD9-DC17-5AE6F8772B6E}"/>
              </a:ext>
            </a:extLst>
          </p:cNvPr>
          <p:cNvCxnSpPr>
            <a:cxnSpLocks/>
          </p:cNvCxnSpPr>
          <p:nvPr/>
        </p:nvCxnSpPr>
        <p:spPr>
          <a:xfrm>
            <a:off x="265471" y="730459"/>
            <a:ext cx="1908000"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F6FAA530-1636-E419-6A74-6FC7195996EA}"/>
              </a:ext>
            </a:extLst>
          </p:cNvPr>
          <p:cNvSpPr txBox="1"/>
          <p:nvPr/>
        </p:nvSpPr>
        <p:spPr>
          <a:xfrm>
            <a:off x="615293" y="4812916"/>
            <a:ext cx="8996941" cy="646331"/>
          </a:xfrm>
          <a:prstGeom prst="rect">
            <a:avLst/>
          </a:prstGeom>
          <a:noFill/>
        </p:spPr>
        <p:txBody>
          <a:bodyPr wrap="square">
            <a:spAutoFit/>
          </a:bodyPr>
          <a:lstStyle/>
          <a:p>
            <a:pPr algn="just"/>
            <a:r>
              <a:rPr lang="es-ES" sz="1800" dirty="0">
                <a:latin typeface="Libre Franklin" pitchFamily="2" charset="0"/>
              </a:rPr>
              <a:t>La estimación del coeficiente de sacrificio es de </a:t>
            </a:r>
            <a:r>
              <a:rPr lang="es-GT" sz="1800" b="0" i="0" u="none" strike="noStrike" baseline="0" dirty="0">
                <a:solidFill>
                  <a:srgbClr val="000000"/>
                </a:solidFill>
                <a:latin typeface="Libre Franklin" pitchFamily="2" charset="0"/>
              </a:rPr>
              <a:t>0.3052</a:t>
            </a:r>
            <a:r>
              <a:rPr lang="es-ES" sz="1800" dirty="0">
                <a:latin typeface="Libre Franklin" pitchFamily="2" charset="0"/>
              </a:rPr>
              <a:t> para un periodo de 5 años</a:t>
            </a:r>
          </a:p>
          <a:p>
            <a:pPr algn="just"/>
            <a:r>
              <a:rPr lang="es-ES" dirty="0">
                <a:latin typeface="Libre Franklin" pitchFamily="2" charset="0"/>
              </a:rPr>
              <a:t>El intervalo de confianza al 90% dentro de la simulación es </a:t>
            </a:r>
            <a:r>
              <a:rPr lang="es-MX" dirty="0">
                <a:latin typeface="Libre Franklin" pitchFamily="2" charset="0"/>
              </a:rPr>
              <a:t>(-0.7660, 1.5775)</a:t>
            </a:r>
            <a:endParaRPr lang="es-ES" sz="1800" dirty="0">
              <a:latin typeface="Libre Franklin" pitchFamily="2" charset="0"/>
            </a:endParaRPr>
          </a:p>
        </p:txBody>
      </p:sp>
      <p:pic>
        <p:nvPicPr>
          <p:cNvPr id="5" name="Imagen 4">
            <a:extLst>
              <a:ext uri="{FF2B5EF4-FFF2-40B4-BE49-F238E27FC236}">
                <a16:creationId xmlns:a16="http://schemas.microsoft.com/office/drawing/2014/main" id="{098C2661-EA20-4420-AF45-D6DEC69E8C4F}"/>
              </a:ext>
            </a:extLst>
          </p:cNvPr>
          <p:cNvPicPr>
            <a:picLocks noChangeAspect="1"/>
          </p:cNvPicPr>
          <p:nvPr/>
        </p:nvPicPr>
        <p:blipFill rotWithShape="1">
          <a:blip r:embed="rId3">
            <a:extLst>
              <a:ext uri="{28A0092B-C50C-407E-A947-70E740481C1C}">
                <a14:useLocalDpi xmlns:a14="http://schemas.microsoft.com/office/drawing/2010/main" val="0"/>
              </a:ext>
            </a:extLst>
          </a:blip>
          <a:srcRect l="6598" r="5847"/>
          <a:stretch/>
        </p:blipFill>
        <p:spPr>
          <a:xfrm>
            <a:off x="454538" y="870887"/>
            <a:ext cx="4438000" cy="3801600"/>
          </a:xfrm>
          <a:prstGeom prst="rect">
            <a:avLst/>
          </a:prstGeom>
        </p:spPr>
      </p:pic>
      <p:sp>
        <p:nvSpPr>
          <p:cNvPr id="15" name="CuadroTexto 14">
            <a:extLst>
              <a:ext uri="{FF2B5EF4-FFF2-40B4-BE49-F238E27FC236}">
                <a16:creationId xmlns:a16="http://schemas.microsoft.com/office/drawing/2014/main" id="{3BD7E22F-2C32-4C24-B26C-B0EB80B5CB7F}"/>
              </a:ext>
            </a:extLst>
          </p:cNvPr>
          <p:cNvSpPr txBox="1"/>
          <p:nvPr/>
        </p:nvSpPr>
        <p:spPr>
          <a:xfrm>
            <a:off x="2720341" y="208127"/>
            <a:ext cx="9206188" cy="584775"/>
          </a:xfrm>
          <a:prstGeom prst="rect">
            <a:avLst/>
          </a:prstGeom>
          <a:noFill/>
        </p:spPr>
        <p:txBody>
          <a:bodyPr wrap="square" rtlCol="0">
            <a:spAutoFit/>
          </a:bodyPr>
          <a:lstStyle/>
          <a:p>
            <a:r>
              <a:rPr lang="es-MX" sz="3200" dirty="0">
                <a:solidFill>
                  <a:srgbClr val="FF7F00"/>
                </a:solidFill>
              </a:rPr>
              <a:t>Propuesta utilizando inflación media ponderada</a:t>
            </a:r>
            <a:endParaRPr lang="es-GT" sz="2400" dirty="0">
              <a:solidFill>
                <a:srgbClr val="FF7F00"/>
              </a:solidFill>
            </a:endParaRPr>
          </a:p>
        </p:txBody>
      </p:sp>
      <p:pic>
        <p:nvPicPr>
          <p:cNvPr id="9" name="Imagen 8">
            <a:extLst>
              <a:ext uri="{FF2B5EF4-FFF2-40B4-BE49-F238E27FC236}">
                <a16:creationId xmlns:a16="http://schemas.microsoft.com/office/drawing/2014/main" id="{839A2FED-2576-4BA9-8FEC-4A8C7250DF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65707" y="713664"/>
            <a:ext cx="5977801" cy="3985200"/>
          </a:xfrm>
          <a:prstGeom prst="rect">
            <a:avLst/>
          </a:prstGeom>
        </p:spPr>
      </p:pic>
    </p:spTree>
    <p:extLst>
      <p:ext uri="{BB962C8B-B14F-4D97-AF65-F5344CB8AC3E}">
        <p14:creationId xmlns:p14="http://schemas.microsoft.com/office/powerpoint/2010/main" val="1169721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C1E0F-3A03-65A1-EAA9-2150EE119E8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A1DD0DA-3E52-35FA-6008-F1DA6CD45944}"/>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B1D0F4EF-2D98-0191-3B39-63B5D52D1DD5}"/>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2E0DEF24-BB80-82A7-8138-494FBF9BA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ADD180B3-394E-F5B7-5528-22C8C3FB6E23}"/>
              </a:ext>
            </a:extLst>
          </p:cNvPr>
          <p:cNvSpPr txBox="1"/>
          <p:nvPr/>
        </p:nvSpPr>
        <p:spPr>
          <a:xfrm>
            <a:off x="165182" y="207239"/>
            <a:ext cx="2281990" cy="523220"/>
          </a:xfrm>
          <a:prstGeom prst="rect">
            <a:avLst/>
          </a:prstGeom>
          <a:noFill/>
        </p:spPr>
        <p:txBody>
          <a:bodyPr wrap="square" rtlCol="0">
            <a:spAutoFit/>
          </a:bodyPr>
          <a:lstStyle/>
          <a:p>
            <a:r>
              <a:rPr lang="es-ES" sz="2800" b="1" dirty="0">
                <a:latin typeface="Libre Franklin" pitchFamily="2" charset="0"/>
              </a:rPr>
              <a:t>Resultados</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16C81271-FEEB-0FD9-DC17-5AE6F8772B6E}"/>
              </a:ext>
            </a:extLst>
          </p:cNvPr>
          <p:cNvCxnSpPr>
            <a:cxnSpLocks/>
          </p:cNvCxnSpPr>
          <p:nvPr/>
        </p:nvCxnSpPr>
        <p:spPr>
          <a:xfrm>
            <a:off x="265471" y="730459"/>
            <a:ext cx="1908000"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F6FAA530-1636-E419-6A74-6FC7195996EA}"/>
              </a:ext>
            </a:extLst>
          </p:cNvPr>
          <p:cNvSpPr txBox="1"/>
          <p:nvPr/>
        </p:nvSpPr>
        <p:spPr>
          <a:xfrm>
            <a:off x="615293" y="4812916"/>
            <a:ext cx="8996941" cy="646331"/>
          </a:xfrm>
          <a:prstGeom prst="rect">
            <a:avLst/>
          </a:prstGeom>
          <a:noFill/>
        </p:spPr>
        <p:txBody>
          <a:bodyPr wrap="square">
            <a:spAutoFit/>
          </a:bodyPr>
          <a:lstStyle/>
          <a:p>
            <a:pPr algn="just"/>
            <a:r>
              <a:rPr lang="es-ES" sz="1800" dirty="0">
                <a:latin typeface="Libre Franklin" pitchFamily="2" charset="0"/>
              </a:rPr>
              <a:t>La estimación del coeficiente de sacrificio es de </a:t>
            </a:r>
            <a:r>
              <a:rPr lang="es-GT" sz="1800" b="0" i="0" u="none" strike="noStrike" baseline="0" dirty="0">
                <a:solidFill>
                  <a:srgbClr val="000000"/>
                </a:solidFill>
                <a:latin typeface="Libre Franklin" pitchFamily="2" charset="0"/>
              </a:rPr>
              <a:t>0.4757</a:t>
            </a:r>
            <a:r>
              <a:rPr lang="es-ES" sz="1800" dirty="0">
                <a:latin typeface="Libre Franklin" pitchFamily="2" charset="0"/>
              </a:rPr>
              <a:t> para un periodo de 5 años</a:t>
            </a:r>
          </a:p>
          <a:p>
            <a:pPr algn="just"/>
            <a:r>
              <a:rPr lang="es-ES" dirty="0">
                <a:latin typeface="Libre Franklin" pitchFamily="2" charset="0"/>
              </a:rPr>
              <a:t>El intervalo de confianza al 90% dentro de la simulación es </a:t>
            </a:r>
            <a:r>
              <a:rPr lang="es-MX" dirty="0">
                <a:latin typeface="Libre Franklin" pitchFamily="2" charset="0"/>
              </a:rPr>
              <a:t>(-0.6677, 2.1664)</a:t>
            </a:r>
            <a:endParaRPr lang="es-ES" sz="1800" dirty="0">
              <a:latin typeface="Libre Franklin" pitchFamily="2" charset="0"/>
            </a:endParaRPr>
          </a:p>
        </p:txBody>
      </p:sp>
      <p:pic>
        <p:nvPicPr>
          <p:cNvPr id="9" name="Imagen 8">
            <a:extLst>
              <a:ext uri="{FF2B5EF4-FFF2-40B4-BE49-F238E27FC236}">
                <a16:creationId xmlns:a16="http://schemas.microsoft.com/office/drawing/2014/main" id="{274C5109-24F7-4D90-8C35-A8BD55EC3B70}"/>
              </a:ext>
            </a:extLst>
          </p:cNvPr>
          <p:cNvPicPr>
            <a:picLocks noChangeAspect="1"/>
          </p:cNvPicPr>
          <p:nvPr/>
        </p:nvPicPr>
        <p:blipFill rotWithShape="1">
          <a:blip r:embed="rId3">
            <a:extLst>
              <a:ext uri="{28A0092B-C50C-407E-A947-70E740481C1C}">
                <a14:useLocalDpi xmlns:a14="http://schemas.microsoft.com/office/drawing/2010/main" val="0"/>
              </a:ext>
            </a:extLst>
          </a:blip>
          <a:srcRect l="6598" r="5731"/>
          <a:stretch/>
        </p:blipFill>
        <p:spPr>
          <a:xfrm>
            <a:off x="615293" y="917659"/>
            <a:ext cx="4443849" cy="3801600"/>
          </a:xfrm>
          <a:prstGeom prst="rect">
            <a:avLst/>
          </a:prstGeom>
        </p:spPr>
      </p:pic>
      <p:sp>
        <p:nvSpPr>
          <p:cNvPr id="13" name="CuadroTexto 12">
            <a:extLst>
              <a:ext uri="{FF2B5EF4-FFF2-40B4-BE49-F238E27FC236}">
                <a16:creationId xmlns:a16="http://schemas.microsoft.com/office/drawing/2014/main" id="{7DA77732-FF7A-4170-825B-9411D25E54A5}"/>
              </a:ext>
            </a:extLst>
          </p:cNvPr>
          <p:cNvSpPr txBox="1"/>
          <p:nvPr/>
        </p:nvSpPr>
        <p:spPr>
          <a:xfrm>
            <a:off x="2720341" y="208127"/>
            <a:ext cx="9206188" cy="584775"/>
          </a:xfrm>
          <a:prstGeom prst="rect">
            <a:avLst/>
          </a:prstGeom>
          <a:noFill/>
        </p:spPr>
        <p:txBody>
          <a:bodyPr wrap="square" rtlCol="0">
            <a:spAutoFit/>
          </a:bodyPr>
          <a:lstStyle/>
          <a:p>
            <a:r>
              <a:rPr lang="es-MX" sz="3200" dirty="0">
                <a:solidFill>
                  <a:srgbClr val="FF7F00"/>
                </a:solidFill>
              </a:rPr>
              <a:t>Propuesta utilizando inflación subyacente óptima MSE</a:t>
            </a:r>
            <a:endParaRPr lang="es-GT" sz="2400" dirty="0">
              <a:solidFill>
                <a:srgbClr val="FF7F00"/>
              </a:solidFill>
            </a:endParaRPr>
          </a:p>
        </p:txBody>
      </p:sp>
      <p:pic>
        <p:nvPicPr>
          <p:cNvPr id="5" name="Imagen 4">
            <a:extLst>
              <a:ext uri="{FF2B5EF4-FFF2-40B4-BE49-F238E27FC236}">
                <a16:creationId xmlns:a16="http://schemas.microsoft.com/office/drawing/2014/main" id="{CED7A16D-76B8-4A99-98EB-56B208A88F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37070" y="744684"/>
            <a:ext cx="5977800" cy="3985200"/>
          </a:xfrm>
          <a:prstGeom prst="rect">
            <a:avLst/>
          </a:prstGeom>
        </p:spPr>
      </p:pic>
    </p:spTree>
    <p:extLst>
      <p:ext uri="{BB962C8B-B14F-4D97-AF65-F5344CB8AC3E}">
        <p14:creationId xmlns:p14="http://schemas.microsoft.com/office/powerpoint/2010/main" val="4241189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E9594-4557-6789-7591-C3FE85A6E67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A4BBE82-0BC0-72E6-A6F2-52C2D7A4B3AA}"/>
              </a:ext>
            </a:extLst>
          </p:cNvPr>
          <p:cNvSpPr>
            <a:spLocks noGrp="1"/>
          </p:cNvSpPr>
          <p:nvPr>
            <p:ph type="ctrTitle"/>
          </p:nvPr>
        </p:nvSpPr>
        <p:spPr/>
        <p:txBody>
          <a:bodyPr/>
          <a:lstStyle/>
          <a:p>
            <a:endParaRPr lang="es-GT"/>
          </a:p>
        </p:txBody>
      </p:sp>
      <p:sp>
        <p:nvSpPr>
          <p:cNvPr id="3" name="Subtítulo 2">
            <a:extLst>
              <a:ext uri="{FF2B5EF4-FFF2-40B4-BE49-F238E27FC236}">
                <a16:creationId xmlns:a16="http://schemas.microsoft.com/office/drawing/2014/main" id="{70C380E4-3841-7A81-4096-3756B903C026}"/>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19F1B8F1-B60C-595A-3BBE-6F50819FCD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220B7F8F-1CBD-BBF0-13E2-0C38E92BE011}"/>
              </a:ext>
            </a:extLst>
          </p:cNvPr>
          <p:cNvSpPr txBox="1"/>
          <p:nvPr/>
        </p:nvSpPr>
        <p:spPr>
          <a:xfrm>
            <a:off x="165181" y="207239"/>
            <a:ext cx="9899117" cy="523220"/>
          </a:xfrm>
          <a:prstGeom prst="rect">
            <a:avLst/>
          </a:prstGeom>
          <a:noFill/>
        </p:spPr>
        <p:txBody>
          <a:bodyPr wrap="square" rtlCol="0">
            <a:spAutoFit/>
          </a:bodyPr>
          <a:lstStyle/>
          <a:p>
            <a:r>
              <a:rPr lang="es-ES" sz="2800" b="1" dirty="0">
                <a:latin typeface="Libre Franklin" pitchFamily="2" charset="0"/>
              </a:rPr>
              <a:t>Estimación mediante un SVAR</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BA9CC84A-E59B-24BF-7149-2B08BAEA3B47}"/>
              </a:ext>
            </a:extLst>
          </p:cNvPr>
          <p:cNvCxnSpPr>
            <a:cxnSpLocks/>
          </p:cNvCxnSpPr>
          <p:nvPr/>
        </p:nvCxnSpPr>
        <p:spPr>
          <a:xfrm>
            <a:off x="201081" y="685386"/>
            <a:ext cx="5256000"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sp>
        <p:nvSpPr>
          <p:cNvPr id="13" name="CuadroTexto 12">
            <a:extLst>
              <a:ext uri="{FF2B5EF4-FFF2-40B4-BE49-F238E27FC236}">
                <a16:creationId xmlns:a16="http://schemas.microsoft.com/office/drawing/2014/main" id="{E7FC55FC-7D8C-AF26-AF56-0C4B5FCF288E}"/>
              </a:ext>
            </a:extLst>
          </p:cNvPr>
          <p:cNvSpPr txBox="1"/>
          <p:nvPr/>
        </p:nvSpPr>
        <p:spPr>
          <a:xfrm>
            <a:off x="567378" y="954633"/>
            <a:ext cx="5666368" cy="400110"/>
          </a:xfrm>
          <a:prstGeom prst="rect">
            <a:avLst/>
          </a:prstGeom>
          <a:noFill/>
        </p:spPr>
        <p:txBody>
          <a:bodyPr wrap="square">
            <a:spAutoFit/>
          </a:bodyPr>
          <a:lstStyle/>
          <a:p>
            <a:pPr algn="just"/>
            <a:r>
              <a:rPr lang="es-ES" sz="2000" b="1" dirty="0">
                <a:latin typeface="Libre Franklin" pitchFamily="2" charset="0"/>
              </a:rPr>
              <a:t>Consideraciones en el contexto actual</a:t>
            </a:r>
          </a:p>
        </p:txBody>
      </p:sp>
      <p:sp>
        <p:nvSpPr>
          <p:cNvPr id="10" name="CuadroTexto 9">
            <a:extLst>
              <a:ext uri="{FF2B5EF4-FFF2-40B4-BE49-F238E27FC236}">
                <a16:creationId xmlns:a16="http://schemas.microsoft.com/office/drawing/2014/main" id="{27D9A988-45A6-4562-B46D-D661512F35C1}"/>
              </a:ext>
            </a:extLst>
          </p:cNvPr>
          <p:cNvSpPr txBox="1"/>
          <p:nvPr/>
        </p:nvSpPr>
        <p:spPr>
          <a:xfrm>
            <a:off x="567378" y="1491695"/>
            <a:ext cx="10669191" cy="2031325"/>
          </a:xfrm>
          <a:prstGeom prst="rect">
            <a:avLst/>
          </a:prstGeom>
          <a:noFill/>
        </p:spPr>
        <p:txBody>
          <a:bodyPr wrap="square">
            <a:spAutoFit/>
          </a:bodyPr>
          <a:lstStyle/>
          <a:p>
            <a:pPr algn="just"/>
            <a:r>
              <a:rPr lang="es-ES" sz="1800" dirty="0">
                <a:latin typeface="Libre Franklin" pitchFamily="2" charset="0"/>
              </a:rPr>
              <a:t>Como se indicó, el coeficiente mide el sacrificio en términos del producto como consecuencia en una reducción en la inflación, pero esta definición debe matizarse dentro del contexto actual de cambio de base del IPC.</a:t>
            </a:r>
          </a:p>
          <a:p>
            <a:pPr algn="just"/>
            <a:endParaRPr lang="es-ES" dirty="0">
              <a:latin typeface="Libre Franklin" pitchFamily="2" charset="0"/>
            </a:endParaRPr>
          </a:p>
          <a:p>
            <a:pPr algn="just"/>
            <a:r>
              <a:rPr lang="es-ES" sz="1800" dirty="0">
                <a:latin typeface="Libre Franklin" pitchFamily="2" charset="0"/>
              </a:rPr>
              <a:t>Si la reducción de la inflación obedece únicamente al cambio de base del IPC esto no implicaría un sacrificio en el producto, caso contrario si es necesario contraer la demanda agregada para lograr la reducción en la inflación.</a:t>
            </a:r>
          </a:p>
        </p:txBody>
      </p:sp>
    </p:spTree>
    <p:extLst>
      <p:ext uri="{BB962C8B-B14F-4D97-AF65-F5344CB8AC3E}">
        <p14:creationId xmlns:p14="http://schemas.microsoft.com/office/powerpoint/2010/main" val="288511129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11193</TotalTime>
  <Words>549</Words>
  <Application>Microsoft Office PowerPoint</Application>
  <PresentationFormat>Panorámica</PresentationFormat>
  <Paragraphs>55</Paragraphs>
  <Slides>7</Slides>
  <Notes>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7</vt:i4>
      </vt:variant>
    </vt:vector>
  </HeadingPairs>
  <TitlesOfParts>
    <vt:vector size="14" baseType="lpstr">
      <vt:lpstr>Aptos</vt:lpstr>
      <vt:lpstr>Arial</vt:lpstr>
      <vt:lpstr>Calibri</vt:lpstr>
      <vt:lpstr>Calibri Light</vt:lpstr>
      <vt:lpstr>Cambria Math</vt:lpstr>
      <vt:lpstr>Libre Franklin</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Marjhori Carolina Fuentes Heiz</dc:creator>
  <cp:lastModifiedBy>JGOR</cp:lastModifiedBy>
  <cp:revision>35</cp:revision>
  <dcterms:created xsi:type="dcterms:W3CDTF">2025-08-04T20:22:14Z</dcterms:created>
  <dcterms:modified xsi:type="dcterms:W3CDTF">2025-11-04T14:27:19Z</dcterms:modified>
</cp:coreProperties>
</file>