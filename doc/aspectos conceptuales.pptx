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85" r:id="rId3"/>
    <p:sldId id="286" r:id="rId4"/>
    <p:sldId id="288" r:id="rId5"/>
    <p:sldId id="289" r:id="rId6"/>
    <p:sldId id="293" r:id="rId7"/>
    <p:sldId id="290" r:id="rId8"/>
    <p:sldId id="291" r:id="rId9"/>
    <p:sldId id="292" r:id="rId10"/>
    <p:sldId id="287" r:id="rId11"/>
    <p:sldId id="257" r:id="rId12"/>
    <p:sldId id="273" r:id="rId13"/>
    <p:sldId id="262" r:id="rId14"/>
    <p:sldId id="294" r:id="rId15"/>
    <p:sldId id="295" r:id="rId16"/>
    <p:sldId id="263" r:id="rId17"/>
    <p:sldId id="264" r:id="rId18"/>
    <p:sldId id="276" r:id="rId19"/>
    <p:sldId id="265" r:id="rId20"/>
    <p:sldId id="266" r:id="rId21"/>
    <p:sldId id="267" r:id="rId22"/>
    <p:sldId id="268" r:id="rId23"/>
    <p:sldId id="269" r:id="rId24"/>
    <p:sldId id="260" r:id="rId25"/>
    <p:sldId id="271" r:id="rId26"/>
    <p:sldId id="274" r:id="rId27"/>
    <p:sldId id="275" r:id="rId28"/>
    <p:sldId id="277" r:id="rId29"/>
    <p:sldId id="279" r:id="rId30"/>
    <p:sldId id="280" r:id="rId31"/>
    <p:sldId id="283" r:id="rId32"/>
    <p:sldId id="284" r:id="rId33"/>
    <p:sldId id="281" r:id="rId34"/>
    <p:sldId id="282" r:id="rId35"/>
    <p:sldId id="272" r:id="rId36"/>
  </p:sldIdLst>
  <p:sldSz cx="12192000" cy="6858000"/>
  <p:notesSz cx="6858000" cy="9144000"/>
  <p:defaultText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5084F0-A6C4-C578-9AE7-B10C524F5785}" name="Jorge Orenos" initials="JO" userId="23c8ceddaea92e4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F00"/>
    <a:srgbClr val="CFB280"/>
    <a:srgbClr val="00C1EB"/>
    <a:srgbClr val="00A3CF"/>
    <a:srgbClr val="0045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6236" autoAdjust="0"/>
  </p:normalViewPr>
  <p:slideViewPr>
    <p:cSldViewPr snapToGrid="0">
      <p:cViewPr varScale="1">
        <p:scale>
          <a:sx n="107" d="100"/>
          <a:sy n="107" d="100"/>
        </p:scale>
        <p:origin x="11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76F4CC-8EEC-4B7D-8690-FE5A2CF4A996}" type="datetimeFigureOut">
              <a:rPr lang="es-MX" smtClean="0"/>
              <a:t>07/11/2025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6B6AF6-8D20-47C3-B043-A4175CDAFA80}" type="slidenum">
              <a:rPr lang="es-MX" smtClean="0"/>
              <a:t>‹Nº›</a:t>
            </a:fld>
            <a:endParaRPr lang="es-MX"/>
          </a:p>
        </p:txBody>
      </p:sp>
    </p:spTree>
    <p:extLst>
      <p:ext uri="{BB962C8B-B14F-4D97-AF65-F5344CB8AC3E}">
        <p14:creationId xmlns:p14="http://schemas.microsoft.com/office/powerpoint/2010/main" val="1112974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4EBBF-A0AB-D2AF-D232-8F293B8B91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326EF9-25D5-6B07-6E30-97B17AFB76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D39E68-53E7-F9B1-7546-37737BF365D1}"/>
              </a:ext>
            </a:extLst>
          </p:cNvPr>
          <p:cNvSpPr>
            <a:spLocks noGrp="1"/>
          </p:cNvSpPr>
          <p:nvPr>
            <p:ph type="body" idx="1"/>
          </p:nvPr>
        </p:nvSpPr>
        <p:spPr/>
        <p:txBody>
          <a:bodyPr/>
          <a:lstStyle/>
          <a:p>
            <a:r>
              <a:rPr lang="es-MX" dirty="0" err="1"/>
              <a:t>The</a:t>
            </a:r>
            <a:r>
              <a:rPr lang="es-MX" dirty="0"/>
              <a:t> case </a:t>
            </a:r>
            <a:r>
              <a:rPr lang="es-MX" dirty="0" err="1"/>
              <a:t>for</a:t>
            </a:r>
            <a:r>
              <a:rPr lang="es-MX" dirty="0"/>
              <a:t> </a:t>
            </a:r>
            <a:r>
              <a:rPr lang="es-MX" dirty="0" err="1"/>
              <a:t>four</a:t>
            </a:r>
            <a:r>
              <a:rPr lang="es-MX" dirty="0"/>
              <a:t> </a:t>
            </a:r>
            <a:r>
              <a:rPr lang="es-MX" dirty="0" err="1"/>
              <a:t>percent</a:t>
            </a:r>
            <a:r>
              <a:rPr lang="es-MX" dirty="0"/>
              <a:t> </a:t>
            </a:r>
            <a:r>
              <a:rPr lang="es-MX" dirty="0" err="1"/>
              <a:t>inflation</a:t>
            </a:r>
            <a:r>
              <a:rPr lang="es-MX" dirty="0"/>
              <a:t> – Laurence Ball – </a:t>
            </a:r>
            <a:r>
              <a:rPr lang="es-MX" dirty="0" err="1"/>
              <a:t>Jhons</a:t>
            </a:r>
            <a:r>
              <a:rPr lang="es-MX" dirty="0"/>
              <a:t> Hopkins </a:t>
            </a:r>
            <a:r>
              <a:rPr lang="es-MX" dirty="0" err="1"/>
              <a:t>University</a:t>
            </a:r>
            <a:r>
              <a:rPr lang="es-MX" dirty="0"/>
              <a:t> propone el vínculo entre la meta de inflación y el problema del límite inferior cero. Además de indicar que estar dentro de este límite podría agravar cualquier crisis, opinión que es compartida por otros economistas como Olivier Blanchard.</a:t>
            </a:r>
          </a:p>
          <a:p>
            <a:endParaRPr lang="es-MX" dirty="0"/>
          </a:p>
          <a:p>
            <a:r>
              <a:rPr lang="es-MX" dirty="0"/>
              <a:t>En el mismo trabajo Laurence Ball propone que la historia de la inflación podría ayudar a explicar porque no se había padecido del problema del límite inferior cero. Pone de ejemplo a japón y la recesión de 2008 indicando que estas sucedieron en periodos en los cuales le meta de inflación era baja para las economías avanzadas.</a:t>
            </a:r>
          </a:p>
          <a:p>
            <a:endParaRPr lang="es-MX" dirty="0"/>
          </a:p>
          <a:p>
            <a:endParaRPr lang="es-MX" dirty="0"/>
          </a:p>
        </p:txBody>
      </p:sp>
      <p:sp>
        <p:nvSpPr>
          <p:cNvPr id="4" name="Marcador de número de diapositiva 3">
            <a:extLst>
              <a:ext uri="{FF2B5EF4-FFF2-40B4-BE49-F238E27FC236}">
                <a16:creationId xmlns:a16="http://schemas.microsoft.com/office/drawing/2014/main" id="{400DCB3C-08D4-50A6-D500-C836FCBA5014}"/>
              </a:ext>
            </a:extLst>
          </p:cNvPr>
          <p:cNvSpPr>
            <a:spLocks noGrp="1"/>
          </p:cNvSpPr>
          <p:nvPr>
            <p:ph type="sldNum" sz="quarter" idx="5"/>
          </p:nvPr>
        </p:nvSpPr>
        <p:spPr/>
        <p:txBody>
          <a:bodyPr/>
          <a:lstStyle/>
          <a:p>
            <a:fld id="{106B6AF6-8D20-47C3-B043-A4175CDAFA80}" type="slidenum">
              <a:rPr lang="es-MX" smtClean="0"/>
              <a:t>2</a:t>
            </a:fld>
            <a:endParaRPr lang="es-MX"/>
          </a:p>
        </p:txBody>
      </p:sp>
    </p:spTree>
    <p:extLst>
      <p:ext uri="{BB962C8B-B14F-4D97-AF65-F5344CB8AC3E}">
        <p14:creationId xmlns:p14="http://schemas.microsoft.com/office/powerpoint/2010/main" val="3794453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4EBBF-A0AB-D2AF-D232-8F293B8B91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326EF9-25D5-6B07-6E30-97B17AFB76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D39E68-53E7-F9B1-7546-37737BF365D1}"/>
              </a:ext>
            </a:extLst>
          </p:cNvPr>
          <p:cNvSpPr>
            <a:spLocks noGrp="1"/>
          </p:cNvSpPr>
          <p:nvPr>
            <p:ph type="body" idx="1"/>
          </p:nvPr>
        </p:nvSpPr>
        <p:spPr/>
        <p:txBody>
          <a:bodyPr/>
          <a:lstStyle/>
          <a:p>
            <a:r>
              <a:rPr lang="es-MX" dirty="0" err="1"/>
              <a:t>The</a:t>
            </a:r>
            <a:r>
              <a:rPr lang="es-MX" dirty="0"/>
              <a:t> case </a:t>
            </a:r>
            <a:r>
              <a:rPr lang="es-MX" dirty="0" err="1"/>
              <a:t>for</a:t>
            </a:r>
            <a:r>
              <a:rPr lang="es-MX" dirty="0"/>
              <a:t> </a:t>
            </a:r>
            <a:r>
              <a:rPr lang="es-MX" dirty="0" err="1"/>
              <a:t>four</a:t>
            </a:r>
            <a:r>
              <a:rPr lang="es-MX" dirty="0"/>
              <a:t> </a:t>
            </a:r>
            <a:r>
              <a:rPr lang="es-MX" dirty="0" err="1"/>
              <a:t>percent</a:t>
            </a:r>
            <a:r>
              <a:rPr lang="es-MX" dirty="0"/>
              <a:t> </a:t>
            </a:r>
            <a:r>
              <a:rPr lang="es-MX" dirty="0" err="1"/>
              <a:t>inflation</a:t>
            </a:r>
            <a:r>
              <a:rPr lang="es-MX" dirty="0"/>
              <a:t> – Laurence Ball – </a:t>
            </a:r>
            <a:r>
              <a:rPr lang="es-MX" dirty="0" err="1"/>
              <a:t>Jhons</a:t>
            </a:r>
            <a:r>
              <a:rPr lang="es-MX" dirty="0"/>
              <a:t> Hopkins </a:t>
            </a:r>
            <a:r>
              <a:rPr lang="es-MX" dirty="0" err="1"/>
              <a:t>University</a:t>
            </a:r>
            <a:r>
              <a:rPr lang="es-MX" dirty="0"/>
              <a:t> propone el vínculo entre la meta de inflación y el problema del límite inferior cero. Además de indicar que estar dentro de este límite podría agravar cualquier crisis, opinión que es compartida por otros economistas como Olivier Blanchard.</a:t>
            </a:r>
          </a:p>
          <a:p>
            <a:endParaRPr lang="es-MX" dirty="0"/>
          </a:p>
          <a:p>
            <a:r>
              <a:rPr lang="es-MX" dirty="0"/>
              <a:t>En el mismo trabajo Laurence Ball propone que la historia de la inflación podría ayudar a explicar porque no se había padecido del problema del límite inferior cero. Pone de ejemplo a japón y la recesión de 2008 indicando que estas sucedieron en periodos en los cuales le meta de inflación era baja para las economías avanzadas.</a:t>
            </a:r>
          </a:p>
          <a:p>
            <a:endParaRPr lang="es-MX" dirty="0"/>
          </a:p>
          <a:p>
            <a:endParaRPr lang="es-MX" dirty="0"/>
          </a:p>
        </p:txBody>
      </p:sp>
      <p:sp>
        <p:nvSpPr>
          <p:cNvPr id="4" name="Marcador de número de diapositiva 3">
            <a:extLst>
              <a:ext uri="{FF2B5EF4-FFF2-40B4-BE49-F238E27FC236}">
                <a16:creationId xmlns:a16="http://schemas.microsoft.com/office/drawing/2014/main" id="{400DCB3C-08D4-50A6-D500-C836FCBA5014}"/>
              </a:ext>
            </a:extLst>
          </p:cNvPr>
          <p:cNvSpPr>
            <a:spLocks noGrp="1"/>
          </p:cNvSpPr>
          <p:nvPr>
            <p:ph type="sldNum" sz="quarter" idx="5"/>
          </p:nvPr>
        </p:nvSpPr>
        <p:spPr/>
        <p:txBody>
          <a:bodyPr/>
          <a:lstStyle/>
          <a:p>
            <a:fld id="{106B6AF6-8D20-47C3-B043-A4175CDAFA80}" type="slidenum">
              <a:rPr lang="es-MX" smtClean="0"/>
              <a:t>10</a:t>
            </a:fld>
            <a:endParaRPr lang="es-MX"/>
          </a:p>
        </p:txBody>
      </p:sp>
    </p:spTree>
    <p:extLst>
      <p:ext uri="{BB962C8B-B14F-4D97-AF65-F5344CB8AC3E}">
        <p14:creationId xmlns:p14="http://schemas.microsoft.com/office/powerpoint/2010/main" val="2470484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4EBBF-A0AB-D2AF-D232-8F293B8B91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326EF9-25D5-6B07-6E30-97B17AFB76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D39E68-53E7-F9B1-7546-37737BF365D1}"/>
              </a:ext>
            </a:extLst>
          </p:cNvPr>
          <p:cNvSpPr>
            <a:spLocks noGrp="1"/>
          </p:cNvSpPr>
          <p:nvPr>
            <p:ph type="body" idx="1"/>
          </p:nvPr>
        </p:nvSpPr>
        <p:spPr/>
        <p:txBody>
          <a:bodyPr/>
          <a:lstStyle/>
          <a:p>
            <a:r>
              <a:rPr lang="es-MX" dirty="0" err="1"/>
              <a:t>The</a:t>
            </a:r>
            <a:r>
              <a:rPr lang="es-MX" dirty="0"/>
              <a:t> case </a:t>
            </a:r>
            <a:r>
              <a:rPr lang="es-MX" dirty="0" err="1"/>
              <a:t>for</a:t>
            </a:r>
            <a:r>
              <a:rPr lang="es-MX" dirty="0"/>
              <a:t> </a:t>
            </a:r>
            <a:r>
              <a:rPr lang="es-MX" dirty="0" err="1"/>
              <a:t>four</a:t>
            </a:r>
            <a:r>
              <a:rPr lang="es-MX" dirty="0"/>
              <a:t> </a:t>
            </a:r>
            <a:r>
              <a:rPr lang="es-MX" dirty="0" err="1"/>
              <a:t>percent</a:t>
            </a:r>
            <a:r>
              <a:rPr lang="es-MX" dirty="0"/>
              <a:t> </a:t>
            </a:r>
            <a:r>
              <a:rPr lang="es-MX" dirty="0" err="1"/>
              <a:t>inflation</a:t>
            </a:r>
            <a:r>
              <a:rPr lang="es-MX" dirty="0"/>
              <a:t> – Laurence Ball – </a:t>
            </a:r>
            <a:r>
              <a:rPr lang="es-MX" dirty="0" err="1"/>
              <a:t>Jhons</a:t>
            </a:r>
            <a:r>
              <a:rPr lang="es-MX" dirty="0"/>
              <a:t> Hopkins </a:t>
            </a:r>
            <a:r>
              <a:rPr lang="es-MX" dirty="0" err="1"/>
              <a:t>University</a:t>
            </a:r>
            <a:r>
              <a:rPr lang="es-MX" dirty="0"/>
              <a:t> propone el vínculo entre la meta de inflación y el problema del límite inferior cero. Además de indicar que estar dentro de este límite podría agravar cualquier crisis, opinión que es compartida por otros economistas como Olivier Blanchard.</a:t>
            </a:r>
          </a:p>
          <a:p>
            <a:endParaRPr lang="es-MX" dirty="0"/>
          </a:p>
          <a:p>
            <a:r>
              <a:rPr lang="es-MX" dirty="0"/>
              <a:t>En el mismo trabajo Laurence Ball propone que la historia de la inflación podría ayudar a explicar porque no se había padecido del problema del límite inferior cero. Pone de ejemplo a japón y la recesión de 2008 indicando que estas sucedieron en periodos en los cuales le meta de inflación era baja para las economías avanzadas.</a:t>
            </a:r>
          </a:p>
          <a:p>
            <a:endParaRPr lang="es-MX" dirty="0"/>
          </a:p>
          <a:p>
            <a:endParaRPr lang="es-MX" dirty="0"/>
          </a:p>
        </p:txBody>
      </p:sp>
      <p:sp>
        <p:nvSpPr>
          <p:cNvPr id="4" name="Marcador de número de diapositiva 3">
            <a:extLst>
              <a:ext uri="{FF2B5EF4-FFF2-40B4-BE49-F238E27FC236}">
                <a16:creationId xmlns:a16="http://schemas.microsoft.com/office/drawing/2014/main" id="{400DCB3C-08D4-50A6-D500-C836FCBA5014}"/>
              </a:ext>
            </a:extLst>
          </p:cNvPr>
          <p:cNvSpPr>
            <a:spLocks noGrp="1"/>
          </p:cNvSpPr>
          <p:nvPr>
            <p:ph type="sldNum" sz="quarter" idx="5"/>
          </p:nvPr>
        </p:nvSpPr>
        <p:spPr/>
        <p:txBody>
          <a:bodyPr/>
          <a:lstStyle/>
          <a:p>
            <a:fld id="{106B6AF6-8D20-47C3-B043-A4175CDAFA80}" type="slidenum">
              <a:rPr lang="es-MX" smtClean="0"/>
              <a:t>12</a:t>
            </a:fld>
            <a:endParaRPr lang="es-MX"/>
          </a:p>
        </p:txBody>
      </p:sp>
    </p:spTree>
    <p:extLst>
      <p:ext uri="{BB962C8B-B14F-4D97-AF65-F5344CB8AC3E}">
        <p14:creationId xmlns:p14="http://schemas.microsoft.com/office/powerpoint/2010/main" val="1049619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24802-8B58-7C7C-890E-B59CB0FCB3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25915AB-6BA2-95BC-D49C-CA2D8B467E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F87483-6A59-80EB-912D-1AFC17626A72}"/>
              </a:ext>
            </a:extLst>
          </p:cNvPr>
          <p:cNvSpPr>
            <a:spLocks noGrp="1"/>
          </p:cNvSpPr>
          <p:nvPr>
            <p:ph type="body" idx="1"/>
          </p:nvPr>
        </p:nvSpPr>
        <p:spPr/>
        <p:txBody>
          <a:bodyPr/>
          <a:lstStyle/>
          <a:p>
            <a:r>
              <a:rPr lang="es-MX" dirty="0" err="1"/>
              <a:t>The</a:t>
            </a:r>
            <a:r>
              <a:rPr lang="es-MX" dirty="0"/>
              <a:t> case </a:t>
            </a:r>
            <a:r>
              <a:rPr lang="es-MX" dirty="0" err="1"/>
              <a:t>for</a:t>
            </a:r>
            <a:r>
              <a:rPr lang="es-MX" dirty="0"/>
              <a:t> </a:t>
            </a:r>
            <a:r>
              <a:rPr lang="es-MX" dirty="0" err="1"/>
              <a:t>four</a:t>
            </a:r>
            <a:r>
              <a:rPr lang="es-MX" dirty="0"/>
              <a:t> </a:t>
            </a:r>
            <a:r>
              <a:rPr lang="es-MX" dirty="0" err="1"/>
              <a:t>percent</a:t>
            </a:r>
            <a:r>
              <a:rPr lang="es-MX" dirty="0"/>
              <a:t> </a:t>
            </a:r>
            <a:r>
              <a:rPr lang="es-MX" dirty="0" err="1"/>
              <a:t>inflation</a:t>
            </a:r>
            <a:r>
              <a:rPr lang="es-MX" dirty="0"/>
              <a:t> – Laurence Ball – </a:t>
            </a:r>
            <a:r>
              <a:rPr lang="es-MX" dirty="0" err="1"/>
              <a:t>Jhons</a:t>
            </a:r>
            <a:r>
              <a:rPr lang="es-MX" dirty="0"/>
              <a:t> Hopkins </a:t>
            </a:r>
            <a:r>
              <a:rPr lang="es-MX" dirty="0" err="1"/>
              <a:t>University</a:t>
            </a:r>
            <a:r>
              <a:rPr lang="es-MX" dirty="0"/>
              <a:t> propone el vínculo entre la meta de inflación y el problema del límite inferior cero. Además de indicar que estar dentro de este límite podría agravar cualquier crisis, opinión que es compartida por otros economistas como Olivier Blanchard.</a:t>
            </a:r>
          </a:p>
          <a:p>
            <a:endParaRPr lang="es-MX" dirty="0"/>
          </a:p>
          <a:p>
            <a:r>
              <a:rPr lang="es-MX" dirty="0"/>
              <a:t>En el mismo trabajo Laurence Ball propone que la historia de la inflación podría ayudar a explicar porque no se había padecido del problema del límite inferior cero. Pone de ejemplo a japón y la recesión de 2008 indicando que estas sucedieron en periodos en los cuales le meta de inflación era baja para las economías avanzadas.</a:t>
            </a:r>
          </a:p>
          <a:p>
            <a:endParaRPr lang="es-MX" dirty="0"/>
          </a:p>
          <a:p>
            <a:endParaRPr lang="es-MX" dirty="0"/>
          </a:p>
        </p:txBody>
      </p:sp>
      <p:sp>
        <p:nvSpPr>
          <p:cNvPr id="4" name="Marcador de número de diapositiva 3">
            <a:extLst>
              <a:ext uri="{FF2B5EF4-FFF2-40B4-BE49-F238E27FC236}">
                <a16:creationId xmlns:a16="http://schemas.microsoft.com/office/drawing/2014/main" id="{AA7A3409-962C-1CB5-6040-77B96A33F8E5}"/>
              </a:ext>
            </a:extLst>
          </p:cNvPr>
          <p:cNvSpPr>
            <a:spLocks noGrp="1"/>
          </p:cNvSpPr>
          <p:nvPr>
            <p:ph type="sldNum" sz="quarter" idx="5"/>
          </p:nvPr>
        </p:nvSpPr>
        <p:spPr/>
        <p:txBody>
          <a:bodyPr/>
          <a:lstStyle/>
          <a:p>
            <a:fld id="{106B6AF6-8D20-47C3-B043-A4175CDAFA80}" type="slidenum">
              <a:rPr lang="es-MX" smtClean="0"/>
              <a:t>18</a:t>
            </a:fld>
            <a:endParaRPr lang="es-MX"/>
          </a:p>
        </p:txBody>
      </p:sp>
    </p:spTree>
    <p:extLst>
      <p:ext uri="{BB962C8B-B14F-4D97-AF65-F5344CB8AC3E}">
        <p14:creationId xmlns:p14="http://schemas.microsoft.com/office/powerpoint/2010/main" val="2593795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err="1"/>
              <a:t>The</a:t>
            </a:r>
            <a:r>
              <a:rPr lang="es-MX" dirty="0"/>
              <a:t> case </a:t>
            </a:r>
            <a:r>
              <a:rPr lang="es-MX" dirty="0" err="1"/>
              <a:t>for</a:t>
            </a:r>
            <a:r>
              <a:rPr lang="es-MX" dirty="0"/>
              <a:t> </a:t>
            </a:r>
            <a:r>
              <a:rPr lang="es-MX" dirty="0" err="1"/>
              <a:t>four</a:t>
            </a:r>
            <a:r>
              <a:rPr lang="es-MX" dirty="0"/>
              <a:t> </a:t>
            </a:r>
            <a:r>
              <a:rPr lang="es-MX" dirty="0" err="1"/>
              <a:t>percent</a:t>
            </a:r>
            <a:r>
              <a:rPr lang="es-MX" dirty="0"/>
              <a:t> </a:t>
            </a:r>
            <a:r>
              <a:rPr lang="es-MX" dirty="0" err="1"/>
              <a:t>inflation</a:t>
            </a:r>
            <a:r>
              <a:rPr lang="es-MX" dirty="0"/>
              <a:t> – Laurence Ball – </a:t>
            </a:r>
            <a:r>
              <a:rPr lang="es-MX" dirty="0" err="1"/>
              <a:t>Jhons</a:t>
            </a:r>
            <a:r>
              <a:rPr lang="es-MX" dirty="0"/>
              <a:t> Hopkins </a:t>
            </a:r>
            <a:r>
              <a:rPr lang="es-MX" dirty="0" err="1"/>
              <a:t>University</a:t>
            </a:r>
            <a:r>
              <a:rPr lang="es-MX" dirty="0"/>
              <a:t> propone el vínculo entre la meta de inflación y el problema del límite inferior cero. Además de indicar que estar dentro de este límite podría agravar cualquier crisis, opinión que es compartida por otros economistas como Olivier Blanchard.</a:t>
            </a:r>
          </a:p>
          <a:p>
            <a:endParaRPr lang="es-MX" dirty="0"/>
          </a:p>
          <a:p>
            <a:r>
              <a:rPr lang="es-MX" dirty="0"/>
              <a:t>En el mismo trabajo Laurence Ball propone que la historia de la inflación podría ayudar a explicar porque no se había padecido del problema del límite inferior cero. Pone de ejemplo a japón y la recesión de 2008 indicando que estas sucedieron en periodos en los cuales le meta de inflación era baja para las economías avanzadas.</a:t>
            </a:r>
          </a:p>
          <a:p>
            <a:endParaRPr lang="es-MX" dirty="0"/>
          </a:p>
          <a:p>
            <a:endParaRPr lang="es-MX" dirty="0"/>
          </a:p>
        </p:txBody>
      </p:sp>
      <p:sp>
        <p:nvSpPr>
          <p:cNvPr id="4" name="Marcador de número de diapositiva 3"/>
          <p:cNvSpPr>
            <a:spLocks noGrp="1"/>
          </p:cNvSpPr>
          <p:nvPr>
            <p:ph type="sldNum" sz="quarter" idx="5"/>
          </p:nvPr>
        </p:nvSpPr>
        <p:spPr/>
        <p:txBody>
          <a:bodyPr/>
          <a:lstStyle/>
          <a:p>
            <a:fld id="{106B6AF6-8D20-47C3-B043-A4175CDAFA80}" type="slidenum">
              <a:rPr lang="es-MX" smtClean="0"/>
              <a:t>24</a:t>
            </a:fld>
            <a:endParaRPr lang="es-MX"/>
          </a:p>
        </p:txBody>
      </p:sp>
    </p:spTree>
    <p:extLst>
      <p:ext uri="{BB962C8B-B14F-4D97-AF65-F5344CB8AC3E}">
        <p14:creationId xmlns:p14="http://schemas.microsoft.com/office/powerpoint/2010/main" val="1630839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3E1BE-7E56-C2C8-3FAB-5B316853D4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20D4482-9719-9775-987C-20194D08A3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382C909-EDBE-935C-0DEB-3C91FCB3B791}"/>
              </a:ext>
            </a:extLst>
          </p:cNvPr>
          <p:cNvSpPr>
            <a:spLocks noGrp="1"/>
          </p:cNvSpPr>
          <p:nvPr>
            <p:ph type="body" idx="1"/>
          </p:nvPr>
        </p:nvSpPr>
        <p:spPr/>
        <p:txBody>
          <a:bodyPr/>
          <a:lstStyle/>
          <a:p>
            <a:r>
              <a:rPr lang="es-MX" dirty="0"/>
              <a:t>Blanchard por ejemplo propone una meta en torno al 3 o 4%</a:t>
            </a:r>
          </a:p>
        </p:txBody>
      </p:sp>
      <p:sp>
        <p:nvSpPr>
          <p:cNvPr id="4" name="Marcador de número de diapositiva 3">
            <a:extLst>
              <a:ext uri="{FF2B5EF4-FFF2-40B4-BE49-F238E27FC236}">
                <a16:creationId xmlns:a16="http://schemas.microsoft.com/office/drawing/2014/main" id="{3C814985-C659-237A-C8CD-5F1B4F3F509C}"/>
              </a:ext>
            </a:extLst>
          </p:cNvPr>
          <p:cNvSpPr>
            <a:spLocks noGrp="1"/>
          </p:cNvSpPr>
          <p:nvPr>
            <p:ph type="sldNum" sz="quarter" idx="5"/>
          </p:nvPr>
        </p:nvSpPr>
        <p:spPr/>
        <p:txBody>
          <a:bodyPr/>
          <a:lstStyle/>
          <a:p>
            <a:fld id="{106B6AF6-8D20-47C3-B043-A4175CDAFA80}" type="slidenum">
              <a:rPr lang="es-MX" smtClean="0"/>
              <a:t>26</a:t>
            </a:fld>
            <a:endParaRPr lang="es-MX"/>
          </a:p>
        </p:txBody>
      </p:sp>
    </p:spTree>
    <p:extLst>
      <p:ext uri="{BB962C8B-B14F-4D97-AF65-F5344CB8AC3E}">
        <p14:creationId xmlns:p14="http://schemas.microsoft.com/office/powerpoint/2010/main" val="658633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3D1A0-6DD0-541C-C839-C9E61CA78F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AA3547-9576-FD88-1E58-298A2FC6304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450B40C-EBD4-9169-5E12-22BDA1880CFA}"/>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6369A039-42A7-309E-1818-72A35D065174}"/>
              </a:ext>
            </a:extLst>
          </p:cNvPr>
          <p:cNvSpPr>
            <a:spLocks noGrp="1"/>
          </p:cNvSpPr>
          <p:nvPr>
            <p:ph type="sldNum" sz="quarter" idx="5"/>
          </p:nvPr>
        </p:nvSpPr>
        <p:spPr/>
        <p:txBody>
          <a:bodyPr/>
          <a:lstStyle/>
          <a:p>
            <a:fld id="{106B6AF6-8D20-47C3-B043-A4175CDAFA80}" type="slidenum">
              <a:rPr lang="es-MX" smtClean="0"/>
              <a:t>27</a:t>
            </a:fld>
            <a:endParaRPr lang="es-MX"/>
          </a:p>
        </p:txBody>
      </p:sp>
    </p:spTree>
    <p:extLst>
      <p:ext uri="{BB962C8B-B14F-4D97-AF65-F5344CB8AC3E}">
        <p14:creationId xmlns:p14="http://schemas.microsoft.com/office/powerpoint/2010/main" val="3354731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8608F-F5B2-7D1E-F3B4-E5C047660C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4771F8-A5AF-2668-D01E-804B99FFF0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18F0D6-F8B1-A069-D451-CE200BBED4A1}"/>
              </a:ext>
            </a:extLst>
          </p:cNvPr>
          <p:cNvSpPr>
            <a:spLocks noGrp="1"/>
          </p:cNvSpPr>
          <p:nvPr>
            <p:ph type="body" idx="1"/>
          </p:nvPr>
        </p:nvSpPr>
        <p:spPr/>
        <p:txBody>
          <a:bodyPr/>
          <a:lstStyle/>
          <a:p>
            <a:r>
              <a:rPr lang="es-MX" dirty="0"/>
              <a:t>Blanchard por ejemplo propone una meta en torno al 3 o 4%</a:t>
            </a:r>
          </a:p>
        </p:txBody>
      </p:sp>
      <p:sp>
        <p:nvSpPr>
          <p:cNvPr id="4" name="Marcador de número de diapositiva 3">
            <a:extLst>
              <a:ext uri="{FF2B5EF4-FFF2-40B4-BE49-F238E27FC236}">
                <a16:creationId xmlns:a16="http://schemas.microsoft.com/office/drawing/2014/main" id="{6473DF02-F3C2-8E9A-2DB2-06A62FEA354E}"/>
              </a:ext>
            </a:extLst>
          </p:cNvPr>
          <p:cNvSpPr>
            <a:spLocks noGrp="1"/>
          </p:cNvSpPr>
          <p:nvPr>
            <p:ph type="sldNum" sz="quarter" idx="5"/>
          </p:nvPr>
        </p:nvSpPr>
        <p:spPr/>
        <p:txBody>
          <a:bodyPr/>
          <a:lstStyle/>
          <a:p>
            <a:fld id="{106B6AF6-8D20-47C3-B043-A4175CDAFA80}" type="slidenum">
              <a:rPr lang="es-MX" smtClean="0"/>
              <a:t>29</a:t>
            </a:fld>
            <a:endParaRPr lang="es-MX"/>
          </a:p>
        </p:txBody>
      </p:sp>
    </p:spTree>
    <p:extLst>
      <p:ext uri="{BB962C8B-B14F-4D97-AF65-F5344CB8AC3E}">
        <p14:creationId xmlns:p14="http://schemas.microsoft.com/office/powerpoint/2010/main" val="245479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2C489B-6F11-43C2-B59C-A16E77CEDE8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GT"/>
          </a:p>
        </p:txBody>
      </p:sp>
      <p:sp>
        <p:nvSpPr>
          <p:cNvPr id="3" name="Subtítulo 2">
            <a:extLst>
              <a:ext uri="{FF2B5EF4-FFF2-40B4-BE49-F238E27FC236}">
                <a16:creationId xmlns:a16="http://schemas.microsoft.com/office/drawing/2014/main" id="{E581BB51-EF15-41A3-8405-A7B4E2EB95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GT"/>
          </a:p>
        </p:txBody>
      </p:sp>
      <p:sp>
        <p:nvSpPr>
          <p:cNvPr id="4" name="Marcador de fecha 3">
            <a:extLst>
              <a:ext uri="{FF2B5EF4-FFF2-40B4-BE49-F238E27FC236}">
                <a16:creationId xmlns:a16="http://schemas.microsoft.com/office/drawing/2014/main" id="{58C28AEB-2F07-4D8C-A2E2-580F85A3863B}"/>
              </a:ext>
            </a:extLst>
          </p:cNvPr>
          <p:cNvSpPr>
            <a:spLocks noGrp="1"/>
          </p:cNvSpPr>
          <p:nvPr>
            <p:ph type="dt" sz="half" idx="10"/>
          </p:nvPr>
        </p:nvSpPr>
        <p:spPr/>
        <p:txBody>
          <a:bodyPr/>
          <a:lstStyle/>
          <a:p>
            <a:fld id="{D207358E-6E89-42EC-A39F-28F52F3BB1DC}" type="datetimeFigureOut">
              <a:rPr lang="es-GT" smtClean="0"/>
              <a:t>07/11/2025</a:t>
            </a:fld>
            <a:endParaRPr lang="es-GT"/>
          </a:p>
        </p:txBody>
      </p:sp>
      <p:sp>
        <p:nvSpPr>
          <p:cNvPr id="5" name="Marcador de pie de página 4">
            <a:extLst>
              <a:ext uri="{FF2B5EF4-FFF2-40B4-BE49-F238E27FC236}">
                <a16:creationId xmlns:a16="http://schemas.microsoft.com/office/drawing/2014/main" id="{3B1A2453-F67D-4765-8AE1-4E2325754BCE}"/>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021ED1F2-212F-41BC-98E9-3FC585E0569D}"/>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1401935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D9B028-6B31-4ACB-821F-FDFC21CE9606}"/>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contenido 2">
            <a:extLst>
              <a:ext uri="{FF2B5EF4-FFF2-40B4-BE49-F238E27FC236}">
                <a16:creationId xmlns:a16="http://schemas.microsoft.com/office/drawing/2014/main" id="{138570EF-72DA-42EF-9113-108FB679455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B9F2D7CE-59E3-438B-BD73-216AB641331B}"/>
              </a:ext>
            </a:extLst>
          </p:cNvPr>
          <p:cNvSpPr>
            <a:spLocks noGrp="1"/>
          </p:cNvSpPr>
          <p:nvPr>
            <p:ph type="dt" sz="half" idx="10"/>
          </p:nvPr>
        </p:nvSpPr>
        <p:spPr/>
        <p:txBody>
          <a:bodyPr/>
          <a:lstStyle/>
          <a:p>
            <a:fld id="{D207358E-6E89-42EC-A39F-28F52F3BB1DC}" type="datetimeFigureOut">
              <a:rPr lang="es-GT" smtClean="0"/>
              <a:t>07/11/2025</a:t>
            </a:fld>
            <a:endParaRPr lang="es-GT"/>
          </a:p>
        </p:txBody>
      </p:sp>
      <p:sp>
        <p:nvSpPr>
          <p:cNvPr id="5" name="Marcador de pie de página 4">
            <a:extLst>
              <a:ext uri="{FF2B5EF4-FFF2-40B4-BE49-F238E27FC236}">
                <a16:creationId xmlns:a16="http://schemas.microsoft.com/office/drawing/2014/main" id="{14F42CEB-251F-4479-9936-AF05CC0DF4A0}"/>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0EAEA5EA-BBE6-41EE-9386-CB36549179DF}"/>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2370539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175F74-0973-47AE-AAB5-7D83B898667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GT"/>
          </a:p>
        </p:txBody>
      </p:sp>
      <p:sp>
        <p:nvSpPr>
          <p:cNvPr id="3" name="Marcador de texto 2">
            <a:extLst>
              <a:ext uri="{FF2B5EF4-FFF2-40B4-BE49-F238E27FC236}">
                <a16:creationId xmlns:a16="http://schemas.microsoft.com/office/drawing/2014/main" id="{BDB2E791-C4E3-4F05-8182-73CA89428B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996EAAC-920B-4E9E-9718-8C2F46E9A779}"/>
              </a:ext>
            </a:extLst>
          </p:cNvPr>
          <p:cNvSpPr>
            <a:spLocks noGrp="1"/>
          </p:cNvSpPr>
          <p:nvPr>
            <p:ph type="dt" sz="half" idx="10"/>
          </p:nvPr>
        </p:nvSpPr>
        <p:spPr/>
        <p:txBody>
          <a:bodyPr/>
          <a:lstStyle/>
          <a:p>
            <a:fld id="{D207358E-6E89-42EC-A39F-28F52F3BB1DC}" type="datetimeFigureOut">
              <a:rPr lang="es-GT" smtClean="0"/>
              <a:t>07/11/2025</a:t>
            </a:fld>
            <a:endParaRPr lang="es-GT"/>
          </a:p>
        </p:txBody>
      </p:sp>
      <p:sp>
        <p:nvSpPr>
          <p:cNvPr id="5" name="Marcador de pie de página 4">
            <a:extLst>
              <a:ext uri="{FF2B5EF4-FFF2-40B4-BE49-F238E27FC236}">
                <a16:creationId xmlns:a16="http://schemas.microsoft.com/office/drawing/2014/main" id="{B6E9745B-570D-4250-9790-29DC52000B54}"/>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1E447EFE-48A2-4B32-8C1F-D52919EE2D6D}"/>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358524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76AECE-9F02-4A10-B180-4249ABE8DCA2}"/>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contenido 2">
            <a:extLst>
              <a:ext uri="{FF2B5EF4-FFF2-40B4-BE49-F238E27FC236}">
                <a16:creationId xmlns:a16="http://schemas.microsoft.com/office/drawing/2014/main" id="{AB8982AE-D1DE-437D-B06A-905F2915F87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contenido 3">
            <a:extLst>
              <a:ext uri="{FF2B5EF4-FFF2-40B4-BE49-F238E27FC236}">
                <a16:creationId xmlns:a16="http://schemas.microsoft.com/office/drawing/2014/main" id="{602E218D-884D-4937-ADB3-1DC067B64A8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5" name="Marcador de fecha 4">
            <a:extLst>
              <a:ext uri="{FF2B5EF4-FFF2-40B4-BE49-F238E27FC236}">
                <a16:creationId xmlns:a16="http://schemas.microsoft.com/office/drawing/2014/main" id="{DF35BF05-7B9C-45D3-8D94-DCC0C55C22B4}"/>
              </a:ext>
            </a:extLst>
          </p:cNvPr>
          <p:cNvSpPr>
            <a:spLocks noGrp="1"/>
          </p:cNvSpPr>
          <p:nvPr>
            <p:ph type="dt" sz="half" idx="10"/>
          </p:nvPr>
        </p:nvSpPr>
        <p:spPr/>
        <p:txBody>
          <a:bodyPr/>
          <a:lstStyle/>
          <a:p>
            <a:fld id="{D207358E-6E89-42EC-A39F-28F52F3BB1DC}" type="datetimeFigureOut">
              <a:rPr lang="es-GT" smtClean="0"/>
              <a:t>07/11/2025</a:t>
            </a:fld>
            <a:endParaRPr lang="es-GT"/>
          </a:p>
        </p:txBody>
      </p:sp>
      <p:sp>
        <p:nvSpPr>
          <p:cNvPr id="6" name="Marcador de pie de página 5">
            <a:extLst>
              <a:ext uri="{FF2B5EF4-FFF2-40B4-BE49-F238E27FC236}">
                <a16:creationId xmlns:a16="http://schemas.microsoft.com/office/drawing/2014/main" id="{71D9D067-7482-405C-9725-D7BD831EC637}"/>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DCB20F0D-E4E8-4037-A509-FE0334007F18}"/>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2089948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D4CEE4-751C-41CA-8A85-DA7E63DE8BB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GT"/>
          </a:p>
        </p:txBody>
      </p:sp>
      <p:sp>
        <p:nvSpPr>
          <p:cNvPr id="3" name="Marcador de texto 2">
            <a:extLst>
              <a:ext uri="{FF2B5EF4-FFF2-40B4-BE49-F238E27FC236}">
                <a16:creationId xmlns:a16="http://schemas.microsoft.com/office/drawing/2014/main" id="{5EF0BEEC-1A9F-48AE-9342-26E5751D60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CACB47E-12E2-45BA-9DAC-6DFBB8C26E0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5" name="Marcador de texto 4">
            <a:extLst>
              <a:ext uri="{FF2B5EF4-FFF2-40B4-BE49-F238E27FC236}">
                <a16:creationId xmlns:a16="http://schemas.microsoft.com/office/drawing/2014/main" id="{7C3D8530-D6BC-4552-B46A-ACFFF28458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9D761F-E67A-48CE-8D8E-6BFAD2DA8DB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7" name="Marcador de fecha 6">
            <a:extLst>
              <a:ext uri="{FF2B5EF4-FFF2-40B4-BE49-F238E27FC236}">
                <a16:creationId xmlns:a16="http://schemas.microsoft.com/office/drawing/2014/main" id="{3DF86A71-29F9-4042-A7CC-B10D6E119158}"/>
              </a:ext>
            </a:extLst>
          </p:cNvPr>
          <p:cNvSpPr>
            <a:spLocks noGrp="1"/>
          </p:cNvSpPr>
          <p:nvPr>
            <p:ph type="dt" sz="half" idx="10"/>
          </p:nvPr>
        </p:nvSpPr>
        <p:spPr/>
        <p:txBody>
          <a:bodyPr/>
          <a:lstStyle/>
          <a:p>
            <a:fld id="{D207358E-6E89-42EC-A39F-28F52F3BB1DC}" type="datetimeFigureOut">
              <a:rPr lang="es-GT" smtClean="0"/>
              <a:t>07/11/2025</a:t>
            </a:fld>
            <a:endParaRPr lang="es-GT"/>
          </a:p>
        </p:txBody>
      </p:sp>
      <p:sp>
        <p:nvSpPr>
          <p:cNvPr id="8" name="Marcador de pie de página 7">
            <a:extLst>
              <a:ext uri="{FF2B5EF4-FFF2-40B4-BE49-F238E27FC236}">
                <a16:creationId xmlns:a16="http://schemas.microsoft.com/office/drawing/2014/main" id="{407A42DB-40AE-48EA-AEA0-004B9FC53FF9}"/>
              </a:ext>
            </a:extLst>
          </p:cNvPr>
          <p:cNvSpPr>
            <a:spLocks noGrp="1"/>
          </p:cNvSpPr>
          <p:nvPr>
            <p:ph type="ftr" sz="quarter" idx="11"/>
          </p:nvPr>
        </p:nvSpPr>
        <p:spPr/>
        <p:txBody>
          <a:bodyPr/>
          <a:lstStyle/>
          <a:p>
            <a:endParaRPr lang="es-GT"/>
          </a:p>
        </p:txBody>
      </p:sp>
      <p:sp>
        <p:nvSpPr>
          <p:cNvPr id="9" name="Marcador de número de diapositiva 8">
            <a:extLst>
              <a:ext uri="{FF2B5EF4-FFF2-40B4-BE49-F238E27FC236}">
                <a16:creationId xmlns:a16="http://schemas.microsoft.com/office/drawing/2014/main" id="{6200B0AA-C1CA-489A-B955-71FC57A8646B}"/>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3671652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381559-553F-4156-BE5A-DDA2BDB85DED}"/>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fecha 2">
            <a:extLst>
              <a:ext uri="{FF2B5EF4-FFF2-40B4-BE49-F238E27FC236}">
                <a16:creationId xmlns:a16="http://schemas.microsoft.com/office/drawing/2014/main" id="{E2831B6F-FC91-46E9-AF0E-14687FC65D37}"/>
              </a:ext>
            </a:extLst>
          </p:cNvPr>
          <p:cNvSpPr>
            <a:spLocks noGrp="1"/>
          </p:cNvSpPr>
          <p:nvPr>
            <p:ph type="dt" sz="half" idx="10"/>
          </p:nvPr>
        </p:nvSpPr>
        <p:spPr/>
        <p:txBody>
          <a:bodyPr/>
          <a:lstStyle/>
          <a:p>
            <a:fld id="{D207358E-6E89-42EC-A39F-28F52F3BB1DC}" type="datetimeFigureOut">
              <a:rPr lang="es-GT" smtClean="0"/>
              <a:t>07/11/2025</a:t>
            </a:fld>
            <a:endParaRPr lang="es-GT"/>
          </a:p>
        </p:txBody>
      </p:sp>
      <p:sp>
        <p:nvSpPr>
          <p:cNvPr id="4" name="Marcador de pie de página 3">
            <a:extLst>
              <a:ext uri="{FF2B5EF4-FFF2-40B4-BE49-F238E27FC236}">
                <a16:creationId xmlns:a16="http://schemas.microsoft.com/office/drawing/2014/main" id="{F1D4840B-3510-4D46-95F9-4BAB216072CD}"/>
              </a:ext>
            </a:extLst>
          </p:cNvPr>
          <p:cNvSpPr>
            <a:spLocks noGrp="1"/>
          </p:cNvSpPr>
          <p:nvPr>
            <p:ph type="ftr" sz="quarter" idx="11"/>
          </p:nvPr>
        </p:nvSpPr>
        <p:spPr/>
        <p:txBody>
          <a:bodyPr/>
          <a:lstStyle/>
          <a:p>
            <a:endParaRPr lang="es-GT"/>
          </a:p>
        </p:txBody>
      </p:sp>
      <p:sp>
        <p:nvSpPr>
          <p:cNvPr id="5" name="Marcador de número de diapositiva 4">
            <a:extLst>
              <a:ext uri="{FF2B5EF4-FFF2-40B4-BE49-F238E27FC236}">
                <a16:creationId xmlns:a16="http://schemas.microsoft.com/office/drawing/2014/main" id="{286301C2-B966-484F-A207-3D13EE1B4440}"/>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293716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CF6A49D-19AF-4B3E-BF96-D18F89C6FEF8}"/>
              </a:ext>
            </a:extLst>
          </p:cNvPr>
          <p:cNvSpPr>
            <a:spLocks noGrp="1"/>
          </p:cNvSpPr>
          <p:nvPr>
            <p:ph type="dt" sz="half" idx="10"/>
          </p:nvPr>
        </p:nvSpPr>
        <p:spPr/>
        <p:txBody>
          <a:bodyPr/>
          <a:lstStyle/>
          <a:p>
            <a:fld id="{D207358E-6E89-42EC-A39F-28F52F3BB1DC}" type="datetimeFigureOut">
              <a:rPr lang="es-GT" smtClean="0"/>
              <a:t>07/11/2025</a:t>
            </a:fld>
            <a:endParaRPr lang="es-GT"/>
          </a:p>
        </p:txBody>
      </p:sp>
      <p:sp>
        <p:nvSpPr>
          <p:cNvPr id="3" name="Marcador de pie de página 2">
            <a:extLst>
              <a:ext uri="{FF2B5EF4-FFF2-40B4-BE49-F238E27FC236}">
                <a16:creationId xmlns:a16="http://schemas.microsoft.com/office/drawing/2014/main" id="{832C2EB8-0DF8-4E66-8886-F930E51345FB}"/>
              </a:ext>
            </a:extLst>
          </p:cNvPr>
          <p:cNvSpPr>
            <a:spLocks noGrp="1"/>
          </p:cNvSpPr>
          <p:nvPr>
            <p:ph type="ftr" sz="quarter" idx="11"/>
          </p:nvPr>
        </p:nvSpPr>
        <p:spPr/>
        <p:txBody>
          <a:bodyPr/>
          <a:lstStyle/>
          <a:p>
            <a:endParaRPr lang="es-GT"/>
          </a:p>
        </p:txBody>
      </p:sp>
      <p:sp>
        <p:nvSpPr>
          <p:cNvPr id="4" name="Marcador de número de diapositiva 3">
            <a:extLst>
              <a:ext uri="{FF2B5EF4-FFF2-40B4-BE49-F238E27FC236}">
                <a16:creationId xmlns:a16="http://schemas.microsoft.com/office/drawing/2014/main" id="{BB6F46F0-035A-4AE9-8B34-D3163A4A8AE6}"/>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2704777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375D32-E2CF-48A7-9AE6-E542A183C09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GT"/>
          </a:p>
        </p:txBody>
      </p:sp>
      <p:sp>
        <p:nvSpPr>
          <p:cNvPr id="3" name="Marcador de contenido 2">
            <a:extLst>
              <a:ext uri="{FF2B5EF4-FFF2-40B4-BE49-F238E27FC236}">
                <a16:creationId xmlns:a16="http://schemas.microsoft.com/office/drawing/2014/main" id="{D4D4BDAE-C21B-490F-9E6D-C23DAA5D17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texto 3">
            <a:extLst>
              <a:ext uri="{FF2B5EF4-FFF2-40B4-BE49-F238E27FC236}">
                <a16:creationId xmlns:a16="http://schemas.microsoft.com/office/drawing/2014/main" id="{FCD4F73E-49BD-48F4-B6FC-8FBAE596C1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756D542-DC57-4EC6-B039-E65C3DC538C9}"/>
              </a:ext>
            </a:extLst>
          </p:cNvPr>
          <p:cNvSpPr>
            <a:spLocks noGrp="1"/>
          </p:cNvSpPr>
          <p:nvPr>
            <p:ph type="dt" sz="half" idx="10"/>
          </p:nvPr>
        </p:nvSpPr>
        <p:spPr/>
        <p:txBody>
          <a:bodyPr/>
          <a:lstStyle/>
          <a:p>
            <a:fld id="{D207358E-6E89-42EC-A39F-28F52F3BB1DC}" type="datetimeFigureOut">
              <a:rPr lang="es-GT" smtClean="0"/>
              <a:t>07/11/2025</a:t>
            </a:fld>
            <a:endParaRPr lang="es-GT"/>
          </a:p>
        </p:txBody>
      </p:sp>
      <p:sp>
        <p:nvSpPr>
          <p:cNvPr id="6" name="Marcador de pie de página 5">
            <a:extLst>
              <a:ext uri="{FF2B5EF4-FFF2-40B4-BE49-F238E27FC236}">
                <a16:creationId xmlns:a16="http://schemas.microsoft.com/office/drawing/2014/main" id="{700B3145-F035-4526-BC8F-1F485C3E6AAE}"/>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00C8CF14-0901-4F08-90F4-C36C1F3AE6EA}"/>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2738577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7B2C8C-0DEB-4CAB-B0D0-05303338856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GT"/>
          </a:p>
        </p:txBody>
      </p:sp>
      <p:sp>
        <p:nvSpPr>
          <p:cNvPr id="3" name="Marcador de posición de imagen 2">
            <a:extLst>
              <a:ext uri="{FF2B5EF4-FFF2-40B4-BE49-F238E27FC236}">
                <a16:creationId xmlns:a16="http://schemas.microsoft.com/office/drawing/2014/main" id="{0F5C2178-5B2A-4742-BD2D-6AF3822DDF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GT"/>
          </a:p>
        </p:txBody>
      </p:sp>
      <p:sp>
        <p:nvSpPr>
          <p:cNvPr id="4" name="Marcador de texto 3">
            <a:extLst>
              <a:ext uri="{FF2B5EF4-FFF2-40B4-BE49-F238E27FC236}">
                <a16:creationId xmlns:a16="http://schemas.microsoft.com/office/drawing/2014/main" id="{9B1D62EE-93C6-4F39-96CE-B9A0F310F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7F37D26-9A3F-405B-B4BA-7C407BCA940A}"/>
              </a:ext>
            </a:extLst>
          </p:cNvPr>
          <p:cNvSpPr>
            <a:spLocks noGrp="1"/>
          </p:cNvSpPr>
          <p:nvPr>
            <p:ph type="dt" sz="half" idx="10"/>
          </p:nvPr>
        </p:nvSpPr>
        <p:spPr/>
        <p:txBody>
          <a:bodyPr/>
          <a:lstStyle/>
          <a:p>
            <a:fld id="{D207358E-6E89-42EC-A39F-28F52F3BB1DC}" type="datetimeFigureOut">
              <a:rPr lang="es-GT" smtClean="0"/>
              <a:t>07/11/2025</a:t>
            </a:fld>
            <a:endParaRPr lang="es-GT"/>
          </a:p>
        </p:txBody>
      </p:sp>
      <p:sp>
        <p:nvSpPr>
          <p:cNvPr id="6" name="Marcador de pie de página 5">
            <a:extLst>
              <a:ext uri="{FF2B5EF4-FFF2-40B4-BE49-F238E27FC236}">
                <a16:creationId xmlns:a16="http://schemas.microsoft.com/office/drawing/2014/main" id="{8E28E0CB-8BFD-42EE-BE5B-79C238410AED}"/>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006A02E3-FE4E-4175-AFE0-A4A3379CE7C4}"/>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136400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DF781A-342F-4707-BA3B-4441EFCB48C7}"/>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texto vertical 2">
            <a:extLst>
              <a:ext uri="{FF2B5EF4-FFF2-40B4-BE49-F238E27FC236}">
                <a16:creationId xmlns:a16="http://schemas.microsoft.com/office/drawing/2014/main" id="{4A764C5A-1724-431B-8632-CAEA8DB47AC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7AAB1DEA-1869-4E53-8BB8-064162A3EAEA}"/>
              </a:ext>
            </a:extLst>
          </p:cNvPr>
          <p:cNvSpPr>
            <a:spLocks noGrp="1"/>
          </p:cNvSpPr>
          <p:nvPr>
            <p:ph type="dt" sz="half" idx="10"/>
          </p:nvPr>
        </p:nvSpPr>
        <p:spPr/>
        <p:txBody>
          <a:bodyPr/>
          <a:lstStyle/>
          <a:p>
            <a:fld id="{D207358E-6E89-42EC-A39F-28F52F3BB1DC}" type="datetimeFigureOut">
              <a:rPr lang="es-GT" smtClean="0"/>
              <a:t>07/11/2025</a:t>
            </a:fld>
            <a:endParaRPr lang="es-GT"/>
          </a:p>
        </p:txBody>
      </p:sp>
      <p:sp>
        <p:nvSpPr>
          <p:cNvPr id="5" name="Marcador de pie de página 4">
            <a:extLst>
              <a:ext uri="{FF2B5EF4-FFF2-40B4-BE49-F238E27FC236}">
                <a16:creationId xmlns:a16="http://schemas.microsoft.com/office/drawing/2014/main" id="{2CAAC54A-1BD3-4F45-971D-4AC95E1B6A10}"/>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BDE40B26-F095-454A-BD41-2109BB8B9F68}"/>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70330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BED5CAC-C9E0-40C9-85B8-B768CA32E9B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GT"/>
          </a:p>
        </p:txBody>
      </p:sp>
      <p:sp>
        <p:nvSpPr>
          <p:cNvPr id="3" name="Marcador de texto vertical 2">
            <a:extLst>
              <a:ext uri="{FF2B5EF4-FFF2-40B4-BE49-F238E27FC236}">
                <a16:creationId xmlns:a16="http://schemas.microsoft.com/office/drawing/2014/main" id="{7467D9E6-123F-41B7-A04F-DCA753C81F8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31FB598A-56BC-46F3-B83E-1253BF71F5A1}"/>
              </a:ext>
            </a:extLst>
          </p:cNvPr>
          <p:cNvSpPr>
            <a:spLocks noGrp="1"/>
          </p:cNvSpPr>
          <p:nvPr>
            <p:ph type="dt" sz="half" idx="10"/>
          </p:nvPr>
        </p:nvSpPr>
        <p:spPr/>
        <p:txBody>
          <a:bodyPr/>
          <a:lstStyle/>
          <a:p>
            <a:fld id="{D207358E-6E89-42EC-A39F-28F52F3BB1DC}" type="datetimeFigureOut">
              <a:rPr lang="es-GT" smtClean="0"/>
              <a:t>07/11/2025</a:t>
            </a:fld>
            <a:endParaRPr lang="es-GT"/>
          </a:p>
        </p:txBody>
      </p:sp>
      <p:sp>
        <p:nvSpPr>
          <p:cNvPr id="5" name="Marcador de pie de página 4">
            <a:extLst>
              <a:ext uri="{FF2B5EF4-FFF2-40B4-BE49-F238E27FC236}">
                <a16:creationId xmlns:a16="http://schemas.microsoft.com/office/drawing/2014/main" id="{EC925A9B-E620-4C4A-88E6-383AF9626E40}"/>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9FDF1B5D-1F1E-417A-985A-E6FAB540C6D5}"/>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4245689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99E81DA-632F-4299-86AA-DCE8552E6B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GT"/>
          </a:p>
        </p:txBody>
      </p:sp>
      <p:sp>
        <p:nvSpPr>
          <p:cNvPr id="3" name="Marcador de texto 2">
            <a:extLst>
              <a:ext uri="{FF2B5EF4-FFF2-40B4-BE49-F238E27FC236}">
                <a16:creationId xmlns:a16="http://schemas.microsoft.com/office/drawing/2014/main" id="{50A8CBD5-EAA2-42A8-98B4-EBD1B60363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210C411A-98C9-437D-B36B-A34C603187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07358E-6E89-42EC-A39F-28F52F3BB1DC}" type="datetimeFigureOut">
              <a:rPr lang="es-GT" smtClean="0"/>
              <a:t>07/11/2025</a:t>
            </a:fld>
            <a:endParaRPr lang="es-GT"/>
          </a:p>
        </p:txBody>
      </p:sp>
      <p:sp>
        <p:nvSpPr>
          <p:cNvPr id="5" name="Marcador de pie de página 4">
            <a:extLst>
              <a:ext uri="{FF2B5EF4-FFF2-40B4-BE49-F238E27FC236}">
                <a16:creationId xmlns:a16="http://schemas.microsoft.com/office/drawing/2014/main" id="{33B54C67-9F37-478C-AD62-79A0A9FA12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GT"/>
          </a:p>
        </p:txBody>
      </p:sp>
      <p:sp>
        <p:nvSpPr>
          <p:cNvPr id="6" name="Marcador de número de diapositiva 5">
            <a:extLst>
              <a:ext uri="{FF2B5EF4-FFF2-40B4-BE49-F238E27FC236}">
                <a16:creationId xmlns:a16="http://schemas.microsoft.com/office/drawing/2014/main" id="{6BB1516F-ADAF-48DB-8451-CEA724D936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8E36B0-AB87-4E02-9E91-54D4050C1E9E}" type="slidenum">
              <a:rPr lang="es-GT" smtClean="0"/>
              <a:t>‹Nº›</a:t>
            </a:fld>
            <a:endParaRPr lang="es-GT"/>
          </a:p>
        </p:txBody>
      </p:sp>
    </p:spTree>
    <p:extLst>
      <p:ext uri="{BB962C8B-B14F-4D97-AF65-F5344CB8AC3E}">
        <p14:creationId xmlns:p14="http://schemas.microsoft.com/office/powerpoint/2010/main" val="3238733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E0456-9D0A-458C-8A2E-EC9E7705C955}"/>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0D8893AB-0534-4B88-9B3D-6ABA4EB9FE3F}"/>
              </a:ext>
            </a:extLst>
          </p:cNvPr>
          <p:cNvSpPr>
            <a:spLocks noGrp="1"/>
          </p:cNvSpPr>
          <p:nvPr>
            <p:ph type="subTitle" idx="1"/>
          </p:nvPr>
        </p:nvSpPr>
        <p:spPr/>
        <p:txBody>
          <a:bodyPr/>
          <a:lstStyle/>
          <a:p>
            <a:endParaRPr lang="es-GT"/>
          </a:p>
        </p:txBody>
      </p:sp>
      <p:pic>
        <p:nvPicPr>
          <p:cNvPr id="5" name="Imagen 4">
            <a:extLst>
              <a:ext uri="{FF2B5EF4-FFF2-40B4-BE49-F238E27FC236}">
                <a16:creationId xmlns:a16="http://schemas.microsoft.com/office/drawing/2014/main" id="{A0A1BD8A-D1C9-4547-BAB9-AFF89C45AF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40769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AA1A9-8DB9-8217-6799-61188BA14BE4}"/>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AB09F7BA-0A85-1EAF-B696-43D631D42693}"/>
              </a:ext>
            </a:extLst>
          </p:cNvPr>
          <p:cNvPicPr>
            <a:picLocks noChangeAspect="1"/>
          </p:cNvPicPr>
          <p:nvPr/>
        </p:nvPicPr>
        <p:blipFill>
          <a:blip r:embed="rId3"/>
          <a:stretch>
            <a:fillRect/>
          </a:stretch>
        </p:blipFill>
        <p:spPr>
          <a:xfrm>
            <a:off x="-1" y="0"/>
            <a:ext cx="12208956" cy="6858000"/>
          </a:xfrm>
          <a:prstGeom prst="rect">
            <a:avLst/>
          </a:prstGeom>
        </p:spPr>
      </p:pic>
      <p:sp>
        <p:nvSpPr>
          <p:cNvPr id="4" name="CuadroTexto 3">
            <a:extLst>
              <a:ext uri="{FF2B5EF4-FFF2-40B4-BE49-F238E27FC236}">
                <a16:creationId xmlns:a16="http://schemas.microsoft.com/office/drawing/2014/main" id="{A6C8FC43-76E7-592A-8555-D7EDEA428B80}"/>
              </a:ext>
            </a:extLst>
          </p:cNvPr>
          <p:cNvSpPr txBox="1"/>
          <p:nvPr/>
        </p:nvSpPr>
        <p:spPr>
          <a:xfrm>
            <a:off x="3575381" y="2357717"/>
            <a:ext cx="4671072" cy="1569660"/>
          </a:xfrm>
          <a:prstGeom prst="rect">
            <a:avLst/>
          </a:prstGeom>
          <a:noFill/>
        </p:spPr>
        <p:txBody>
          <a:bodyPr wrap="square" rtlCol="0">
            <a:spAutoFit/>
          </a:bodyPr>
          <a:lstStyle/>
          <a:p>
            <a:pPr algn="ctr"/>
            <a:r>
              <a:rPr lang="es-MX" sz="4800" b="1" dirty="0">
                <a:solidFill>
                  <a:schemeClr val="bg1"/>
                </a:solidFill>
                <a:latin typeface="Libre Franklin" pitchFamily="2" charset="0"/>
              </a:rPr>
              <a:t>Revisión literaria</a:t>
            </a:r>
          </a:p>
        </p:txBody>
      </p:sp>
    </p:spTree>
    <p:extLst>
      <p:ext uri="{BB962C8B-B14F-4D97-AF65-F5344CB8AC3E}">
        <p14:creationId xmlns:p14="http://schemas.microsoft.com/office/powerpoint/2010/main" val="1866258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E0456-9D0A-458C-8A2E-EC9E7705C955}"/>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0D8893AB-0534-4B88-9B3D-6ABA4EB9FE3F}"/>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0C209CE5-AFD2-4CA7-8D90-C1E60E9465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0BBF9201-58C7-4E4D-ABE8-980848FA6D5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Bibliografía consultada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41A554FA-D2F8-4E55-B343-5244ABC3AFF3}"/>
              </a:ext>
            </a:extLst>
          </p:cNvPr>
          <p:cNvCxnSpPr>
            <a:cxnSpLocks/>
          </p:cNvCxnSpPr>
          <p:nvPr/>
        </p:nvCxnSpPr>
        <p:spPr>
          <a:xfrm>
            <a:off x="265471" y="730459"/>
            <a:ext cx="6430297"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87D7D931-49AF-4697-AA0B-140B7ADA1D91}"/>
              </a:ext>
            </a:extLst>
          </p:cNvPr>
          <p:cNvSpPr txBox="1"/>
          <p:nvPr/>
        </p:nvSpPr>
        <p:spPr>
          <a:xfrm>
            <a:off x="165181" y="730459"/>
            <a:ext cx="11546173" cy="4925323"/>
          </a:xfrm>
          <a:prstGeom prst="rect">
            <a:avLst/>
          </a:prstGeom>
          <a:noFill/>
        </p:spPr>
        <p:txBody>
          <a:bodyPr wrap="square" rtlCol="0">
            <a:spAutoFit/>
          </a:bodyPr>
          <a:lstStyle/>
          <a:p>
            <a:pPr marL="800100" lvl="1" indent="-342900">
              <a:lnSpc>
                <a:spcPct val="200000"/>
              </a:lnSpc>
              <a:buFont typeface="Arial" panose="020B0604020202020204" pitchFamily="34" charset="0"/>
              <a:buChar char="•"/>
            </a:pPr>
            <a:r>
              <a:rPr lang="es-MX" sz="2000" dirty="0" err="1">
                <a:latin typeface="Libre Franklin" pitchFamily="2" charset="0"/>
              </a:rPr>
              <a:t>Monetary</a:t>
            </a:r>
            <a:r>
              <a:rPr lang="es-MX" sz="2000" dirty="0">
                <a:latin typeface="Libre Franklin" pitchFamily="2" charset="0"/>
              </a:rPr>
              <a:t> </a:t>
            </a:r>
            <a:r>
              <a:rPr lang="es-MX" sz="2000" dirty="0" err="1">
                <a:latin typeface="Libre Franklin" pitchFamily="2" charset="0"/>
              </a:rPr>
              <a:t>Policy</a:t>
            </a:r>
            <a:r>
              <a:rPr lang="es-MX" sz="2000" dirty="0">
                <a:latin typeface="Libre Franklin" pitchFamily="2" charset="0"/>
              </a:rPr>
              <a:t> </a:t>
            </a:r>
            <a:r>
              <a:rPr lang="es-MX" sz="2000" dirty="0" err="1">
                <a:latin typeface="Libre Franklin" pitchFamily="2" charset="0"/>
              </a:rPr>
              <a:t>Strategy</a:t>
            </a:r>
            <a:r>
              <a:rPr lang="es-MX" sz="2000" dirty="0">
                <a:latin typeface="Libre Franklin" pitchFamily="2" charset="0"/>
              </a:rPr>
              <a:t>: </a:t>
            </a:r>
            <a:r>
              <a:rPr lang="es-MX" sz="2000" dirty="0" err="1">
                <a:latin typeface="Libre Franklin" pitchFamily="2" charset="0"/>
              </a:rPr>
              <a:t>Lessons</a:t>
            </a:r>
            <a:r>
              <a:rPr lang="es-MX" sz="2000" dirty="0">
                <a:latin typeface="Libre Franklin" pitchFamily="2" charset="0"/>
              </a:rPr>
              <a:t> </a:t>
            </a:r>
            <a:r>
              <a:rPr lang="es-MX" sz="2000" dirty="0" err="1">
                <a:latin typeface="Libre Franklin" pitchFamily="2" charset="0"/>
              </a:rPr>
              <a:t>From</a:t>
            </a:r>
            <a:r>
              <a:rPr lang="es-MX" sz="2000" dirty="0">
                <a:latin typeface="Libre Franklin" pitchFamily="2" charset="0"/>
              </a:rPr>
              <a:t> </a:t>
            </a:r>
            <a:r>
              <a:rPr lang="es-MX" sz="2000" dirty="0" err="1">
                <a:latin typeface="Libre Franklin" pitchFamily="2" charset="0"/>
              </a:rPr>
              <a:t>The</a:t>
            </a:r>
            <a:r>
              <a:rPr lang="es-MX" sz="2000" dirty="0">
                <a:latin typeface="Libre Franklin" pitchFamily="2" charset="0"/>
              </a:rPr>
              <a:t> Crisis </a:t>
            </a:r>
            <a:r>
              <a:rPr lang="es-MX" sz="2000" dirty="0" err="1">
                <a:latin typeface="Libre Franklin" pitchFamily="2" charset="0"/>
              </a:rPr>
              <a:t>Mishkin</a:t>
            </a:r>
            <a:r>
              <a:rPr lang="es-MX" sz="2000" dirty="0">
                <a:latin typeface="Libre Franklin" pitchFamily="2" charset="0"/>
              </a:rPr>
              <a:t> 2011</a:t>
            </a:r>
          </a:p>
          <a:p>
            <a:pPr marL="800100" lvl="1" indent="-342900">
              <a:lnSpc>
                <a:spcPct val="200000"/>
              </a:lnSpc>
              <a:buFont typeface="Arial" panose="020B0604020202020204" pitchFamily="34" charset="0"/>
              <a:buChar char="•"/>
            </a:pPr>
            <a:r>
              <a:rPr lang="es-MX" sz="2000" dirty="0">
                <a:latin typeface="Libre Franklin" pitchFamily="2" charset="0"/>
              </a:rPr>
              <a:t>Evaluación de la Política Monetaria 2015</a:t>
            </a:r>
          </a:p>
          <a:p>
            <a:pPr marL="800100" lvl="1" indent="-342900">
              <a:lnSpc>
                <a:spcPct val="200000"/>
              </a:lnSpc>
              <a:buFont typeface="Arial" panose="020B0604020202020204" pitchFamily="34" charset="0"/>
              <a:buChar char="•"/>
            </a:pPr>
            <a:r>
              <a:rPr lang="es-MX" sz="2000" dirty="0">
                <a:latin typeface="Libre Franklin" pitchFamily="2" charset="0"/>
              </a:rPr>
              <a:t>Evaluación del diseño e implementación de la política monetaria y cambiaria del Banco</a:t>
            </a:r>
          </a:p>
          <a:p>
            <a:pPr lvl="1">
              <a:lnSpc>
                <a:spcPct val="200000"/>
              </a:lnSpc>
            </a:pPr>
            <a:r>
              <a:rPr lang="es-MX" sz="2000" dirty="0">
                <a:latin typeface="Libre Franklin" pitchFamily="2" charset="0"/>
              </a:rPr>
              <a:t>      de Guatemala 2012-2022 Sebastián Edwards.</a:t>
            </a:r>
          </a:p>
          <a:p>
            <a:pPr marL="800100" lvl="1" indent="-342900">
              <a:lnSpc>
                <a:spcPct val="200000"/>
              </a:lnSpc>
              <a:buFont typeface="Arial" panose="020B0604020202020204" pitchFamily="34" charset="0"/>
              <a:buChar char="•"/>
            </a:pPr>
            <a:r>
              <a:rPr lang="es-MX" sz="2000" dirty="0" err="1">
                <a:latin typeface="Libre Franklin" pitchFamily="2" charset="0"/>
              </a:rPr>
              <a:t>Measurement</a:t>
            </a:r>
            <a:r>
              <a:rPr lang="es-MX" sz="2000" dirty="0">
                <a:latin typeface="Libre Franklin" pitchFamily="2" charset="0"/>
              </a:rPr>
              <a:t> </a:t>
            </a:r>
            <a:r>
              <a:rPr lang="es-MX" sz="2000" dirty="0" err="1">
                <a:latin typeface="Libre Franklin" pitchFamily="2" charset="0"/>
              </a:rPr>
              <a:t>Errors</a:t>
            </a:r>
            <a:r>
              <a:rPr lang="es-MX" sz="2000" dirty="0">
                <a:latin typeface="Libre Franklin" pitchFamily="2" charset="0"/>
              </a:rPr>
              <a:t> in </a:t>
            </a:r>
            <a:r>
              <a:rPr lang="es-MX" sz="2000" dirty="0" err="1">
                <a:latin typeface="Libre Franklin" pitchFamily="2" charset="0"/>
              </a:rPr>
              <a:t>the</a:t>
            </a:r>
            <a:r>
              <a:rPr lang="es-MX" sz="2000" dirty="0">
                <a:latin typeface="Libre Franklin" pitchFamily="2" charset="0"/>
              </a:rPr>
              <a:t> </a:t>
            </a:r>
            <a:r>
              <a:rPr lang="es-MX" sz="2000" dirty="0" err="1">
                <a:latin typeface="Libre Franklin" pitchFamily="2" charset="0"/>
              </a:rPr>
              <a:t>Consumer</a:t>
            </a:r>
            <a:r>
              <a:rPr lang="es-MX" sz="2000" dirty="0">
                <a:latin typeface="Libre Franklin" pitchFamily="2" charset="0"/>
              </a:rPr>
              <a:t> Price </a:t>
            </a:r>
            <a:r>
              <a:rPr lang="es-MX" sz="2000" dirty="0" err="1">
                <a:latin typeface="Libre Franklin" pitchFamily="2" charset="0"/>
              </a:rPr>
              <a:t>Index</a:t>
            </a:r>
            <a:r>
              <a:rPr lang="es-MX" sz="2000" dirty="0">
                <a:latin typeface="Libre Franklin" pitchFamily="2" charset="0"/>
              </a:rPr>
              <a:t>: </a:t>
            </a:r>
            <a:r>
              <a:rPr lang="es-MX" sz="2000" dirty="0" err="1">
                <a:latin typeface="Libre Franklin" pitchFamily="2" charset="0"/>
              </a:rPr>
              <a:t>Perspectives</a:t>
            </a:r>
            <a:r>
              <a:rPr lang="es-MX" sz="2000" dirty="0">
                <a:latin typeface="Libre Franklin" pitchFamily="2" charset="0"/>
              </a:rPr>
              <a:t> </a:t>
            </a:r>
            <a:r>
              <a:rPr lang="es-MX" sz="2000" dirty="0" err="1">
                <a:latin typeface="Libre Franklin" pitchFamily="2" charset="0"/>
              </a:rPr>
              <a:t>on</a:t>
            </a:r>
            <a:r>
              <a:rPr lang="es-MX" sz="2000" dirty="0">
                <a:latin typeface="Libre Franklin" pitchFamily="2" charset="0"/>
              </a:rPr>
              <a:t> </a:t>
            </a:r>
            <a:r>
              <a:rPr lang="es-MX" sz="2000" dirty="0" err="1">
                <a:latin typeface="Libre Franklin" pitchFamily="2" charset="0"/>
              </a:rPr>
              <a:t>Numerical</a:t>
            </a:r>
            <a:endParaRPr lang="es-MX" sz="2000" dirty="0">
              <a:latin typeface="Libre Franklin" pitchFamily="2" charset="0"/>
            </a:endParaRPr>
          </a:p>
          <a:p>
            <a:pPr lvl="1">
              <a:lnSpc>
                <a:spcPct val="200000"/>
              </a:lnSpc>
            </a:pPr>
            <a:r>
              <a:rPr lang="es-MX" sz="2000" dirty="0">
                <a:latin typeface="Libre Franklin" pitchFamily="2" charset="0"/>
              </a:rPr>
              <a:t>      Targets </a:t>
            </a:r>
            <a:r>
              <a:rPr lang="es-MX" sz="2000" dirty="0" err="1">
                <a:latin typeface="Libre Franklin" pitchFamily="2" charset="0"/>
              </a:rPr>
              <a:t>for</a:t>
            </a:r>
            <a:r>
              <a:rPr lang="es-MX" sz="2000" dirty="0">
                <a:latin typeface="Libre Franklin" pitchFamily="2" charset="0"/>
              </a:rPr>
              <a:t> Price </a:t>
            </a:r>
            <a:r>
              <a:rPr lang="es-MX" sz="2000" dirty="0" err="1">
                <a:latin typeface="Libre Franklin" pitchFamily="2" charset="0"/>
              </a:rPr>
              <a:t>Stability</a:t>
            </a:r>
            <a:r>
              <a:rPr lang="es-MX" sz="2000" dirty="0">
                <a:latin typeface="Libre Franklin" pitchFamily="2" charset="0"/>
              </a:rPr>
              <a:t> in </a:t>
            </a:r>
            <a:r>
              <a:rPr lang="es-MX" sz="2000" dirty="0" err="1">
                <a:latin typeface="Libre Franklin" pitchFamily="2" charset="0"/>
              </a:rPr>
              <a:t>Major</a:t>
            </a:r>
            <a:r>
              <a:rPr lang="es-MX" sz="2000" dirty="0">
                <a:latin typeface="Libre Franklin" pitchFamily="2" charset="0"/>
              </a:rPr>
              <a:t> </a:t>
            </a:r>
            <a:r>
              <a:rPr lang="es-MX" sz="2000" dirty="0" err="1">
                <a:latin typeface="Libre Franklin" pitchFamily="2" charset="0"/>
              </a:rPr>
              <a:t>Economies</a:t>
            </a:r>
            <a:r>
              <a:rPr lang="es-MX" sz="2000" dirty="0">
                <a:latin typeface="Libre Franklin" pitchFamily="2" charset="0"/>
              </a:rPr>
              <a:t> Bank </a:t>
            </a:r>
            <a:r>
              <a:rPr lang="es-MX" sz="2000" dirty="0" err="1">
                <a:latin typeface="Libre Franklin" pitchFamily="2" charset="0"/>
              </a:rPr>
              <a:t>of</a:t>
            </a:r>
            <a:r>
              <a:rPr lang="es-MX" sz="2000" dirty="0">
                <a:latin typeface="Libre Franklin" pitchFamily="2" charset="0"/>
              </a:rPr>
              <a:t> </a:t>
            </a:r>
            <a:r>
              <a:rPr lang="es-MX" sz="2000" dirty="0" err="1">
                <a:latin typeface="Libre Franklin" pitchFamily="2" charset="0"/>
              </a:rPr>
              <a:t>Japan</a:t>
            </a:r>
            <a:r>
              <a:rPr lang="es-MX" sz="2000" dirty="0">
                <a:latin typeface="Libre Franklin" pitchFamily="2" charset="0"/>
              </a:rPr>
              <a:t> 2024</a:t>
            </a:r>
          </a:p>
          <a:p>
            <a:pPr marL="800100" lvl="1" indent="-342900">
              <a:lnSpc>
                <a:spcPct val="200000"/>
              </a:lnSpc>
              <a:buFont typeface="Arial" panose="020B0604020202020204" pitchFamily="34" charset="0"/>
              <a:buChar char="•"/>
            </a:pPr>
            <a:r>
              <a:rPr lang="es-GT" sz="2000" dirty="0" err="1">
                <a:latin typeface="Libre Franklin" pitchFamily="2" charset="0"/>
              </a:rPr>
              <a:t>Structural</a:t>
            </a:r>
            <a:r>
              <a:rPr lang="es-GT" sz="2000" dirty="0">
                <a:latin typeface="Libre Franklin" pitchFamily="2" charset="0"/>
              </a:rPr>
              <a:t> </a:t>
            </a:r>
            <a:r>
              <a:rPr lang="es-GT" sz="2000" dirty="0" err="1">
                <a:latin typeface="Libre Franklin" pitchFamily="2" charset="0"/>
              </a:rPr>
              <a:t>Estimates</a:t>
            </a:r>
            <a:r>
              <a:rPr lang="es-GT" sz="2000" dirty="0">
                <a:latin typeface="Libre Franklin" pitchFamily="2" charset="0"/>
              </a:rPr>
              <a:t> </a:t>
            </a:r>
            <a:r>
              <a:rPr lang="es-GT" sz="2000" dirty="0" err="1">
                <a:latin typeface="Libre Franklin" pitchFamily="2" charset="0"/>
              </a:rPr>
              <a:t>of</a:t>
            </a:r>
            <a:r>
              <a:rPr lang="es-GT" sz="2000" dirty="0">
                <a:latin typeface="Libre Franklin" pitchFamily="2" charset="0"/>
              </a:rPr>
              <a:t> </a:t>
            </a:r>
            <a:r>
              <a:rPr lang="es-GT" sz="2000" dirty="0" err="1">
                <a:latin typeface="Libre Franklin" pitchFamily="2" charset="0"/>
              </a:rPr>
              <a:t>the</a:t>
            </a:r>
            <a:r>
              <a:rPr lang="es-GT" sz="2000" dirty="0">
                <a:latin typeface="Libre Franklin" pitchFamily="2" charset="0"/>
              </a:rPr>
              <a:t> U.S. </a:t>
            </a:r>
            <a:r>
              <a:rPr lang="es-GT" sz="2000" dirty="0" err="1">
                <a:latin typeface="Libre Franklin" pitchFamily="2" charset="0"/>
              </a:rPr>
              <a:t>Sacrifice</a:t>
            </a:r>
            <a:r>
              <a:rPr lang="es-GT" sz="2000" dirty="0">
                <a:latin typeface="Libre Franklin" pitchFamily="2" charset="0"/>
              </a:rPr>
              <a:t> Ratio Federal Reserve Bank </a:t>
            </a:r>
            <a:r>
              <a:rPr lang="es-GT" sz="2000" dirty="0" err="1">
                <a:latin typeface="Libre Franklin" pitchFamily="2" charset="0"/>
              </a:rPr>
              <a:t>of</a:t>
            </a:r>
            <a:r>
              <a:rPr lang="es-GT" sz="2000" dirty="0">
                <a:latin typeface="Libre Franklin" pitchFamily="2" charset="0"/>
              </a:rPr>
              <a:t> New York 2001</a:t>
            </a:r>
          </a:p>
          <a:p>
            <a:pPr marL="800100" lvl="1" indent="-342900">
              <a:lnSpc>
                <a:spcPct val="200000"/>
              </a:lnSpc>
              <a:buFont typeface="Arial" panose="020B0604020202020204" pitchFamily="34" charset="0"/>
              <a:buChar char="•"/>
            </a:pPr>
            <a:r>
              <a:rPr lang="es-GT" sz="2000" dirty="0" err="1">
                <a:latin typeface="Libre Franklin" pitchFamily="2" charset="0"/>
              </a:rPr>
              <a:t>The</a:t>
            </a:r>
            <a:r>
              <a:rPr lang="es-GT" sz="2000" dirty="0">
                <a:latin typeface="Libre Franklin" pitchFamily="2" charset="0"/>
              </a:rPr>
              <a:t> case </a:t>
            </a:r>
            <a:r>
              <a:rPr lang="es-GT" sz="2000" dirty="0" err="1">
                <a:latin typeface="Libre Franklin" pitchFamily="2" charset="0"/>
              </a:rPr>
              <a:t>for</a:t>
            </a:r>
            <a:r>
              <a:rPr lang="es-GT" sz="2000" dirty="0">
                <a:latin typeface="Libre Franklin" pitchFamily="2" charset="0"/>
              </a:rPr>
              <a:t> </a:t>
            </a:r>
            <a:r>
              <a:rPr lang="es-GT" sz="2000" dirty="0" err="1">
                <a:latin typeface="Libre Franklin" pitchFamily="2" charset="0"/>
              </a:rPr>
              <a:t>four</a:t>
            </a:r>
            <a:r>
              <a:rPr lang="es-GT" sz="2000" dirty="0">
                <a:latin typeface="Libre Franklin" pitchFamily="2" charset="0"/>
              </a:rPr>
              <a:t> </a:t>
            </a:r>
            <a:r>
              <a:rPr lang="es-GT" sz="2000" dirty="0" err="1">
                <a:latin typeface="Libre Franklin" pitchFamily="2" charset="0"/>
              </a:rPr>
              <a:t>percent</a:t>
            </a:r>
            <a:r>
              <a:rPr lang="es-GT" sz="2000" dirty="0">
                <a:latin typeface="Libre Franklin" pitchFamily="2" charset="0"/>
              </a:rPr>
              <a:t> </a:t>
            </a:r>
            <a:r>
              <a:rPr lang="es-GT" sz="2000" dirty="0" err="1">
                <a:latin typeface="Libre Franklin" pitchFamily="2" charset="0"/>
              </a:rPr>
              <a:t>inflation</a:t>
            </a:r>
            <a:r>
              <a:rPr lang="es-GT" sz="2000" dirty="0">
                <a:latin typeface="Libre Franklin" pitchFamily="2" charset="0"/>
              </a:rPr>
              <a:t> Laurence Ball 2013. </a:t>
            </a:r>
          </a:p>
        </p:txBody>
      </p:sp>
    </p:spTree>
    <p:extLst>
      <p:ext uri="{BB962C8B-B14F-4D97-AF65-F5344CB8AC3E}">
        <p14:creationId xmlns:p14="http://schemas.microsoft.com/office/powerpoint/2010/main" val="1763056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E0456-9D0A-458C-8A2E-EC9E7705C955}"/>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0D8893AB-0534-4B88-9B3D-6ABA4EB9FE3F}"/>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0C209CE5-AFD2-4CA7-8D90-C1E60E9465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0BBF9201-58C7-4E4D-ABE8-980848FA6D5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Bibliografía consultada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41A554FA-D2F8-4E55-B343-5244ABC3AFF3}"/>
              </a:ext>
            </a:extLst>
          </p:cNvPr>
          <p:cNvCxnSpPr>
            <a:cxnSpLocks/>
          </p:cNvCxnSpPr>
          <p:nvPr/>
        </p:nvCxnSpPr>
        <p:spPr>
          <a:xfrm>
            <a:off x="265471" y="730459"/>
            <a:ext cx="6430297"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87D7D931-49AF-4697-AA0B-140B7ADA1D91}"/>
              </a:ext>
            </a:extLst>
          </p:cNvPr>
          <p:cNvSpPr txBox="1"/>
          <p:nvPr/>
        </p:nvSpPr>
        <p:spPr>
          <a:xfrm>
            <a:off x="165181" y="730459"/>
            <a:ext cx="11546173" cy="4401205"/>
          </a:xfrm>
          <a:prstGeom prst="rect">
            <a:avLst/>
          </a:prstGeom>
          <a:noFill/>
        </p:spPr>
        <p:txBody>
          <a:bodyPr wrap="square" rtlCol="0">
            <a:spAutoFit/>
          </a:bodyPr>
          <a:lstStyle/>
          <a:p>
            <a:pPr marL="800100" lvl="1" indent="-342900">
              <a:lnSpc>
                <a:spcPct val="200000"/>
              </a:lnSpc>
              <a:buFont typeface="Arial" panose="020B0604020202020204" pitchFamily="34" charset="0"/>
              <a:buChar char="•"/>
            </a:pPr>
            <a:r>
              <a:rPr lang="en-US" sz="2000" b="1" u="sng" dirty="0">
                <a:latin typeface="Libre Franklin" pitchFamily="2" charset="0"/>
              </a:rPr>
              <a:t>The Costs of Inflation, Bank of England Quarterly Bulletin 35, 1995</a:t>
            </a:r>
          </a:p>
          <a:p>
            <a:pPr marL="896938" lvl="1" algn="just"/>
            <a:r>
              <a:rPr lang="en-US" sz="2000" i="1" dirty="0">
                <a:latin typeface="Libre Franklin" pitchFamily="2" charset="0"/>
              </a:rPr>
              <a:t>“</a:t>
            </a:r>
            <a:r>
              <a:rPr lang="es-GT" sz="2000" i="1" dirty="0">
                <a:latin typeface="Libre Franklin" pitchFamily="2" charset="0"/>
              </a:rPr>
              <a:t>Artículo que aborda la literatura académica en torno a los consensos existentes respecto a los costos de una alta inflación sobre las decisiones de los agentes y la relación entre la inflación y el crecimiento en el largo plazo.</a:t>
            </a:r>
            <a:r>
              <a:rPr lang="en-US" sz="2000" i="1" dirty="0">
                <a:latin typeface="Libre Franklin" pitchFamily="2" charset="0"/>
              </a:rPr>
              <a:t>”</a:t>
            </a:r>
          </a:p>
          <a:p>
            <a:pPr marL="896938" lvl="1" algn="just"/>
            <a:endParaRPr lang="en-US" sz="2000" i="1" dirty="0">
              <a:latin typeface="Libre Franklin" pitchFamily="2" charset="0"/>
            </a:endParaRPr>
          </a:p>
          <a:p>
            <a:pPr marL="896938" lvl="1" indent="-360363" algn="just">
              <a:buFont typeface="Arial" panose="020B0604020202020204" pitchFamily="34" charset="0"/>
              <a:buChar char="•"/>
            </a:pPr>
            <a:r>
              <a:rPr lang="es-GT" sz="2000" b="1" u="sng" dirty="0" err="1">
                <a:latin typeface="Libre Franklin" pitchFamily="2" charset="0"/>
              </a:rPr>
              <a:t>Structural</a:t>
            </a:r>
            <a:r>
              <a:rPr lang="es-GT" sz="2000" b="1" u="sng" dirty="0">
                <a:latin typeface="Libre Franklin" pitchFamily="2" charset="0"/>
              </a:rPr>
              <a:t> </a:t>
            </a:r>
            <a:r>
              <a:rPr lang="es-GT" sz="2000" b="1" u="sng" dirty="0" err="1">
                <a:latin typeface="Libre Franklin" pitchFamily="2" charset="0"/>
              </a:rPr>
              <a:t>Estimates</a:t>
            </a:r>
            <a:r>
              <a:rPr lang="es-GT" sz="2000" b="1" u="sng" dirty="0">
                <a:latin typeface="Libre Franklin" pitchFamily="2" charset="0"/>
              </a:rPr>
              <a:t> </a:t>
            </a:r>
            <a:r>
              <a:rPr lang="es-GT" sz="2000" b="1" u="sng" dirty="0" err="1">
                <a:latin typeface="Libre Franklin" pitchFamily="2" charset="0"/>
              </a:rPr>
              <a:t>of</a:t>
            </a:r>
            <a:r>
              <a:rPr lang="es-GT" sz="2000" b="1" u="sng" dirty="0">
                <a:latin typeface="Libre Franklin" pitchFamily="2" charset="0"/>
              </a:rPr>
              <a:t> </a:t>
            </a:r>
            <a:r>
              <a:rPr lang="es-GT" sz="2000" b="1" u="sng" dirty="0" err="1">
                <a:latin typeface="Libre Franklin" pitchFamily="2" charset="0"/>
              </a:rPr>
              <a:t>the</a:t>
            </a:r>
            <a:r>
              <a:rPr lang="es-GT" sz="2000" b="1" u="sng" dirty="0">
                <a:latin typeface="Libre Franklin" pitchFamily="2" charset="0"/>
              </a:rPr>
              <a:t> U.S. </a:t>
            </a:r>
            <a:r>
              <a:rPr lang="es-GT" sz="2000" b="1" u="sng" dirty="0" err="1">
                <a:latin typeface="Libre Franklin" pitchFamily="2" charset="0"/>
              </a:rPr>
              <a:t>Sacrifice</a:t>
            </a:r>
            <a:r>
              <a:rPr lang="es-GT" sz="2000" b="1" u="sng" dirty="0">
                <a:latin typeface="Libre Franklin" pitchFamily="2" charset="0"/>
              </a:rPr>
              <a:t> Ratio Federal Reserve Bank </a:t>
            </a:r>
            <a:r>
              <a:rPr lang="es-GT" sz="2000" b="1" u="sng" dirty="0" err="1">
                <a:latin typeface="Libre Franklin" pitchFamily="2" charset="0"/>
              </a:rPr>
              <a:t>of</a:t>
            </a:r>
            <a:r>
              <a:rPr lang="es-GT" sz="2000" b="1" u="sng" dirty="0">
                <a:latin typeface="Libre Franklin" pitchFamily="2" charset="0"/>
              </a:rPr>
              <a:t> New York 2001</a:t>
            </a:r>
          </a:p>
          <a:p>
            <a:pPr marL="536575" lvl="1" algn="just"/>
            <a:endParaRPr lang="es-GT" sz="2000" b="1" u="sng" dirty="0">
              <a:latin typeface="Libre Franklin" pitchFamily="2" charset="0"/>
            </a:endParaRPr>
          </a:p>
          <a:p>
            <a:pPr marL="896938" lvl="1" algn="just"/>
            <a:r>
              <a:rPr lang="es-GT" sz="2000" i="1" dirty="0">
                <a:latin typeface="Libre Franklin" pitchFamily="2" charset="0"/>
              </a:rPr>
              <a:t>“Estudio realizado para Estados Unidos en el cual se utiliza un SVAR identificado por restricciones de largo plazo. El objetivo es capturar la respuesta del producto ante cambios en la inflación y utilizarlas para estimar el coeficiente de sacrificio definido como el costo en términos del producto de reducir en 1% la tasa de inflación durante un periodo de tiempo dado.”</a:t>
            </a:r>
            <a:endParaRPr lang="en-US" sz="2000" i="1" dirty="0">
              <a:latin typeface="Libre Franklin" pitchFamily="2" charset="0"/>
            </a:endParaRPr>
          </a:p>
        </p:txBody>
      </p:sp>
    </p:spTree>
    <p:extLst>
      <p:ext uri="{BB962C8B-B14F-4D97-AF65-F5344CB8AC3E}">
        <p14:creationId xmlns:p14="http://schemas.microsoft.com/office/powerpoint/2010/main" val="1540573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E0456-9D0A-458C-8A2E-EC9E7705C955}"/>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0D8893AB-0534-4B88-9B3D-6ABA4EB9FE3F}"/>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0C209CE5-AFD2-4CA7-8D90-C1E60E9465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698"/>
            <a:ext cx="12192000" cy="6858000"/>
          </a:xfrm>
          <a:prstGeom prst="rect">
            <a:avLst/>
          </a:prstGeom>
        </p:spPr>
      </p:pic>
      <p:sp>
        <p:nvSpPr>
          <p:cNvPr id="7" name="CuadroTexto 6">
            <a:extLst>
              <a:ext uri="{FF2B5EF4-FFF2-40B4-BE49-F238E27FC236}">
                <a16:creationId xmlns:a16="http://schemas.microsoft.com/office/drawing/2014/main" id="{0BBF9201-58C7-4E4D-ABE8-980848FA6D5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Bibliografía consultada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41A554FA-D2F8-4E55-B343-5244ABC3AFF3}"/>
              </a:ext>
            </a:extLst>
          </p:cNvPr>
          <p:cNvCxnSpPr>
            <a:cxnSpLocks/>
          </p:cNvCxnSpPr>
          <p:nvPr/>
        </p:nvCxnSpPr>
        <p:spPr>
          <a:xfrm>
            <a:off x="265471" y="730459"/>
            <a:ext cx="6430297"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87D7D931-49AF-4697-AA0B-140B7ADA1D91}"/>
              </a:ext>
            </a:extLst>
          </p:cNvPr>
          <p:cNvSpPr txBox="1"/>
          <p:nvPr/>
        </p:nvSpPr>
        <p:spPr>
          <a:xfrm>
            <a:off x="165181" y="730459"/>
            <a:ext cx="11546173" cy="2862322"/>
          </a:xfrm>
          <a:prstGeom prst="rect">
            <a:avLst/>
          </a:prstGeom>
          <a:noFill/>
        </p:spPr>
        <p:txBody>
          <a:bodyPr wrap="square" rtlCol="0">
            <a:spAutoFit/>
          </a:bodyPr>
          <a:lstStyle/>
          <a:p>
            <a:pPr marL="896938" lvl="1" indent="-360363" algn="just">
              <a:buFont typeface="Arial" panose="020B0604020202020204" pitchFamily="34" charset="0"/>
              <a:buChar char="•"/>
            </a:pPr>
            <a:r>
              <a:rPr lang="es-GT" sz="2000" b="1" u="sng" dirty="0" err="1">
                <a:latin typeface="Libre Franklin" pitchFamily="2" charset="0"/>
              </a:rPr>
              <a:t>The</a:t>
            </a:r>
            <a:r>
              <a:rPr lang="es-GT" sz="2000" b="1" u="sng" dirty="0">
                <a:latin typeface="Libre Franklin" pitchFamily="2" charset="0"/>
              </a:rPr>
              <a:t> Case </a:t>
            </a:r>
            <a:r>
              <a:rPr lang="es-GT" sz="2000" b="1" u="sng" dirty="0" err="1">
                <a:latin typeface="Libre Franklin" pitchFamily="2" charset="0"/>
              </a:rPr>
              <a:t>for</a:t>
            </a:r>
            <a:r>
              <a:rPr lang="es-GT" sz="2000" b="1" u="sng" dirty="0">
                <a:latin typeface="Libre Franklin" pitchFamily="2" charset="0"/>
              </a:rPr>
              <a:t> </a:t>
            </a:r>
            <a:r>
              <a:rPr lang="es-GT" sz="2000" b="1" u="sng" dirty="0" err="1">
                <a:latin typeface="Libre Franklin" pitchFamily="2" charset="0"/>
              </a:rPr>
              <a:t>four</a:t>
            </a:r>
            <a:r>
              <a:rPr lang="es-GT" sz="2000" b="1" u="sng" dirty="0">
                <a:latin typeface="Libre Franklin" pitchFamily="2" charset="0"/>
              </a:rPr>
              <a:t> </a:t>
            </a:r>
            <a:r>
              <a:rPr lang="es-GT" sz="2000" b="1" u="sng" dirty="0" err="1">
                <a:latin typeface="Libre Franklin" pitchFamily="2" charset="0"/>
              </a:rPr>
              <a:t>percent</a:t>
            </a:r>
            <a:r>
              <a:rPr lang="es-GT" sz="2000" b="1" u="sng" dirty="0">
                <a:latin typeface="Libre Franklin" pitchFamily="2" charset="0"/>
              </a:rPr>
              <a:t> </a:t>
            </a:r>
            <a:r>
              <a:rPr lang="es-GT" sz="2000" b="1" u="sng" dirty="0" err="1">
                <a:latin typeface="Libre Franklin" pitchFamily="2" charset="0"/>
              </a:rPr>
              <a:t>inflation</a:t>
            </a:r>
            <a:r>
              <a:rPr lang="es-GT" sz="2000" b="1" u="sng" dirty="0">
                <a:latin typeface="Libre Franklin" pitchFamily="2" charset="0"/>
              </a:rPr>
              <a:t>, 2013, Laurence Ball</a:t>
            </a:r>
          </a:p>
          <a:p>
            <a:pPr marL="536575" lvl="1" algn="just"/>
            <a:endParaRPr lang="es-GT" sz="2000" b="1" u="sng" dirty="0">
              <a:latin typeface="Libre Franklin" pitchFamily="2" charset="0"/>
            </a:endParaRPr>
          </a:p>
          <a:p>
            <a:pPr marL="896938" lvl="1" algn="just"/>
            <a:r>
              <a:rPr lang="es-GT" sz="2000" i="1" dirty="0">
                <a:latin typeface="Libre Franklin" pitchFamily="2" charset="0"/>
              </a:rPr>
              <a:t>“</a:t>
            </a:r>
            <a:r>
              <a:rPr lang="es-MX" sz="2000" i="1" dirty="0">
                <a:latin typeface="Libre Franklin" pitchFamily="2" charset="0"/>
              </a:rPr>
              <a:t>Ensayo que argumenta que una meta de inflación del 2% para las economías avanzadas es muy baja. Pese a que la investigación económica no es suficientemente clara respecto al nivel de meta ideal, el autor expresa que una meta del 4% es una estimación razonable. Dentro de los argumentos se encuentran evitar el límite inferior cero para dar mayor flexibilidad a los Banco Centrales en momentos de crisis, así como mitigar la caída del producto.</a:t>
            </a:r>
            <a:r>
              <a:rPr lang="es-GT" sz="2000" i="1" dirty="0">
                <a:latin typeface="Libre Franklin" pitchFamily="2" charset="0"/>
              </a:rPr>
              <a:t>”</a:t>
            </a:r>
            <a:endParaRPr lang="es-ES" sz="2000" b="1" u="sng" dirty="0">
              <a:latin typeface="Libre Franklin" pitchFamily="2" charset="0"/>
            </a:endParaRPr>
          </a:p>
          <a:p>
            <a:pPr marL="896938" lvl="1" algn="just"/>
            <a:endParaRPr lang="es-MX" sz="2000" dirty="0">
              <a:latin typeface="Libre Franklin" pitchFamily="2" charset="0"/>
            </a:endParaRPr>
          </a:p>
        </p:txBody>
      </p:sp>
    </p:spTree>
    <p:extLst>
      <p:ext uri="{BB962C8B-B14F-4D97-AF65-F5344CB8AC3E}">
        <p14:creationId xmlns:p14="http://schemas.microsoft.com/office/powerpoint/2010/main" val="2176140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E0456-9D0A-458C-8A2E-EC9E7705C955}"/>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0D8893AB-0534-4B88-9B3D-6ABA4EB9FE3F}"/>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0C209CE5-AFD2-4CA7-8D90-C1E60E9465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2" y="0"/>
            <a:ext cx="12192000" cy="6858000"/>
          </a:xfrm>
          <a:prstGeom prst="rect">
            <a:avLst/>
          </a:prstGeom>
        </p:spPr>
      </p:pic>
      <p:sp>
        <p:nvSpPr>
          <p:cNvPr id="7" name="CuadroTexto 6">
            <a:extLst>
              <a:ext uri="{FF2B5EF4-FFF2-40B4-BE49-F238E27FC236}">
                <a16:creationId xmlns:a16="http://schemas.microsoft.com/office/drawing/2014/main" id="{0BBF9201-58C7-4E4D-ABE8-980848FA6D5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Bibliografía consultada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41A554FA-D2F8-4E55-B343-5244ABC3AFF3}"/>
              </a:ext>
            </a:extLst>
          </p:cNvPr>
          <p:cNvCxnSpPr>
            <a:cxnSpLocks/>
          </p:cNvCxnSpPr>
          <p:nvPr/>
        </p:nvCxnSpPr>
        <p:spPr>
          <a:xfrm>
            <a:off x="265471" y="730459"/>
            <a:ext cx="6430297"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87D7D931-49AF-4697-AA0B-140B7ADA1D91}"/>
              </a:ext>
            </a:extLst>
          </p:cNvPr>
          <p:cNvSpPr txBox="1"/>
          <p:nvPr/>
        </p:nvSpPr>
        <p:spPr>
          <a:xfrm>
            <a:off x="165181" y="624270"/>
            <a:ext cx="11546173" cy="5016758"/>
          </a:xfrm>
          <a:prstGeom prst="rect">
            <a:avLst/>
          </a:prstGeom>
          <a:noFill/>
        </p:spPr>
        <p:txBody>
          <a:bodyPr wrap="square" rtlCol="0">
            <a:spAutoFit/>
          </a:bodyPr>
          <a:lstStyle/>
          <a:p>
            <a:pPr marL="800100" lvl="1" indent="-342900">
              <a:lnSpc>
                <a:spcPct val="200000"/>
              </a:lnSpc>
              <a:buFont typeface="Arial" panose="020B0604020202020204" pitchFamily="34" charset="0"/>
              <a:buChar char="•"/>
            </a:pPr>
            <a:r>
              <a:rPr lang="es-ES" sz="2000" b="1" u="sng" dirty="0">
                <a:latin typeface="Libre Franklin" pitchFamily="2" charset="0"/>
              </a:rPr>
              <a:t>Evaluación del diseño e implementación de la política monetaria y cambiaria del Banco</a:t>
            </a:r>
          </a:p>
          <a:p>
            <a:pPr marL="809625" lvl="1"/>
            <a:r>
              <a:rPr lang="es-ES" sz="2000" b="1" u="sng" dirty="0">
                <a:latin typeface="Libre Franklin" pitchFamily="2" charset="0"/>
              </a:rPr>
              <a:t>de Guatemala, Sebastián Edwards, 2012-2022.</a:t>
            </a:r>
          </a:p>
          <a:p>
            <a:pPr marL="896938" lvl="1" algn="just"/>
            <a:r>
              <a:rPr lang="en-US" sz="2000" i="1" dirty="0">
                <a:latin typeface="Libre Franklin" pitchFamily="2" charset="0"/>
              </a:rPr>
              <a:t>“</a:t>
            </a:r>
            <a:r>
              <a:rPr lang="es-ES" sz="2000" i="1" dirty="0">
                <a:latin typeface="Libre Franklin" pitchFamily="2" charset="0"/>
              </a:rPr>
              <a:t>Ambos documentos son una evaluación de la política monetaria y cambiaria. El principal énfasis al abordar la revisión literaria fueron sus comentarios respecto al nivel meta de inflación. En el primer documento destaca los beneficios de una reducción de la meta, como lo es la disminución de la persistencia inflacionaria y reducción de riesgos frente a choques inflacionarios. En el segundo de los documentos cambia su postura y expresa que el nivel actual de la meta de inflación es adecuado dadas las circunstancias del entorno económico global y el comportamiento de la economía guatemalteca.”</a:t>
            </a:r>
            <a:endParaRPr lang="es-MX" sz="2000" b="1" u="sng" dirty="0">
              <a:latin typeface="Libre Franklin" pitchFamily="2" charset="0"/>
            </a:endParaRPr>
          </a:p>
          <a:p>
            <a:pPr marL="800100" lvl="1" indent="-342900">
              <a:lnSpc>
                <a:spcPct val="200000"/>
              </a:lnSpc>
              <a:buFont typeface="Arial" panose="020B0604020202020204" pitchFamily="34" charset="0"/>
              <a:buChar char="•"/>
            </a:pPr>
            <a:r>
              <a:rPr lang="es-MX" sz="2000" b="1" u="sng" dirty="0">
                <a:latin typeface="Libre Franklin" pitchFamily="2" charset="0"/>
              </a:rPr>
              <a:t>Evaluación de la Política Monetaria 2015</a:t>
            </a:r>
          </a:p>
          <a:p>
            <a:pPr marL="896938" lvl="1" algn="just"/>
            <a:r>
              <a:rPr lang="es-MX" sz="2000" i="1" dirty="0">
                <a:latin typeface="Libre Franklin" pitchFamily="2" charset="0"/>
              </a:rPr>
              <a:t>“Documento que cuenta con un apartado que aborda el tema de la revisión de la meta de inflación. Se mencionan los costos de la inflación, los elementos que sustentan una meta del 4%, así como los aspectos a considerar como condiciones previas a una disminución del nivel de la meta.”</a:t>
            </a:r>
          </a:p>
        </p:txBody>
      </p:sp>
    </p:spTree>
    <p:extLst>
      <p:ext uri="{BB962C8B-B14F-4D97-AF65-F5344CB8AC3E}">
        <p14:creationId xmlns:p14="http://schemas.microsoft.com/office/powerpoint/2010/main" val="2801019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E0456-9D0A-458C-8A2E-EC9E7705C955}"/>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0D8893AB-0534-4B88-9B3D-6ABA4EB9FE3F}"/>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0C209CE5-AFD2-4CA7-8D90-C1E60E9465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0BBF9201-58C7-4E4D-ABE8-980848FA6D5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Bibliografía consultada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41A554FA-D2F8-4E55-B343-5244ABC3AFF3}"/>
              </a:ext>
            </a:extLst>
          </p:cNvPr>
          <p:cNvCxnSpPr>
            <a:cxnSpLocks/>
          </p:cNvCxnSpPr>
          <p:nvPr/>
        </p:nvCxnSpPr>
        <p:spPr>
          <a:xfrm>
            <a:off x="265471" y="730459"/>
            <a:ext cx="6430297"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87D7D931-49AF-4697-AA0B-140B7ADA1D91}"/>
              </a:ext>
            </a:extLst>
          </p:cNvPr>
          <p:cNvSpPr txBox="1"/>
          <p:nvPr/>
        </p:nvSpPr>
        <p:spPr>
          <a:xfrm>
            <a:off x="165181" y="730459"/>
            <a:ext cx="11546173" cy="4524315"/>
          </a:xfrm>
          <a:prstGeom prst="rect">
            <a:avLst/>
          </a:prstGeom>
          <a:noFill/>
        </p:spPr>
        <p:txBody>
          <a:bodyPr wrap="square" rtlCol="0">
            <a:spAutoFit/>
          </a:bodyPr>
          <a:lstStyle/>
          <a:p>
            <a:pPr marL="800100" lvl="1" indent="-342900">
              <a:buFont typeface="Arial" panose="020B0604020202020204" pitchFamily="34" charset="0"/>
              <a:buChar char="•"/>
            </a:pPr>
            <a:r>
              <a:rPr lang="en-US" sz="2000" b="1" u="sng" dirty="0">
                <a:latin typeface="Libre Franklin" pitchFamily="2" charset="0"/>
              </a:rPr>
              <a:t>Measurement Errors in the Consumer Price Index: Perspectives on Numerical Targets for Price Stability in Major Economies, Bank of Japan, 2024.</a:t>
            </a:r>
            <a:endParaRPr lang="es-ES" sz="2000" b="1" u="sng" dirty="0">
              <a:latin typeface="Libre Franklin" pitchFamily="2" charset="0"/>
            </a:endParaRPr>
          </a:p>
          <a:p>
            <a:pPr marL="896938" lvl="1" algn="just"/>
            <a:r>
              <a:rPr lang="en-US" sz="2000" i="1" dirty="0">
                <a:latin typeface="Libre Franklin" pitchFamily="2" charset="0"/>
              </a:rPr>
              <a:t>“</a:t>
            </a:r>
            <a:r>
              <a:rPr lang="es-GT" sz="2000" i="1" dirty="0">
                <a:latin typeface="Libre Franklin" pitchFamily="2" charset="0"/>
              </a:rPr>
              <a:t>Documento que presenta una revisión del estado actual de las discusiones así como de los estudios del sesgo inflacionaria hacia el alza en economías avanzadas. En el se expone las principales fuentes del sesgo inflacionario las cuales son:</a:t>
            </a:r>
          </a:p>
          <a:p>
            <a:pPr marL="896938" lvl="1" algn="just"/>
            <a:endParaRPr lang="es-GT" sz="2000" i="1" dirty="0">
              <a:latin typeface="Libre Franklin" pitchFamily="2" charset="0"/>
            </a:endParaRPr>
          </a:p>
          <a:p>
            <a:pPr marL="896938" lvl="1" algn="just"/>
            <a:r>
              <a:rPr lang="es-GT" sz="2000" i="1" dirty="0">
                <a:latin typeface="Libre Franklin" pitchFamily="2" charset="0"/>
              </a:rPr>
              <a:t>1- Sesgo de sustitución de nivel superior</a:t>
            </a:r>
          </a:p>
          <a:p>
            <a:pPr marL="896938" lvl="1" algn="just"/>
            <a:r>
              <a:rPr lang="es-GT" sz="2000" i="1" dirty="0">
                <a:latin typeface="Libre Franklin" pitchFamily="2" charset="0"/>
              </a:rPr>
              <a:t>	              </a:t>
            </a:r>
            <a:r>
              <a:rPr lang="es-GT" i="1" dirty="0">
                <a:latin typeface="Libre Franklin" pitchFamily="2" charset="0"/>
              </a:rPr>
              <a:t>Tipo de sesgo que surge de la agregación de los índices de los productos. Ocurre cuando los índices superiores son agregados a partir de los índices de productos mediante promedios ponderados. Por ejemplo si dos productos son sustitutos y el precio de uno aumenta, es natural que suceda un cambio en la demanda hacia el bien más barato. Si la canasta se fija al valor previo al cambio, se da más peso al precio del producto que experimentó el aumento que a los gastos reales en la fase de agregación para el índice superior. En otras palabras, la incapacidad de capturar desplazamientos a otros bienes o servicios como consecuencia de aumento en los precios introduce un sesgo al alza en el índice de precios.</a:t>
            </a:r>
            <a:r>
              <a:rPr lang="es-ES" sz="2000" i="1" dirty="0">
                <a:latin typeface="Libre Franklin" pitchFamily="2" charset="0"/>
              </a:rPr>
              <a:t>”</a:t>
            </a:r>
            <a:endParaRPr lang="es-MX" sz="2000" dirty="0">
              <a:latin typeface="Libre Franklin" pitchFamily="2" charset="0"/>
            </a:endParaRPr>
          </a:p>
        </p:txBody>
      </p:sp>
    </p:spTree>
    <p:extLst>
      <p:ext uri="{BB962C8B-B14F-4D97-AF65-F5344CB8AC3E}">
        <p14:creationId xmlns:p14="http://schemas.microsoft.com/office/powerpoint/2010/main" val="2290052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E0456-9D0A-458C-8A2E-EC9E7705C955}"/>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0D8893AB-0534-4B88-9B3D-6ABA4EB9FE3F}"/>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0C209CE5-AFD2-4CA7-8D90-C1E60E9465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0BBF9201-58C7-4E4D-ABE8-980848FA6D5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Bibliografía consultada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41A554FA-D2F8-4E55-B343-5244ABC3AFF3}"/>
              </a:ext>
            </a:extLst>
          </p:cNvPr>
          <p:cNvCxnSpPr>
            <a:cxnSpLocks/>
          </p:cNvCxnSpPr>
          <p:nvPr/>
        </p:nvCxnSpPr>
        <p:spPr>
          <a:xfrm>
            <a:off x="265471" y="730459"/>
            <a:ext cx="6430297"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87D7D931-49AF-4697-AA0B-140B7ADA1D91}"/>
              </a:ext>
            </a:extLst>
          </p:cNvPr>
          <p:cNvSpPr txBox="1"/>
          <p:nvPr/>
        </p:nvSpPr>
        <p:spPr>
          <a:xfrm>
            <a:off x="165181" y="730459"/>
            <a:ext cx="11546173" cy="4985980"/>
          </a:xfrm>
          <a:prstGeom prst="rect">
            <a:avLst/>
          </a:prstGeom>
          <a:noFill/>
        </p:spPr>
        <p:txBody>
          <a:bodyPr wrap="square" rtlCol="0">
            <a:spAutoFit/>
          </a:bodyPr>
          <a:lstStyle/>
          <a:p>
            <a:pPr marL="896938" lvl="1" algn="just"/>
            <a:r>
              <a:rPr lang="es-GT" sz="2000" i="1" dirty="0">
                <a:latin typeface="Libre Franklin" pitchFamily="2" charset="0"/>
              </a:rPr>
              <a:t>2- Sesgo de sustitución de nivel inferior</a:t>
            </a:r>
          </a:p>
          <a:p>
            <a:pPr marL="896938" lvl="1" algn="just"/>
            <a:r>
              <a:rPr lang="es-GT" sz="2000" i="1" dirty="0">
                <a:latin typeface="Libre Franklin" pitchFamily="2" charset="0"/>
              </a:rPr>
              <a:t>	              </a:t>
            </a:r>
            <a:r>
              <a:rPr lang="es-GT" i="1" dirty="0">
                <a:latin typeface="Libre Franklin" pitchFamily="2" charset="0"/>
              </a:rPr>
              <a:t>Sesgo que ocurre cuando la demanda se desplaza de un bien hacia otro y ambos pertenecen a un mismo índice de artículo. </a:t>
            </a:r>
            <a:r>
              <a:rPr lang="es-ES" i="1" dirty="0">
                <a:latin typeface="Libre Franklin" pitchFamily="2" charset="0"/>
              </a:rPr>
              <a:t>En particular, si la gama de cualidades (volumen, marca, función, etc.) de cada bien dentro del mismo índice de artículos es amplia, puede haber  diferencias en el nivel de precios (o nivel del índice) de cada una de las marcas o productos encuestados. En tales casos, cuando se utilizan métodos de agregación como las medias aritméticas simples, se da mayor peso a los movimientos de los precios con niveles de precios o niveles de índice más altos. </a:t>
            </a:r>
            <a:endParaRPr lang="es-GT" sz="2000" i="1" dirty="0">
              <a:latin typeface="Libre Franklin" pitchFamily="2" charset="0"/>
            </a:endParaRPr>
          </a:p>
          <a:p>
            <a:pPr marL="896938" lvl="1" algn="just"/>
            <a:r>
              <a:rPr lang="es-GT" sz="2000" i="1" dirty="0">
                <a:latin typeface="Libre Franklin" pitchFamily="2" charset="0"/>
              </a:rPr>
              <a:t>		</a:t>
            </a:r>
          </a:p>
          <a:p>
            <a:pPr marL="896938" lvl="1" algn="just"/>
            <a:r>
              <a:rPr lang="es-GT" sz="2000" i="1" dirty="0">
                <a:latin typeface="Libre Franklin" pitchFamily="2" charset="0"/>
              </a:rPr>
              <a:t>3- Sesgo por productos nuevos</a:t>
            </a:r>
          </a:p>
          <a:p>
            <a:pPr marL="896938" lvl="1" algn="just"/>
            <a:r>
              <a:rPr lang="es-GT" sz="2000" i="1" dirty="0">
                <a:latin typeface="Libre Franklin" pitchFamily="2" charset="0"/>
              </a:rPr>
              <a:t>		</a:t>
            </a:r>
            <a:r>
              <a:rPr lang="es-GT" i="1" dirty="0">
                <a:latin typeface="Libre Franklin" pitchFamily="2" charset="0"/>
              </a:rPr>
              <a:t>Este sesgo</a:t>
            </a:r>
            <a:r>
              <a:rPr lang="es-ES" i="1" dirty="0">
                <a:latin typeface="Libre Franklin" pitchFamily="2" charset="0"/>
              </a:rPr>
              <a:t> se define como uno de los errores estadísticos asociados con la inclusión continua de productos que han perdido su representatividad, así como con la omisión de nuevas formas de bienes y servicios. En comparación con los productos más antiguos, los nuevos suelen ser de mayor calidad por el mismo precio, lo que significa que los precios ajustados por calidad de los nuevos son más bajos. Por lo tanto, si los nuevos productos no pueden incluirse en las estadísticas, el índice no puede reflejar la «diferencia de nivel de precios entre los productos antiguos y los nuevos» o la «reducción de precios inmediatamente después del lanzamiento de un nuevo producto», lo que puede provocar un sesgo al alza.</a:t>
            </a:r>
            <a:r>
              <a:rPr lang="es-ES" sz="2000" i="1" dirty="0">
                <a:latin typeface="Libre Franklin" pitchFamily="2" charset="0"/>
              </a:rPr>
              <a:t>”</a:t>
            </a:r>
            <a:endParaRPr lang="es-MX" sz="2000" dirty="0">
              <a:latin typeface="Libre Franklin" pitchFamily="2" charset="0"/>
            </a:endParaRPr>
          </a:p>
        </p:txBody>
      </p:sp>
    </p:spTree>
    <p:extLst>
      <p:ext uri="{BB962C8B-B14F-4D97-AF65-F5344CB8AC3E}">
        <p14:creationId xmlns:p14="http://schemas.microsoft.com/office/powerpoint/2010/main" val="144817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E0456-9D0A-458C-8A2E-EC9E7705C955}"/>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0D8893AB-0534-4B88-9B3D-6ABA4EB9FE3F}"/>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0C209CE5-AFD2-4CA7-8D90-C1E60E9465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2" y="0"/>
            <a:ext cx="12192000" cy="6858000"/>
          </a:xfrm>
          <a:prstGeom prst="rect">
            <a:avLst/>
          </a:prstGeom>
        </p:spPr>
      </p:pic>
      <p:sp>
        <p:nvSpPr>
          <p:cNvPr id="7" name="CuadroTexto 6">
            <a:extLst>
              <a:ext uri="{FF2B5EF4-FFF2-40B4-BE49-F238E27FC236}">
                <a16:creationId xmlns:a16="http://schemas.microsoft.com/office/drawing/2014/main" id="{0BBF9201-58C7-4E4D-ABE8-980848FA6D5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Bibliografía consultada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41A554FA-D2F8-4E55-B343-5244ABC3AFF3}"/>
              </a:ext>
            </a:extLst>
          </p:cNvPr>
          <p:cNvCxnSpPr>
            <a:cxnSpLocks/>
          </p:cNvCxnSpPr>
          <p:nvPr/>
        </p:nvCxnSpPr>
        <p:spPr>
          <a:xfrm>
            <a:off x="265471" y="730459"/>
            <a:ext cx="6430297"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87D7D931-49AF-4697-AA0B-140B7ADA1D91}"/>
              </a:ext>
            </a:extLst>
          </p:cNvPr>
          <p:cNvSpPr txBox="1"/>
          <p:nvPr/>
        </p:nvSpPr>
        <p:spPr>
          <a:xfrm>
            <a:off x="165181" y="730459"/>
            <a:ext cx="11546173" cy="1569660"/>
          </a:xfrm>
          <a:prstGeom prst="rect">
            <a:avLst/>
          </a:prstGeom>
          <a:noFill/>
        </p:spPr>
        <p:txBody>
          <a:bodyPr wrap="square" rtlCol="0">
            <a:spAutoFit/>
          </a:bodyPr>
          <a:lstStyle/>
          <a:p>
            <a:pPr marL="896938" lvl="1" algn="just"/>
            <a:r>
              <a:rPr lang="es-GT" sz="2000" i="1" dirty="0">
                <a:latin typeface="Libre Franklin" pitchFamily="2" charset="0"/>
              </a:rPr>
              <a:t>“4-  Sesgo por cambios en los puntos de comercialización</a:t>
            </a:r>
          </a:p>
          <a:p>
            <a:pPr marL="896938" lvl="1" algn="just"/>
            <a:r>
              <a:rPr lang="es-GT" sz="2000" i="1" dirty="0">
                <a:latin typeface="Libre Franklin" pitchFamily="2" charset="0"/>
              </a:rPr>
              <a:t>		</a:t>
            </a:r>
            <a:r>
              <a:rPr lang="es-ES" i="1" dirty="0">
                <a:latin typeface="Libre Franklin" pitchFamily="2" charset="0"/>
              </a:rPr>
              <a:t>Es uno de los errores de medición asociados con los cambios en los puntos de comercialización. Este sesgo se produce cuando los consumidores se desplazan hacia puntos de venta y canales de distribución que venden y ofrecen bienes y servicios a precios más bajos y en formatos de venta de mayor calidad, y cuando el IPC no logra captar estos movimientos.</a:t>
            </a:r>
            <a:r>
              <a:rPr lang="es-ES" sz="2000" i="1" dirty="0">
                <a:latin typeface="Libre Franklin" pitchFamily="2" charset="0"/>
              </a:rPr>
              <a:t>”</a:t>
            </a:r>
          </a:p>
        </p:txBody>
      </p:sp>
    </p:spTree>
    <p:extLst>
      <p:ext uri="{BB962C8B-B14F-4D97-AF65-F5344CB8AC3E}">
        <p14:creationId xmlns:p14="http://schemas.microsoft.com/office/powerpoint/2010/main" val="3820876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AA1A9-8DB9-8217-6799-61188BA14BE4}"/>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AB09F7BA-0A85-1EAF-B696-43D631D42693}"/>
              </a:ext>
            </a:extLst>
          </p:cNvPr>
          <p:cNvPicPr>
            <a:picLocks noChangeAspect="1"/>
          </p:cNvPicPr>
          <p:nvPr/>
        </p:nvPicPr>
        <p:blipFill>
          <a:blip r:embed="rId3"/>
          <a:stretch>
            <a:fillRect/>
          </a:stretch>
        </p:blipFill>
        <p:spPr>
          <a:xfrm>
            <a:off x="-1" y="0"/>
            <a:ext cx="12208956" cy="6858000"/>
          </a:xfrm>
          <a:prstGeom prst="rect">
            <a:avLst/>
          </a:prstGeom>
        </p:spPr>
      </p:pic>
      <p:sp>
        <p:nvSpPr>
          <p:cNvPr id="4" name="CuadroTexto 3">
            <a:extLst>
              <a:ext uri="{FF2B5EF4-FFF2-40B4-BE49-F238E27FC236}">
                <a16:creationId xmlns:a16="http://schemas.microsoft.com/office/drawing/2014/main" id="{A6C8FC43-76E7-592A-8555-D7EDEA428B80}"/>
              </a:ext>
            </a:extLst>
          </p:cNvPr>
          <p:cNvSpPr txBox="1"/>
          <p:nvPr/>
        </p:nvSpPr>
        <p:spPr>
          <a:xfrm>
            <a:off x="3575381" y="2357717"/>
            <a:ext cx="4671072" cy="1569660"/>
          </a:xfrm>
          <a:prstGeom prst="rect">
            <a:avLst/>
          </a:prstGeom>
          <a:noFill/>
        </p:spPr>
        <p:txBody>
          <a:bodyPr wrap="square" rtlCol="0">
            <a:spAutoFit/>
          </a:bodyPr>
          <a:lstStyle/>
          <a:p>
            <a:pPr algn="ctr"/>
            <a:r>
              <a:rPr lang="es-MX" sz="4800" b="1" dirty="0">
                <a:solidFill>
                  <a:schemeClr val="bg1"/>
                </a:solidFill>
                <a:latin typeface="Libre Franklin" pitchFamily="2" charset="0"/>
              </a:rPr>
              <a:t>Costos de la inflación</a:t>
            </a:r>
          </a:p>
        </p:txBody>
      </p:sp>
    </p:spTree>
    <p:extLst>
      <p:ext uri="{BB962C8B-B14F-4D97-AF65-F5344CB8AC3E}">
        <p14:creationId xmlns:p14="http://schemas.microsoft.com/office/powerpoint/2010/main" val="2224759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E0456-9D0A-458C-8A2E-EC9E7705C955}"/>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0D8893AB-0534-4B88-9B3D-6ABA4EB9FE3F}"/>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0C209CE5-AFD2-4CA7-8D90-C1E60E9465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0BBF9201-58C7-4E4D-ABE8-980848FA6D5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Aspectos conceptuales de la inflación</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41A554FA-D2F8-4E55-B343-5244ABC3AFF3}"/>
              </a:ext>
            </a:extLst>
          </p:cNvPr>
          <p:cNvCxnSpPr>
            <a:cxnSpLocks/>
          </p:cNvCxnSpPr>
          <p:nvPr/>
        </p:nvCxnSpPr>
        <p:spPr>
          <a:xfrm>
            <a:off x="265471" y="730459"/>
            <a:ext cx="6430297"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9" name="Elipse 8">
            <a:extLst>
              <a:ext uri="{FF2B5EF4-FFF2-40B4-BE49-F238E27FC236}">
                <a16:creationId xmlns:a16="http://schemas.microsoft.com/office/drawing/2014/main" id="{627394BC-6D40-41E5-97F0-3D4AF919DAD6}"/>
              </a:ext>
            </a:extLst>
          </p:cNvPr>
          <p:cNvSpPr/>
          <p:nvPr/>
        </p:nvSpPr>
        <p:spPr>
          <a:xfrm>
            <a:off x="582224" y="1068363"/>
            <a:ext cx="108000" cy="10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0" name="CuadroTexto 9">
            <a:extLst>
              <a:ext uri="{FF2B5EF4-FFF2-40B4-BE49-F238E27FC236}">
                <a16:creationId xmlns:a16="http://schemas.microsoft.com/office/drawing/2014/main" id="{6091F251-68D4-4990-A661-823B8FC87A9C}"/>
              </a:ext>
            </a:extLst>
          </p:cNvPr>
          <p:cNvSpPr txBox="1"/>
          <p:nvPr/>
        </p:nvSpPr>
        <p:spPr>
          <a:xfrm>
            <a:off x="690224" y="922307"/>
            <a:ext cx="9899117" cy="400110"/>
          </a:xfrm>
          <a:prstGeom prst="rect">
            <a:avLst/>
          </a:prstGeom>
          <a:noFill/>
        </p:spPr>
        <p:txBody>
          <a:bodyPr wrap="square" rtlCol="0">
            <a:spAutoFit/>
          </a:bodyPr>
          <a:lstStyle/>
          <a:p>
            <a:r>
              <a:rPr lang="es-ES" sz="2000" b="1" dirty="0">
                <a:latin typeface="Libre Franklin" pitchFamily="2" charset="0"/>
              </a:rPr>
              <a:t>Costos</a:t>
            </a:r>
            <a:endParaRPr lang="es-GT" b="1" dirty="0">
              <a:latin typeface="Libre Franklin" pitchFamily="2" charset="0"/>
            </a:endParaRPr>
          </a:p>
        </p:txBody>
      </p:sp>
      <p:sp>
        <p:nvSpPr>
          <p:cNvPr id="11" name="CuadroTexto 10">
            <a:extLst>
              <a:ext uri="{FF2B5EF4-FFF2-40B4-BE49-F238E27FC236}">
                <a16:creationId xmlns:a16="http://schemas.microsoft.com/office/drawing/2014/main" id="{87D7D931-49AF-4697-AA0B-140B7ADA1D91}"/>
              </a:ext>
            </a:extLst>
          </p:cNvPr>
          <p:cNvSpPr txBox="1"/>
          <p:nvPr/>
        </p:nvSpPr>
        <p:spPr>
          <a:xfrm>
            <a:off x="1085481" y="1421745"/>
            <a:ext cx="10453657" cy="2809359"/>
          </a:xfrm>
          <a:prstGeom prst="rect">
            <a:avLst/>
          </a:prstGeom>
          <a:noFill/>
        </p:spPr>
        <p:txBody>
          <a:bodyPr wrap="square" rtlCol="0">
            <a:spAutoFit/>
          </a:bodyPr>
          <a:lstStyle/>
          <a:p>
            <a:pPr>
              <a:lnSpc>
                <a:spcPct val="150000"/>
              </a:lnSpc>
            </a:pPr>
            <a:r>
              <a:rPr lang="es-ES" sz="2000" dirty="0">
                <a:latin typeface="Libre Franklin" pitchFamily="2" charset="0"/>
              </a:rPr>
              <a:t>1- Erosión del poder adquisitivo de los hogares</a:t>
            </a:r>
          </a:p>
          <a:p>
            <a:pPr>
              <a:lnSpc>
                <a:spcPct val="150000"/>
              </a:lnSpc>
            </a:pPr>
            <a:r>
              <a:rPr lang="es-ES" sz="2000" dirty="0">
                <a:latin typeface="Libre Franklin" pitchFamily="2" charset="0"/>
              </a:rPr>
              <a:t>2- Aumento de costos de producción para las empresas</a:t>
            </a:r>
          </a:p>
          <a:p>
            <a:pPr>
              <a:lnSpc>
                <a:spcPct val="150000"/>
              </a:lnSpc>
            </a:pPr>
            <a:r>
              <a:rPr lang="es-ES" sz="2000" dirty="0">
                <a:latin typeface="Libre Franklin" pitchFamily="2" charset="0"/>
              </a:rPr>
              <a:t>3- Pérdida de competitividad (apreciación del tipo de cambio real)</a:t>
            </a:r>
          </a:p>
          <a:p>
            <a:pPr>
              <a:lnSpc>
                <a:spcPct val="150000"/>
              </a:lnSpc>
            </a:pPr>
            <a:r>
              <a:rPr lang="es-ES" sz="2000" dirty="0">
                <a:latin typeface="Libre Franklin" pitchFamily="2" charset="0"/>
              </a:rPr>
              <a:t>4- Efecto redistributivo del ingreso y la riqueza en perjuicio de los hogares con menos</a:t>
            </a:r>
          </a:p>
          <a:p>
            <a:pPr>
              <a:lnSpc>
                <a:spcPct val="150000"/>
              </a:lnSpc>
            </a:pPr>
            <a:r>
              <a:rPr lang="es-ES" sz="2000" dirty="0">
                <a:latin typeface="Libre Franklin" pitchFamily="2" charset="0"/>
              </a:rPr>
              <a:t>      recursos</a:t>
            </a:r>
          </a:p>
          <a:p>
            <a:pPr>
              <a:lnSpc>
                <a:spcPct val="150000"/>
              </a:lnSpc>
            </a:pPr>
            <a:r>
              <a:rPr lang="es-ES" sz="2000" dirty="0">
                <a:latin typeface="Libre Franklin" pitchFamily="2" charset="0"/>
              </a:rPr>
              <a:t>5- Genera distorsiones en los precios relativos</a:t>
            </a:r>
            <a:endParaRPr lang="es-GT" sz="2000" dirty="0">
              <a:latin typeface="Libre Franklin" pitchFamily="2" charset="0"/>
            </a:endParaRPr>
          </a:p>
        </p:txBody>
      </p:sp>
    </p:spTree>
    <p:extLst>
      <p:ext uri="{BB962C8B-B14F-4D97-AF65-F5344CB8AC3E}">
        <p14:creationId xmlns:p14="http://schemas.microsoft.com/office/powerpoint/2010/main" val="4219919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AA1A9-8DB9-8217-6799-61188BA14BE4}"/>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AB09F7BA-0A85-1EAF-B696-43D631D42693}"/>
              </a:ext>
            </a:extLst>
          </p:cNvPr>
          <p:cNvPicPr>
            <a:picLocks noChangeAspect="1"/>
          </p:cNvPicPr>
          <p:nvPr/>
        </p:nvPicPr>
        <p:blipFill>
          <a:blip r:embed="rId3"/>
          <a:stretch>
            <a:fillRect/>
          </a:stretch>
        </p:blipFill>
        <p:spPr>
          <a:xfrm>
            <a:off x="-1" y="0"/>
            <a:ext cx="12208956" cy="6858000"/>
          </a:xfrm>
          <a:prstGeom prst="rect">
            <a:avLst/>
          </a:prstGeom>
        </p:spPr>
      </p:pic>
      <p:sp>
        <p:nvSpPr>
          <p:cNvPr id="4" name="CuadroTexto 3">
            <a:extLst>
              <a:ext uri="{FF2B5EF4-FFF2-40B4-BE49-F238E27FC236}">
                <a16:creationId xmlns:a16="http://schemas.microsoft.com/office/drawing/2014/main" id="{A6C8FC43-76E7-592A-8555-D7EDEA428B80}"/>
              </a:ext>
            </a:extLst>
          </p:cNvPr>
          <p:cNvSpPr txBox="1"/>
          <p:nvPr/>
        </p:nvSpPr>
        <p:spPr>
          <a:xfrm>
            <a:off x="3575381" y="2357717"/>
            <a:ext cx="4671072" cy="2308324"/>
          </a:xfrm>
          <a:prstGeom prst="rect">
            <a:avLst/>
          </a:prstGeom>
          <a:noFill/>
        </p:spPr>
        <p:txBody>
          <a:bodyPr wrap="square" rtlCol="0">
            <a:spAutoFit/>
          </a:bodyPr>
          <a:lstStyle/>
          <a:p>
            <a:pPr algn="ctr"/>
            <a:r>
              <a:rPr lang="es-MX" sz="4800" b="1" dirty="0">
                <a:solidFill>
                  <a:schemeClr val="bg1"/>
                </a:solidFill>
                <a:latin typeface="Libre Franklin" pitchFamily="2" charset="0"/>
              </a:rPr>
              <a:t>Inconvenientes estadísticos de inflación cero</a:t>
            </a:r>
          </a:p>
        </p:txBody>
      </p:sp>
    </p:spTree>
    <p:extLst>
      <p:ext uri="{BB962C8B-B14F-4D97-AF65-F5344CB8AC3E}">
        <p14:creationId xmlns:p14="http://schemas.microsoft.com/office/powerpoint/2010/main" val="846759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F0AAD-ECC2-32BE-DECD-0D9604DA31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900F02-ABC8-21BB-307E-1566DCF51A94}"/>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BEE58B2C-E433-81DA-70CB-142F66D78F98}"/>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4B669E8B-6D95-C7F1-3F5A-CFA3D8C0D3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8D9E3BE8-5C07-C585-EA90-C2BBA38C9D9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Inconvenientes estadísticos de inflación cero</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98A7597A-60A0-AD08-21CB-F17E93085EDA}"/>
              </a:ext>
            </a:extLst>
          </p:cNvPr>
          <p:cNvCxnSpPr>
            <a:cxnSpLocks/>
          </p:cNvCxnSpPr>
          <p:nvPr/>
        </p:nvCxnSpPr>
        <p:spPr>
          <a:xfrm>
            <a:off x="265471" y="730459"/>
            <a:ext cx="7655036"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FC108DCB-15E3-DC3E-70ED-F000A2B1A319}"/>
              </a:ext>
            </a:extLst>
          </p:cNvPr>
          <p:cNvSpPr txBox="1"/>
          <p:nvPr/>
        </p:nvSpPr>
        <p:spPr>
          <a:xfrm>
            <a:off x="490600" y="876271"/>
            <a:ext cx="9899117" cy="707886"/>
          </a:xfrm>
          <a:prstGeom prst="rect">
            <a:avLst/>
          </a:prstGeom>
          <a:noFill/>
        </p:spPr>
        <p:txBody>
          <a:bodyPr wrap="square" rtlCol="0">
            <a:spAutoFit/>
          </a:bodyPr>
          <a:lstStyle/>
          <a:p>
            <a:r>
              <a:rPr lang="es-ES" sz="2000" b="1" dirty="0">
                <a:latin typeface="Libre Franklin" pitchFamily="2" charset="0"/>
              </a:rPr>
              <a:t>Sesgos en la medición de los Índices de Precios al Consumido</a:t>
            </a:r>
            <a:endParaRPr lang="es-ES" sz="2000" dirty="0">
              <a:latin typeface="Libre Franklin" pitchFamily="2" charset="0"/>
            </a:endParaRPr>
          </a:p>
          <a:p>
            <a:endParaRPr lang="es-ES" sz="2000" dirty="0">
              <a:latin typeface="Libre Franklin" pitchFamily="2" charset="0"/>
            </a:endParaRPr>
          </a:p>
        </p:txBody>
      </p:sp>
      <p:pic>
        <p:nvPicPr>
          <p:cNvPr id="13" name="Imagen 12">
            <a:extLst>
              <a:ext uri="{FF2B5EF4-FFF2-40B4-BE49-F238E27FC236}">
                <a16:creationId xmlns:a16="http://schemas.microsoft.com/office/drawing/2014/main" id="{3A2B211A-07FE-383D-3040-D49980C2AD54}"/>
              </a:ext>
            </a:extLst>
          </p:cNvPr>
          <p:cNvPicPr>
            <a:picLocks noChangeAspect="1"/>
          </p:cNvPicPr>
          <p:nvPr/>
        </p:nvPicPr>
        <p:blipFill>
          <a:blip r:embed="rId3"/>
          <a:srcRect l="2583" r="7236"/>
          <a:stretch>
            <a:fillRect/>
          </a:stretch>
        </p:blipFill>
        <p:spPr>
          <a:xfrm>
            <a:off x="6811056" y="1410739"/>
            <a:ext cx="4750969" cy="3019180"/>
          </a:xfrm>
          <a:prstGeom prst="rect">
            <a:avLst/>
          </a:prstGeom>
        </p:spPr>
      </p:pic>
      <p:sp>
        <p:nvSpPr>
          <p:cNvPr id="15" name="CuadroTexto 14">
            <a:extLst>
              <a:ext uri="{FF2B5EF4-FFF2-40B4-BE49-F238E27FC236}">
                <a16:creationId xmlns:a16="http://schemas.microsoft.com/office/drawing/2014/main" id="{5E32B4D1-3FE8-041C-85DA-C5B67772E78E}"/>
              </a:ext>
            </a:extLst>
          </p:cNvPr>
          <p:cNvSpPr txBox="1"/>
          <p:nvPr/>
        </p:nvSpPr>
        <p:spPr>
          <a:xfrm>
            <a:off x="490600" y="1724740"/>
            <a:ext cx="6159320" cy="2585323"/>
          </a:xfrm>
          <a:prstGeom prst="rect">
            <a:avLst/>
          </a:prstGeom>
          <a:noFill/>
        </p:spPr>
        <p:txBody>
          <a:bodyPr wrap="square">
            <a:spAutoFit/>
          </a:bodyPr>
          <a:lstStyle/>
          <a:p>
            <a:pPr algn="just"/>
            <a:r>
              <a:rPr lang="es-ES" sz="1800" dirty="0">
                <a:latin typeface="Libre Franklin" pitchFamily="2" charset="0"/>
              </a:rPr>
              <a:t>Desde la publicación del reporte “</a:t>
            </a:r>
            <a:r>
              <a:rPr lang="es-ES" sz="1800" i="1" dirty="0" err="1">
                <a:latin typeface="Libre Franklin" pitchFamily="2" charset="0"/>
              </a:rPr>
              <a:t>Toward</a:t>
            </a:r>
            <a:r>
              <a:rPr lang="es-ES" sz="1800" i="1" dirty="0">
                <a:latin typeface="Libre Franklin" pitchFamily="2" charset="0"/>
              </a:rPr>
              <a:t> a more </a:t>
            </a:r>
            <a:r>
              <a:rPr lang="es-ES" sz="1800" i="1" dirty="0" err="1">
                <a:latin typeface="Libre Franklin" pitchFamily="2" charset="0"/>
              </a:rPr>
              <a:t>accurate</a:t>
            </a:r>
            <a:r>
              <a:rPr lang="es-ES" sz="1800" i="1" dirty="0">
                <a:latin typeface="Libre Franklin" pitchFamily="2" charset="0"/>
              </a:rPr>
              <a:t> </a:t>
            </a:r>
            <a:r>
              <a:rPr lang="es-ES" sz="1800" i="1" dirty="0" err="1">
                <a:latin typeface="Libre Franklin" pitchFamily="2" charset="0"/>
              </a:rPr>
              <a:t>measure</a:t>
            </a:r>
            <a:r>
              <a:rPr lang="es-ES" sz="1800" i="1" dirty="0">
                <a:latin typeface="Libre Franklin" pitchFamily="2" charset="0"/>
              </a:rPr>
              <a:t> </a:t>
            </a:r>
            <a:r>
              <a:rPr lang="es-ES" sz="1800" i="1" dirty="0" err="1">
                <a:latin typeface="Libre Franklin" pitchFamily="2" charset="0"/>
              </a:rPr>
              <a:t>of</a:t>
            </a:r>
            <a:r>
              <a:rPr lang="es-ES" sz="1800" i="1" dirty="0">
                <a:latin typeface="Libre Franklin" pitchFamily="2" charset="0"/>
              </a:rPr>
              <a:t> </a:t>
            </a:r>
            <a:r>
              <a:rPr lang="es-ES" sz="1800" i="1" dirty="0" err="1">
                <a:latin typeface="Libre Franklin" pitchFamily="2" charset="0"/>
              </a:rPr>
              <a:t>the</a:t>
            </a:r>
            <a:r>
              <a:rPr lang="es-ES" sz="1800" i="1" dirty="0">
                <a:latin typeface="Libre Franklin" pitchFamily="2" charset="0"/>
              </a:rPr>
              <a:t> </a:t>
            </a:r>
            <a:r>
              <a:rPr lang="es-ES" sz="1800" i="1" dirty="0" err="1">
                <a:latin typeface="Libre Franklin" pitchFamily="2" charset="0"/>
              </a:rPr>
              <a:t>cost</a:t>
            </a:r>
            <a:r>
              <a:rPr lang="es-ES" sz="1800" i="1" dirty="0">
                <a:latin typeface="Libre Franklin" pitchFamily="2" charset="0"/>
              </a:rPr>
              <a:t> </a:t>
            </a:r>
            <a:r>
              <a:rPr lang="es-ES" sz="1800" i="1" dirty="0" err="1">
                <a:latin typeface="Libre Franklin" pitchFamily="2" charset="0"/>
              </a:rPr>
              <a:t>of</a:t>
            </a:r>
            <a:r>
              <a:rPr lang="es-ES" sz="1800" i="1" dirty="0">
                <a:latin typeface="Libre Franklin" pitchFamily="2" charset="0"/>
              </a:rPr>
              <a:t> living</a:t>
            </a:r>
            <a:r>
              <a:rPr lang="es-ES" sz="1800" dirty="0">
                <a:latin typeface="Libre Franklin" pitchFamily="2" charset="0"/>
              </a:rPr>
              <a:t>” se sabe del sesgo al alza en la medición en la inflación. Pese a los esfuerzos por reducir el sesgo este aun es un problema persistente.</a:t>
            </a:r>
          </a:p>
          <a:p>
            <a:pPr algn="just"/>
            <a:endParaRPr lang="es-ES" dirty="0">
              <a:latin typeface="Libre Franklin" pitchFamily="2" charset="0"/>
            </a:endParaRPr>
          </a:p>
          <a:p>
            <a:pPr algn="just"/>
            <a:r>
              <a:rPr lang="es-ES" dirty="0">
                <a:latin typeface="Libre Franklin" pitchFamily="2" charset="0"/>
              </a:rPr>
              <a:t>Una inflación igual a cero no solo implicaría una mala señal para los agentes, también implica una situación de deflación en la economía.</a:t>
            </a:r>
            <a:endParaRPr lang="es-GT" dirty="0">
              <a:latin typeface="Libre Franklin" pitchFamily="2" charset="0"/>
            </a:endParaRPr>
          </a:p>
        </p:txBody>
      </p:sp>
      <p:sp>
        <p:nvSpPr>
          <p:cNvPr id="16" name="CuadroTexto 15">
            <a:extLst>
              <a:ext uri="{FF2B5EF4-FFF2-40B4-BE49-F238E27FC236}">
                <a16:creationId xmlns:a16="http://schemas.microsoft.com/office/drawing/2014/main" id="{6C7A651E-480B-516A-D489-3D8527CB3DB1}"/>
              </a:ext>
            </a:extLst>
          </p:cNvPr>
          <p:cNvSpPr txBox="1"/>
          <p:nvPr/>
        </p:nvSpPr>
        <p:spPr>
          <a:xfrm>
            <a:off x="7398913" y="4395129"/>
            <a:ext cx="4302487" cy="1015663"/>
          </a:xfrm>
          <a:prstGeom prst="rect">
            <a:avLst/>
          </a:prstGeom>
          <a:noFill/>
        </p:spPr>
        <p:txBody>
          <a:bodyPr wrap="square">
            <a:spAutoFit/>
          </a:bodyPr>
          <a:lstStyle/>
          <a:p>
            <a:pPr algn="just"/>
            <a:r>
              <a:rPr lang="es-ES" sz="1200" dirty="0">
                <a:latin typeface="Libre Franklin" pitchFamily="2" charset="0"/>
              </a:rPr>
              <a:t>Fuente: </a:t>
            </a:r>
            <a:r>
              <a:rPr lang="es-ES" sz="1200" dirty="0" err="1">
                <a:latin typeface="Libre Franklin" pitchFamily="2" charset="0"/>
              </a:rPr>
              <a:t>Measurement</a:t>
            </a:r>
            <a:r>
              <a:rPr lang="es-ES" sz="1200" dirty="0">
                <a:latin typeface="Libre Franklin" pitchFamily="2" charset="0"/>
              </a:rPr>
              <a:t> </a:t>
            </a:r>
            <a:r>
              <a:rPr lang="es-ES" sz="1200" dirty="0" err="1">
                <a:latin typeface="Libre Franklin" pitchFamily="2" charset="0"/>
              </a:rPr>
              <a:t>Errors</a:t>
            </a:r>
            <a:r>
              <a:rPr lang="es-ES" sz="1200" dirty="0">
                <a:latin typeface="Libre Franklin" pitchFamily="2" charset="0"/>
              </a:rPr>
              <a:t> in </a:t>
            </a:r>
            <a:r>
              <a:rPr lang="es-ES" sz="1200" dirty="0" err="1">
                <a:latin typeface="Libre Franklin" pitchFamily="2" charset="0"/>
              </a:rPr>
              <a:t>the</a:t>
            </a:r>
            <a:r>
              <a:rPr lang="es-ES" sz="1200" dirty="0">
                <a:latin typeface="Libre Franklin" pitchFamily="2" charset="0"/>
              </a:rPr>
              <a:t> </a:t>
            </a:r>
            <a:r>
              <a:rPr lang="es-ES" sz="1200" dirty="0" err="1">
                <a:latin typeface="Libre Franklin" pitchFamily="2" charset="0"/>
              </a:rPr>
              <a:t>Consumer</a:t>
            </a:r>
            <a:r>
              <a:rPr lang="es-ES" sz="1200" dirty="0">
                <a:latin typeface="Libre Franklin" pitchFamily="2" charset="0"/>
              </a:rPr>
              <a:t> Price </a:t>
            </a:r>
            <a:r>
              <a:rPr lang="es-ES" sz="1200" dirty="0" err="1">
                <a:latin typeface="Libre Franklin" pitchFamily="2" charset="0"/>
              </a:rPr>
              <a:t>Index</a:t>
            </a:r>
            <a:r>
              <a:rPr lang="es-ES" sz="1200" dirty="0">
                <a:latin typeface="Libre Franklin" pitchFamily="2" charset="0"/>
              </a:rPr>
              <a:t>: </a:t>
            </a:r>
            <a:r>
              <a:rPr lang="es-ES" sz="1200" dirty="0" err="1">
                <a:latin typeface="Libre Franklin" pitchFamily="2" charset="0"/>
              </a:rPr>
              <a:t>Perspetives</a:t>
            </a:r>
            <a:r>
              <a:rPr lang="es-ES" sz="1200" dirty="0">
                <a:latin typeface="Libre Franklin" pitchFamily="2" charset="0"/>
              </a:rPr>
              <a:t> </a:t>
            </a:r>
            <a:r>
              <a:rPr lang="es-ES" sz="1200" dirty="0" err="1">
                <a:latin typeface="Libre Franklin" pitchFamily="2" charset="0"/>
              </a:rPr>
              <a:t>on</a:t>
            </a:r>
            <a:r>
              <a:rPr lang="es-ES" sz="1200" dirty="0">
                <a:latin typeface="Libre Franklin" pitchFamily="2" charset="0"/>
              </a:rPr>
              <a:t> </a:t>
            </a:r>
            <a:r>
              <a:rPr lang="es-ES" sz="1200" dirty="0" err="1">
                <a:latin typeface="Libre Franklin" pitchFamily="2" charset="0"/>
              </a:rPr>
              <a:t>Numerical</a:t>
            </a:r>
            <a:r>
              <a:rPr lang="es-ES" sz="1200" dirty="0">
                <a:latin typeface="Libre Franklin" pitchFamily="2" charset="0"/>
              </a:rPr>
              <a:t> Targets </a:t>
            </a:r>
            <a:r>
              <a:rPr lang="es-ES" sz="1200" dirty="0" err="1">
                <a:latin typeface="Libre Franklin" pitchFamily="2" charset="0"/>
              </a:rPr>
              <a:t>for</a:t>
            </a:r>
            <a:r>
              <a:rPr lang="es-ES" sz="1200" dirty="0">
                <a:latin typeface="Libre Franklin" pitchFamily="2" charset="0"/>
              </a:rPr>
              <a:t> Price </a:t>
            </a:r>
            <a:r>
              <a:rPr lang="es-ES" sz="1200" dirty="0" err="1">
                <a:latin typeface="Libre Franklin" pitchFamily="2" charset="0"/>
              </a:rPr>
              <a:t>Stability</a:t>
            </a:r>
            <a:r>
              <a:rPr lang="es-ES" sz="1200" dirty="0">
                <a:latin typeface="Libre Franklin" pitchFamily="2" charset="0"/>
              </a:rPr>
              <a:t> in </a:t>
            </a:r>
            <a:r>
              <a:rPr lang="es-ES" sz="1200" dirty="0" err="1">
                <a:latin typeface="Libre Franklin" pitchFamily="2" charset="0"/>
              </a:rPr>
              <a:t>Major</a:t>
            </a:r>
            <a:r>
              <a:rPr lang="es-ES" sz="1200" dirty="0">
                <a:latin typeface="Libre Franklin" pitchFamily="2" charset="0"/>
              </a:rPr>
              <a:t> </a:t>
            </a:r>
            <a:r>
              <a:rPr lang="es-ES" sz="1200" dirty="0" err="1">
                <a:latin typeface="Libre Franklin" pitchFamily="2" charset="0"/>
              </a:rPr>
              <a:t>Economies</a:t>
            </a:r>
            <a:r>
              <a:rPr lang="es-ES" sz="1200" dirty="0">
                <a:latin typeface="Libre Franklin" pitchFamily="2" charset="0"/>
              </a:rPr>
              <a:t>. </a:t>
            </a:r>
          </a:p>
          <a:p>
            <a:pPr algn="just"/>
            <a:endParaRPr lang="es-ES" sz="1200" dirty="0">
              <a:latin typeface="Libre Franklin" pitchFamily="2" charset="0"/>
            </a:endParaRPr>
          </a:p>
          <a:p>
            <a:pPr algn="just"/>
            <a:r>
              <a:rPr lang="es-ES" sz="1200" dirty="0">
                <a:latin typeface="Libre Franklin" pitchFamily="2" charset="0"/>
              </a:rPr>
              <a:t>Banco de Japón</a:t>
            </a:r>
            <a:endParaRPr lang="es-GT" sz="1200" dirty="0">
              <a:latin typeface="Libre Franklin" pitchFamily="2" charset="0"/>
            </a:endParaRPr>
          </a:p>
        </p:txBody>
      </p:sp>
    </p:spTree>
    <p:extLst>
      <p:ext uri="{BB962C8B-B14F-4D97-AF65-F5344CB8AC3E}">
        <p14:creationId xmlns:p14="http://schemas.microsoft.com/office/powerpoint/2010/main" val="2440913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F0AAD-ECC2-32BE-DECD-0D9604DA31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900F02-ABC8-21BB-307E-1566DCF51A94}"/>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BEE58B2C-E433-81DA-70CB-142F66D78F98}"/>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4B669E8B-6D95-C7F1-3F5A-CFA3D8C0D3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8D9E3BE8-5C07-C585-EA90-C2BBA38C9D9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Inconvenientes estadísticos de inflación cero</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98A7597A-60A0-AD08-21CB-F17E93085EDA}"/>
              </a:ext>
            </a:extLst>
          </p:cNvPr>
          <p:cNvCxnSpPr>
            <a:cxnSpLocks/>
          </p:cNvCxnSpPr>
          <p:nvPr/>
        </p:nvCxnSpPr>
        <p:spPr>
          <a:xfrm>
            <a:off x="265471" y="730459"/>
            <a:ext cx="7655036"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FC108DCB-15E3-DC3E-70ED-F000A2B1A319}"/>
              </a:ext>
            </a:extLst>
          </p:cNvPr>
          <p:cNvSpPr txBox="1"/>
          <p:nvPr/>
        </p:nvSpPr>
        <p:spPr>
          <a:xfrm>
            <a:off x="490600" y="876271"/>
            <a:ext cx="10818463" cy="4524315"/>
          </a:xfrm>
          <a:prstGeom prst="rect">
            <a:avLst/>
          </a:prstGeom>
          <a:noFill/>
        </p:spPr>
        <p:txBody>
          <a:bodyPr wrap="square" rtlCol="0">
            <a:spAutoFit/>
          </a:bodyPr>
          <a:lstStyle/>
          <a:p>
            <a:r>
              <a:rPr lang="es-ES" sz="2000" b="1" dirty="0">
                <a:latin typeface="Libre Franklin" pitchFamily="2" charset="0"/>
              </a:rPr>
              <a:t>Razones del sesgo hacia el alza</a:t>
            </a:r>
          </a:p>
          <a:p>
            <a:endParaRPr lang="es-ES" sz="1200" dirty="0">
              <a:latin typeface="Libre Franklin" pitchFamily="2" charset="0"/>
            </a:endParaRPr>
          </a:p>
          <a:p>
            <a:pPr marL="360363" lvl="1" algn="just"/>
            <a:r>
              <a:rPr lang="es-GT" b="1" dirty="0">
                <a:latin typeface="Libre Franklin" pitchFamily="2" charset="0"/>
              </a:rPr>
              <a:t>1- Sesgo de sustitución de nivel superior</a:t>
            </a:r>
          </a:p>
          <a:p>
            <a:pPr marL="360363" lvl="1" algn="just"/>
            <a:r>
              <a:rPr lang="es-GT" dirty="0">
                <a:latin typeface="Libre Franklin" pitchFamily="2" charset="0"/>
              </a:rPr>
              <a:t>Ocurre cuando los índices superiores son agregados a partir de los índices de productos mediante promedios ponderados. Por ejemplo si dos productos son sustitutos y el precio de uno aumenta, es natural que suceda un cambio en la demanda hacia el bien más barato. Si la canasta se fija al valor previo al cambio, se da más peso al precio del producto que experimentó el aumento en el precio que a los gastos reales en la fase de agregación para el índice superior.</a:t>
            </a:r>
            <a:endParaRPr lang="es-ES" sz="2000" dirty="0">
              <a:latin typeface="Libre Franklin" pitchFamily="2" charset="0"/>
            </a:endParaRPr>
          </a:p>
          <a:p>
            <a:pPr marL="360363" lvl="1" algn="just"/>
            <a:endParaRPr lang="es-ES" sz="2000" i="1" dirty="0">
              <a:latin typeface="Libre Franklin" pitchFamily="2" charset="0"/>
            </a:endParaRPr>
          </a:p>
          <a:p>
            <a:pPr marL="360363" lvl="1" algn="just"/>
            <a:r>
              <a:rPr lang="es-ES" sz="2000" b="1" dirty="0">
                <a:latin typeface="Libre Franklin" pitchFamily="2" charset="0"/>
              </a:rPr>
              <a:t>2-</a:t>
            </a:r>
            <a:r>
              <a:rPr lang="es-ES" sz="2000" b="1" i="1" dirty="0">
                <a:latin typeface="Libre Franklin" pitchFamily="2" charset="0"/>
              </a:rPr>
              <a:t> Sesgo de sustitución de nivel inferior</a:t>
            </a:r>
          </a:p>
          <a:p>
            <a:pPr marL="360363" lvl="1" algn="just"/>
            <a:r>
              <a:rPr lang="es-GT" dirty="0">
                <a:latin typeface="Libre Franklin" pitchFamily="2" charset="0"/>
              </a:rPr>
              <a:t>Sesgo que ocurre cuando la demanda se desplaza de un bien hacia otro y ambos pertenecen a un mismo índice de artículo. </a:t>
            </a:r>
            <a:r>
              <a:rPr lang="es-ES" dirty="0">
                <a:latin typeface="Libre Franklin" pitchFamily="2" charset="0"/>
              </a:rPr>
              <a:t>En particular, si la gama de cualidades (volumen, marca, función, etc.) de cada bien dentro del mismo índice de artículos es amplia, puede haber  diferencias en el nivel de precios (o nivel del índice) de cada una de las marcas o productos encuestados. En tales casos, cuando se utilizan métodos de agregación como las medias aritméticas simples, se da mayor peso a los movimientos de los precios con niveles de precios o niveles de índice más altos.</a:t>
            </a:r>
            <a:endParaRPr lang="es-MX" dirty="0">
              <a:latin typeface="Libre Franklin" pitchFamily="2" charset="0"/>
            </a:endParaRPr>
          </a:p>
        </p:txBody>
      </p:sp>
    </p:spTree>
    <p:extLst>
      <p:ext uri="{BB962C8B-B14F-4D97-AF65-F5344CB8AC3E}">
        <p14:creationId xmlns:p14="http://schemas.microsoft.com/office/powerpoint/2010/main" val="1525822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F0AAD-ECC2-32BE-DECD-0D9604DA31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900F02-ABC8-21BB-307E-1566DCF51A94}"/>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BEE58B2C-E433-81DA-70CB-142F66D78F98}"/>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4B669E8B-6D95-C7F1-3F5A-CFA3D8C0D3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8D9E3BE8-5C07-C585-EA90-C2BBA38C9D9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Inconvenientes estadísticos de inflación cero</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98A7597A-60A0-AD08-21CB-F17E93085EDA}"/>
              </a:ext>
            </a:extLst>
          </p:cNvPr>
          <p:cNvCxnSpPr>
            <a:cxnSpLocks/>
          </p:cNvCxnSpPr>
          <p:nvPr/>
        </p:nvCxnSpPr>
        <p:spPr>
          <a:xfrm>
            <a:off x="265471" y="730459"/>
            <a:ext cx="7655036"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FC108DCB-15E3-DC3E-70ED-F000A2B1A319}"/>
              </a:ext>
            </a:extLst>
          </p:cNvPr>
          <p:cNvSpPr txBox="1"/>
          <p:nvPr/>
        </p:nvSpPr>
        <p:spPr>
          <a:xfrm>
            <a:off x="490600" y="876271"/>
            <a:ext cx="10818463" cy="3416320"/>
          </a:xfrm>
          <a:prstGeom prst="rect">
            <a:avLst/>
          </a:prstGeom>
          <a:noFill/>
        </p:spPr>
        <p:txBody>
          <a:bodyPr wrap="square" rtlCol="0">
            <a:spAutoFit/>
          </a:bodyPr>
          <a:lstStyle/>
          <a:p>
            <a:r>
              <a:rPr lang="es-ES" sz="2000" b="1" dirty="0">
                <a:latin typeface="Libre Franklin" pitchFamily="2" charset="0"/>
              </a:rPr>
              <a:t>Razones del sesgo hacia el alza</a:t>
            </a:r>
          </a:p>
          <a:p>
            <a:endParaRPr lang="es-ES" sz="1200" dirty="0">
              <a:latin typeface="Libre Franklin" pitchFamily="2" charset="0"/>
            </a:endParaRPr>
          </a:p>
          <a:p>
            <a:pPr marL="360363" lvl="1" algn="just"/>
            <a:r>
              <a:rPr lang="es-GT" b="1" dirty="0">
                <a:latin typeface="Libre Franklin" pitchFamily="2" charset="0"/>
              </a:rPr>
              <a:t>3- Sesgo por productos nuevos</a:t>
            </a:r>
          </a:p>
          <a:p>
            <a:pPr marL="360363" lvl="1" algn="just"/>
            <a:r>
              <a:rPr lang="es-ES" dirty="0">
                <a:latin typeface="Libre Franklin" pitchFamily="2" charset="0"/>
              </a:rPr>
              <a:t>Este sesgo se define como uno de los errores estadísticos asociados con la inclusión continua de productos que han perdido su representatividad, así como con la omisión de nuevas formas de bienes y servicios.</a:t>
            </a:r>
          </a:p>
          <a:p>
            <a:pPr marL="360363" lvl="1" algn="just"/>
            <a:endParaRPr lang="es-ES" sz="2000" i="1" dirty="0">
              <a:latin typeface="Libre Franklin" pitchFamily="2" charset="0"/>
            </a:endParaRPr>
          </a:p>
          <a:p>
            <a:pPr marL="360363" lvl="1" algn="just"/>
            <a:r>
              <a:rPr lang="es-ES" sz="2000" b="1" dirty="0">
                <a:latin typeface="Libre Franklin" pitchFamily="2" charset="0"/>
              </a:rPr>
              <a:t>4-</a:t>
            </a:r>
            <a:r>
              <a:rPr lang="es-ES" sz="2000" b="1" i="1" dirty="0">
                <a:latin typeface="Libre Franklin" pitchFamily="2" charset="0"/>
              </a:rPr>
              <a:t> Sesgo de sustitución de nivel inferior</a:t>
            </a:r>
          </a:p>
          <a:p>
            <a:pPr marL="360363" lvl="1" algn="just"/>
            <a:r>
              <a:rPr lang="es-ES" dirty="0">
                <a:latin typeface="Libre Franklin" pitchFamily="2" charset="0"/>
              </a:rPr>
              <a:t>Es uno de los errores de medición asociados con los cambios en los puntos de comercialización. Este sesgo se produce cuando los consumidores se desplazan hacia puntos de venta y canales de distribución que venden y ofrecen bienes y servicios a precios más bajos y en formatos de venta de mayor calidad, y cuando el IPC no logra captar estos movimientos.</a:t>
            </a:r>
            <a:endParaRPr lang="es-MX" dirty="0">
              <a:latin typeface="Libre Franklin" pitchFamily="2" charset="0"/>
            </a:endParaRPr>
          </a:p>
        </p:txBody>
      </p:sp>
    </p:spTree>
    <p:extLst>
      <p:ext uri="{BB962C8B-B14F-4D97-AF65-F5344CB8AC3E}">
        <p14:creationId xmlns:p14="http://schemas.microsoft.com/office/powerpoint/2010/main" val="183769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C1E0F-3A03-65A1-EAA9-2150EE119E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1DD0DA-3E52-35FA-6008-F1DA6CD45944}"/>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B1D0F4EF-2D98-0191-3B39-63B5D52D1DD5}"/>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2E0DEF24-BB80-82A7-8138-494FBF9BA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ADD180B3-394E-F5B7-5528-22C8C3FB6E23}"/>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Inconvenientes estadísticos de inflación cero</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16C81271-FEEB-0FD9-DC17-5AE6F8772B6E}"/>
              </a:ext>
            </a:extLst>
          </p:cNvPr>
          <p:cNvCxnSpPr>
            <a:cxnSpLocks/>
          </p:cNvCxnSpPr>
          <p:nvPr/>
        </p:nvCxnSpPr>
        <p:spPr>
          <a:xfrm>
            <a:off x="265471" y="730459"/>
            <a:ext cx="7655036"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A345C3F1-0CAB-F332-29D4-4E90E371EDF2}"/>
              </a:ext>
            </a:extLst>
          </p:cNvPr>
          <p:cNvSpPr txBox="1"/>
          <p:nvPr/>
        </p:nvSpPr>
        <p:spPr>
          <a:xfrm>
            <a:off x="490600" y="876271"/>
            <a:ext cx="9899117" cy="400110"/>
          </a:xfrm>
          <a:prstGeom prst="rect">
            <a:avLst/>
          </a:prstGeom>
          <a:noFill/>
        </p:spPr>
        <p:txBody>
          <a:bodyPr wrap="square" rtlCol="0">
            <a:spAutoFit/>
          </a:bodyPr>
          <a:lstStyle/>
          <a:p>
            <a:r>
              <a:rPr lang="es-ES" sz="2000" b="1" dirty="0">
                <a:latin typeface="Libre Franklin" pitchFamily="2" charset="0"/>
              </a:rPr>
              <a:t>Sesgo por calidad de bienes nuevos</a:t>
            </a:r>
            <a:endParaRPr lang="es-ES" sz="2000" dirty="0">
              <a:latin typeface="Libre Franklin" pitchFamily="2" charset="0"/>
            </a:endParaRPr>
          </a:p>
        </p:txBody>
      </p:sp>
      <p:sp>
        <p:nvSpPr>
          <p:cNvPr id="15" name="CuadroTexto 14">
            <a:extLst>
              <a:ext uri="{FF2B5EF4-FFF2-40B4-BE49-F238E27FC236}">
                <a16:creationId xmlns:a16="http://schemas.microsoft.com/office/drawing/2014/main" id="{179600FE-70A4-9038-77A0-06B570D2E1D6}"/>
              </a:ext>
            </a:extLst>
          </p:cNvPr>
          <p:cNvSpPr txBox="1"/>
          <p:nvPr/>
        </p:nvSpPr>
        <p:spPr>
          <a:xfrm>
            <a:off x="490599" y="1522473"/>
            <a:ext cx="10739777" cy="2585323"/>
          </a:xfrm>
          <a:prstGeom prst="rect">
            <a:avLst/>
          </a:prstGeom>
          <a:noFill/>
        </p:spPr>
        <p:txBody>
          <a:bodyPr wrap="square">
            <a:spAutoFit/>
          </a:bodyPr>
          <a:lstStyle/>
          <a:p>
            <a:pPr algn="just"/>
            <a:r>
              <a:rPr lang="es-ES" dirty="0">
                <a:latin typeface="Libre Franklin" pitchFamily="2" charset="0"/>
              </a:rPr>
              <a:t>La correcta medición de la inflación está condicionada por la capacidad de la metodología para capturar cambios en la demanda, así como la calidad de los bienes que se comercian.</a:t>
            </a:r>
          </a:p>
          <a:p>
            <a:pPr algn="just"/>
            <a:endParaRPr lang="es-ES" dirty="0">
              <a:latin typeface="Libre Franklin" pitchFamily="2" charset="0"/>
            </a:endParaRPr>
          </a:p>
          <a:p>
            <a:pPr algn="just"/>
            <a:r>
              <a:rPr lang="es-ES" dirty="0">
                <a:latin typeface="Libre Franklin" pitchFamily="2" charset="0"/>
              </a:rPr>
              <a:t>Este tipo de sesgo sucede cuando la metodología es incapaz de distinguir los incrementos de precios por aumentos en la calidad, de incrementos asociados a presiones inflacionarias. Así, por ejemplo, la inflación podría sobreestimarse si los incrementos en los precios no son ajustados por mejoras en la calidad de los productos.</a:t>
            </a:r>
          </a:p>
          <a:p>
            <a:pPr algn="just"/>
            <a:endParaRPr lang="es-ES" dirty="0">
              <a:latin typeface="Libre Franklin" pitchFamily="2" charset="0"/>
            </a:endParaRPr>
          </a:p>
          <a:p>
            <a:pPr algn="just"/>
            <a:r>
              <a:rPr lang="es-ES" dirty="0">
                <a:latin typeface="Libre Franklin" pitchFamily="2" charset="0"/>
              </a:rPr>
              <a:t>Mantener la inflación objetivo a cero hace susceptible la medición del IPC ante este tipo de sesgo.</a:t>
            </a:r>
            <a:endParaRPr lang="es-GT" dirty="0">
              <a:latin typeface="Libre Franklin" pitchFamily="2" charset="0"/>
            </a:endParaRPr>
          </a:p>
        </p:txBody>
      </p:sp>
    </p:spTree>
    <p:extLst>
      <p:ext uri="{BB962C8B-B14F-4D97-AF65-F5344CB8AC3E}">
        <p14:creationId xmlns:p14="http://schemas.microsoft.com/office/powerpoint/2010/main" val="1952798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3CF66-944B-B561-38B7-8DB736A4C1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7F04B3B-3B77-3927-F643-CADCB5CB6A07}"/>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80877F59-70BB-4F09-BE77-618E736FCE45}"/>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7FA0B3DE-4137-9B06-82DF-EAC23B62AA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7039E571-B296-0C93-28A1-AAE2F9E1937D}"/>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Inconvenientes estadísticos de inflación cero</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9C4DC649-EC50-EA59-04D2-E1B33B9BF05D}"/>
              </a:ext>
            </a:extLst>
          </p:cNvPr>
          <p:cNvCxnSpPr>
            <a:cxnSpLocks/>
          </p:cNvCxnSpPr>
          <p:nvPr/>
        </p:nvCxnSpPr>
        <p:spPr>
          <a:xfrm>
            <a:off x="265471" y="730459"/>
            <a:ext cx="7655036"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133A1198-0B2D-C5C1-E75B-D3FA02C8518C}"/>
              </a:ext>
            </a:extLst>
          </p:cNvPr>
          <p:cNvSpPr txBox="1"/>
          <p:nvPr/>
        </p:nvSpPr>
        <p:spPr>
          <a:xfrm>
            <a:off x="490600" y="876271"/>
            <a:ext cx="9899117" cy="400110"/>
          </a:xfrm>
          <a:prstGeom prst="rect">
            <a:avLst/>
          </a:prstGeom>
          <a:noFill/>
        </p:spPr>
        <p:txBody>
          <a:bodyPr wrap="square" rtlCol="0">
            <a:spAutoFit/>
          </a:bodyPr>
          <a:lstStyle/>
          <a:p>
            <a:r>
              <a:rPr lang="es-ES" sz="2000" b="1" dirty="0">
                <a:latin typeface="Libre Franklin" pitchFamily="2" charset="0"/>
              </a:rPr>
              <a:t>Sesgo por calidad de bienes nuevos</a:t>
            </a:r>
            <a:endParaRPr lang="es-ES" sz="2000" dirty="0">
              <a:latin typeface="Libre Franklin" pitchFamily="2" charset="0"/>
            </a:endParaRPr>
          </a:p>
        </p:txBody>
      </p:sp>
      <p:sp>
        <p:nvSpPr>
          <p:cNvPr id="15" name="CuadroTexto 14">
            <a:extLst>
              <a:ext uri="{FF2B5EF4-FFF2-40B4-BE49-F238E27FC236}">
                <a16:creationId xmlns:a16="http://schemas.microsoft.com/office/drawing/2014/main" id="{61BA88B2-CCD0-DFD2-961F-5CAC23F99EB0}"/>
              </a:ext>
            </a:extLst>
          </p:cNvPr>
          <p:cNvSpPr txBox="1"/>
          <p:nvPr/>
        </p:nvSpPr>
        <p:spPr>
          <a:xfrm>
            <a:off x="5605658" y="1368456"/>
            <a:ext cx="6049722" cy="2585323"/>
          </a:xfrm>
          <a:prstGeom prst="rect">
            <a:avLst/>
          </a:prstGeom>
          <a:noFill/>
        </p:spPr>
        <p:txBody>
          <a:bodyPr wrap="square">
            <a:spAutoFit/>
          </a:bodyPr>
          <a:lstStyle/>
          <a:p>
            <a:pPr algn="just"/>
            <a:r>
              <a:rPr lang="es-ES" dirty="0">
                <a:latin typeface="Libre Franklin" pitchFamily="2" charset="0"/>
              </a:rPr>
              <a:t>En lo que refiere a Guatemala, el INE ha señalado que este ha sido uno de los apartados que tomó en cuenta para la base 2023, indicando que: </a:t>
            </a:r>
          </a:p>
          <a:p>
            <a:pPr algn="just"/>
            <a:endParaRPr lang="es-ES" i="1" dirty="0">
              <a:latin typeface="Libre Franklin" pitchFamily="2" charset="0"/>
            </a:endParaRPr>
          </a:p>
          <a:p>
            <a:pPr algn="just"/>
            <a:r>
              <a:rPr lang="es-ES" i="1" dirty="0">
                <a:latin typeface="Libre Franklin" pitchFamily="2" charset="0"/>
              </a:rPr>
              <a:t>“</a:t>
            </a:r>
            <a:r>
              <a:rPr lang="es-GT" i="1" dirty="0">
                <a:latin typeface="Libre Franklin" pitchFamily="2" charset="0"/>
              </a:rPr>
              <a:t>Para cumplir con la recomendación el INE elaboró un documento de especificaciones para cada bien o servicio, que es de uso interno y se realizó un proceso de capacitación para todo el personal de campo”</a:t>
            </a:r>
          </a:p>
          <a:p>
            <a:endParaRPr lang="es-GT" i="1" dirty="0">
              <a:latin typeface="Libre Franklin" pitchFamily="2" charset="0"/>
            </a:endParaRPr>
          </a:p>
        </p:txBody>
      </p:sp>
      <p:pic>
        <p:nvPicPr>
          <p:cNvPr id="9" name="Imagen 8">
            <a:extLst>
              <a:ext uri="{FF2B5EF4-FFF2-40B4-BE49-F238E27FC236}">
                <a16:creationId xmlns:a16="http://schemas.microsoft.com/office/drawing/2014/main" id="{09DA5230-79CD-0B37-FE0F-3013A3589A1E}"/>
              </a:ext>
            </a:extLst>
          </p:cNvPr>
          <p:cNvPicPr>
            <a:picLocks noChangeAspect="1"/>
          </p:cNvPicPr>
          <p:nvPr/>
        </p:nvPicPr>
        <p:blipFill>
          <a:blip r:embed="rId3"/>
          <a:stretch>
            <a:fillRect/>
          </a:stretch>
        </p:blipFill>
        <p:spPr>
          <a:xfrm>
            <a:off x="418081" y="1368456"/>
            <a:ext cx="5022077" cy="2787765"/>
          </a:xfrm>
          <a:prstGeom prst="rect">
            <a:avLst/>
          </a:prstGeom>
        </p:spPr>
      </p:pic>
      <p:sp>
        <p:nvSpPr>
          <p:cNvPr id="10" name="CuadroTexto 9">
            <a:extLst>
              <a:ext uri="{FF2B5EF4-FFF2-40B4-BE49-F238E27FC236}">
                <a16:creationId xmlns:a16="http://schemas.microsoft.com/office/drawing/2014/main" id="{2644B7C1-71CC-63A2-21F4-6C6550EE22F7}"/>
              </a:ext>
            </a:extLst>
          </p:cNvPr>
          <p:cNvSpPr txBox="1"/>
          <p:nvPr/>
        </p:nvSpPr>
        <p:spPr>
          <a:xfrm>
            <a:off x="413788" y="4124494"/>
            <a:ext cx="4943823" cy="276999"/>
          </a:xfrm>
          <a:prstGeom prst="rect">
            <a:avLst/>
          </a:prstGeom>
          <a:noFill/>
        </p:spPr>
        <p:txBody>
          <a:bodyPr wrap="square">
            <a:spAutoFit/>
          </a:bodyPr>
          <a:lstStyle/>
          <a:p>
            <a:pPr algn="just"/>
            <a:r>
              <a:rPr lang="es-ES" sz="1200" dirty="0">
                <a:latin typeface="Libre Franklin" pitchFamily="2" charset="0"/>
              </a:rPr>
              <a:t>Fuente: Instituto Nacional de Estadística (INE)</a:t>
            </a:r>
            <a:endParaRPr lang="es-GT" sz="1200" dirty="0">
              <a:latin typeface="Libre Franklin" pitchFamily="2" charset="0"/>
            </a:endParaRPr>
          </a:p>
        </p:txBody>
      </p:sp>
    </p:spTree>
    <p:extLst>
      <p:ext uri="{BB962C8B-B14F-4D97-AF65-F5344CB8AC3E}">
        <p14:creationId xmlns:p14="http://schemas.microsoft.com/office/powerpoint/2010/main" val="4036590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FA0C2-07B7-FF77-4014-C96B90F89972}"/>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714356D2-3401-7CC0-D922-B47F1D9E4D74}"/>
              </a:ext>
            </a:extLst>
          </p:cNvPr>
          <p:cNvPicPr>
            <a:picLocks noChangeAspect="1"/>
          </p:cNvPicPr>
          <p:nvPr/>
        </p:nvPicPr>
        <p:blipFill>
          <a:blip r:embed="rId3"/>
          <a:stretch>
            <a:fillRect/>
          </a:stretch>
        </p:blipFill>
        <p:spPr>
          <a:xfrm>
            <a:off x="-1" y="0"/>
            <a:ext cx="12208956" cy="6858000"/>
          </a:xfrm>
          <a:prstGeom prst="rect">
            <a:avLst/>
          </a:prstGeom>
        </p:spPr>
      </p:pic>
      <p:sp>
        <p:nvSpPr>
          <p:cNvPr id="4" name="CuadroTexto 3">
            <a:extLst>
              <a:ext uri="{FF2B5EF4-FFF2-40B4-BE49-F238E27FC236}">
                <a16:creationId xmlns:a16="http://schemas.microsoft.com/office/drawing/2014/main" id="{5E7A8AC5-54C2-29E5-96AE-BF39D1DF35E0}"/>
              </a:ext>
            </a:extLst>
          </p:cNvPr>
          <p:cNvSpPr txBox="1"/>
          <p:nvPr/>
        </p:nvSpPr>
        <p:spPr>
          <a:xfrm>
            <a:off x="3367825" y="2274838"/>
            <a:ext cx="5364049" cy="2308324"/>
          </a:xfrm>
          <a:prstGeom prst="rect">
            <a:avLst/>
          </a:prstGeom>
          <a:noFill/>
        </p:spPr>
        <p:txBody>
          <a:bodyPr wrap="square" rtlCol="0">
            <a:spAutoFit/>
          </a:bodyPr>
          <a:lstStyle/>
          <a:p>
            <a:pPr algn="ctr"/>
            <a:r>
              <a:rPr lang="es-MX" sz="4800" b="1" dirty="0">
                <a:solidFill>
                  <a:schemeClr val="bg1"/>
                </a:solidFill>
                <a:latin typeface="Libre Franklin" pitchFamily="2" charset="0"/>
              </a:rPr>
              <a:t>Argumentos a favor de inflación positiva</a:t>
            </a:r>
          </a:p>
        </p:txBody>
      </p:sp>
    </p:spTree>
    <p:extLst>
      <p:ext uri="{BB962C8B-B14F-4D97-AF65-F5344CB8AC3E}">
        <p14:creationId xmlns:p14="http://schemas.microsoft.com/office/powerpoint/2010/main" val="2821158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423FC-4400-9444-7F14-3C262EFC32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8843A37-25C7-9ADA-FF5F-F9135FE7022F}"/>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85193844-5CDD-7E71-0501-D5CC192D4B06}"/>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C79C6AC4-4583-04F6-1636-C5E07A6329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CFB18E91-8199-4AC3-611E-160BBD7EA8CE}"/>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Argumentos a favor de una inflación positiva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7B58A893-5585-FAF8-3236-E2609A3B686C}"/>
              </a:ext>
            </a:extLst>
          </p:cNvPr>
          <p:cNvCxnSpPr>
            <a:cxnSpLocks/>
          </p:cNvCxnSpPr>
          <p:nvPr/>
        </p:nvCxnSpPr>
        <p:spPr>
          <a:xfrm>
            <a:off x="265471" y="730459"/>
            <a:ext cx="7655036"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937C6AA0-7B94-BE1D-A404-1E916823BC60}"/>
              </a:ext>
            </a:extLst>
          </p:cNvPr>
          <p:cNvSpPr txBox="1"/>
          <p:nvPr/>
        </p:nvSpPr>
        <p:spPr>
          <a:xfrm>
            <a:off x="490600" y="876271"/>
            <a:ext cx="9899117" cy="400110"/>
          </a:xfrm>
          <a:prstGeom prst="rect">
            <a:avLst/>
          </a:prstGeom>
          <a:noFill/>
        </p:spPr>
        <p:txBody>
          <a:bodyPr wrap="square" rtlCol="0">
            <a:spAutoFit/>
          </a:bodyPr>
          <a:lstStyle/>
          <a:p>
            <a:r>
              <a:rPr lang="es-ES" sz="2000" b="1" dirty="0">
                <a:latin typeface="Libre Franklin" pitchFamily="2" charset="0"/>
              </a:rPr>
              <a:t>Reduce las distorsiones en los precios relativos</a:t>
            </a:r>
            <a:endParaRPr lang="es-ES" sz="2000" dirty="0">
              <a:latin typeface="Libre Franklin" pitchFamily="2" charset="0"/>
            </a:endParaRPr>
          </a:p>
        </p:txBody>
      </p:sp>
      <p:sp>
        <p:nvSpPr>
          <p:cNvPr id="15" name="CuadroTexto 14">
            <a:extLst>
              <a:ext uri="{FF2B5EF4-FFF2-40B4-BE49-F238E27FC236}">
                <a16:creationId xmlns:a16="http://schemas.microsoft.com/office/drawing/2014/main" id="{D1A0DD47-6E41-D9E8-0966-9354349F7AD8}"/>
              </a:ext>
            </a:extLst>
          </p:cNvPr>
          <p:cNvSpPr txBox="1"/>
          <p:nvPr/>
        </p:nvSpPr>
        <p:spPr>
          <a:xfrm>
            <a:off x="477591" y="1337807"/>
            <a:ext cx="11396730" cy="2031325"/>
          </a:xfrm>
          <a:prstGeom prst="rect">
            <a:avLst/>
          </a:prstGeom>
          <a:noFill/>
        </p:spPr>
        <p:txBody>
          <a:bodyPr wrap="square">
            <a:spAutoFit/>
          </a:bodyPr>
          <a:lstStyle/>
          <a:p>
            <a:pPr algn="just"/>
            <a:r>
              <a:rPr lang="es-MX" dirty="0">
                <a:latin typeface="Libre Franklin" pitchFamily="2" charset="0"/>
              </a:rPr>
              <a:t>Con bastante regularidad los precios de los productos no se ajustan de forma continua. En contextos de alta inflación o deflación se generan grandes distorsiones en los precios relativos.</a:t>
            </a:r>
          </a:p>
          <a:p>
            <a:pPr algn="just"/>
            <a:endParaRPr lang="es-MX" dirty="0">
              <a:latin typeface="Libre Franklin" pitchFamily="2" charset="0"/>
            </a:endParaRPr>
          </a:p>
          <a:p>
            <a:pPr marL="285750" indent="-285750" algn="just">
              <a:buFont typeface="Arial" panose="020B0604020202020204" pitchFamily="34" charset="0"/>
              <a:buChar char="•"/>
            </a:pPr>
            <a:r>
              <a:rPr lang="es-MX" dirty="0">
                <a:latin typeface="Libre Franklin" pitchFamily="2" charset="0"/>
              </a:rPr>
              <a:t>Si el precio de un bien no se ajusta con suficiente velocidad experimenta caídas de sus precios relativos</a:t>
            </a:r>
          </a:p>
          <a:p>
            <a:pPr algn="just"/>
            <a:endParaRPr lang="es-MX" dirty="0">
              <a:latin typeface="Libre Franklin" pitchFamily="2" charset="0"/>
            </a:endParaRPr>
          </a:p>
          <a:p>
            <a:pPr marL="285750" indent="-285750" algn="just">
              <a:buFont typeface="Arial" panose="020B0604020202020204" pitchFamily="34" charset="0"/>
              <a:buChar char="•"/>
            </a:pPr>
            <a:r>
              <a:rPr lang="es-MX" dirty="0">
                <a:latin typeface="Libre Franklin" pitchFamily="2" charset="0"/>
              </a:rPr>
              <a:t>En contextos inflacionarios las empresas sobre reaccionan elevando los precios al alza anticipando una caída en sus precios relativos.</a:t>
            </a:r>
            <a:endParaRPr lang="es-GT" dirty="0">
              <a:latin typeface="Libre Franklin" pitchFamily="2" charset="0"/>
            </a:endParaRPr>
          </a:p>
        </p:txBody>
      </p:sp>
      <p:sp>
        <p:nvSpPr>
          <p:cNvPr id="5" name="CuadroTexto 4">
            <a:extLst>
              <a:ext uri="{FF2B5EF4-FFF2-40B4-BE49-F238E27FC236}">
                <a16:creationId xmlns:a16="http://schemas.microsoft.com/office/drawing/2014/main" id="{85E7B71F-41C3-F74E-6AEA-E731DBD8928E}"/>
              </a:ext>
            </a:extLst>
          </p:cNvPr>
          <p:cNvSpPr txBox="1"/>
          <p:nvPr/>
        </p:nvSpPr>
        <p:spPr>
          <a:xfrm>
            <a:off x="605307" y="3747978"/>
            <a:ext cx="10837572" cy="369332"/>
          </a:xfrm>
          <a:prstGeom prst="rect">
            <a:avLst/>
          </a:prstGeom>
          <a:noFill/>
        </p:spPr>
        <p:txBody>
          <a:bodyPr wrap="square" rtlCol="0">
            <a:spAutoFit/>
          </a:bodyPr>
          <a:lstStyle/>
          <a:p>
            <a:r>
              <a:rPr lang="es-MX" dirty="0">
                <a:latin typeface="Libre Franklin" pitchFamily="2" charset="0"/>
              </a:rPr>
              <a:t>Ante lo anterior cabe la pregunta </a:t>
            </a:r>
            <a:r>
              <a:rPr lang="es-MX" b="1" i="1" dirty="0">
                <a:latin typeface="Libre Franklin" pitchFamily="2" charset="0"/>
              </a:rPr>
              <a:t>¿Cuál sería la inflación optima que minimice las distorsiones?</a:t>
            </a:r>
          </a:p>
        </p:txBody>
      </p:sp>
    </p:spTree>
    <p:extLst>
      <p:ext uri="{BB962C8B-B14F-4D97-AF65-F5344CB8AC3E}">
        <p14:creationId xmlns:p14="http://schemas.microsoft.com/office/powerpoint/2010/main" val="3735086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4D007-084B-3E92-BF81-CB032CD840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DFD90F-35CE-F96C-BA40-461F696E708E}"/>
              </a:ext>
            </a:extLst>
          </p:cNvPr>
          <p:cNvSpPr>
            <a:spLocks noGrp="1"/>
          </p:cNvSpPr>
          <p:nvPr>
            <p:ph type="ctrTitle"/>
          </p:nvPr>
        </p:nvSpPr>
        <p:spPr>
          <a:xfrm>
            <a:off x="1524000" y="1248491"/>
            <a:ext cx="9144000" cy="2387600"/>
          </a:xfrm>
        </p:spPr>
        <p:txBody>
          <a:bodyPr/>
          <a:lstStyle/>
          <a:p>
            <a:endParaRPr lang="es-GT"/>
          </a:p>
        </p:txBody>
      </p:sp>
      <p:sp>
        <p:nvSpPr>
          <p:cNvPr id="3" name="Subtítulo 2">
            <a:extLst>
              <a:ext uri="{FF2B5EF4-FFF2-40B4-BE49-F238E27FC236}">
                <a16:creationId xmlns:a16="http://schemas.microsoft.com/office/drawing/2014/main" id="{1474319F-3E41-9277-D7FC-DA38D4A2F2E6}"/>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A048BB93-3B73-569C-54B8-EF39CB1366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00EDF731-4829-8B01-3AF0-285EE124002B}"/>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Argumentos a favor de una inflación positiva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8413D6E6-B275-1F80-C826-B606AB130C0C}"/>
              </a:ext>
            </a:extLst>
          </p:cNvPr>
          <p:cNvCxnSpPr>
            <a:cxnSpLocks/>
          </p:cNvCxnSpPr>
          <p:nvPr/>
        </p:nvCxnSpPr>
        <p:spPr>
          <a:xfrm>
            <a:off x="265471" y="730459"/>
            <a:ext cx="7655036"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F366161E-2693-3A6A-CC25-6F081F4DF75B}"/>
              </a:ext>
            </a:extLst>
          </p:cNvPr>
          <p:cNvSpPr txBox="1"/>
          <p:nvPr/>
        </p:nvSpPr>
        <p:spPr>
          <a:xfrm>
            <a:off x="325728" y="1002527"/>
            <a:ext cx="11396730" cy="646331"/>
          </a:xfrm>
          <a:prstGeom prst="rect">
            <a:avLst/>
          </a:prstGeom>
          <a:noFill/>
        </p:spPr>
        <p:txBody>
          <a:bodyPr wrap="square">
            <a:spAutoFit/>
          </a:bodyPr>
          <a:lstStyle/>
          <a:p>
            <a:pPr algn="just"/>
            <a:r>
              <a:rPr lang="es-MX" dirty="0">
                <a:latin typeface="Libre Franklin" pitchFamily="2" charset="0"/>
              </a:rPr>
              <a:t>Trabajos recientes como </a:t>
            </a:r>
            <a:r>
              <a:rPr lang="es-MX" i="1" dirty="0">
                <a:latin typeface="Libre Franklin" pitchFamily="2" charset="0"/>
              </a:rPr>
              <a:t>“</a:t>
            </a:r>
            <a:r>
              <a:rPr lang="en-US" i="1" dirty="0">
                <a:latin typeface="Libre Franklin" pitchFamily="2" charset="0"/>
              </a:rPr>
              <a:t>Why central banks should aim for a positive inflation target</a:t>
            </a:r>
            <a:r>
              <a:rPr lang="es-MX" i="1" dirty="0">
                <a:latin typeface="Libre Franklin" pitchFamily="2" charset="0"/>
              </a:rPr>
              <a:t>”</a:t>
            </a:r>
            <a:r>
              <a:rPr lang="es-MX" dirty="0">
                <a:latin typeface="Libre Franklin" pitchFamily="2" charset="0"/>
              </a:rPr>
              <a:t> proponen un nivel de inflación positiva a través de la siguiente línea argumentativa.</a:t>
            </a:r>
          </a:p>
        </p:txBody>
      </p:sp>
      <p:sp>
        <p:nvSpPr>
          <p:cNvPr id="9" name="CuadroTexto 8">
            <a:extLst>
              <a:ext uri="{FF2B5EF4-FFF2-40B4-BE49-F238E27FC236}">
                <a16:creationId xmlns:a16="http://schemas.microsoft.com/office/drawing/2014/main" id="{70D4B353-B2A7-B21D-063D-599EF185EF45}"/>
              </a:ext>
            </a:extLst>
          </p:cNvPr>
          <p:cNvSpPr txBox="1"/>
          <p:nvPr/>
        </p:nvSpPr>
        <p:spPr>
          <a:xfrm>
            <a:off x="463639" y="1809166"/>
            <a:ext cx="11146665" cy="1291123"/>
          </a:xfrm>
          <a:prstGeom prst="rect">
            <a:avLst/>
          </a:prstGeom>
          <a:noFill/>
        </p:spPr>
        <p:txBody>
          <a:bodyPr wrap="square" rtlCol="0">
            <a:spAutoFit/>
          </a:bodyPr>
          <a:lstStyle/>
          <a:p>
            <a:pPr marL="342900" indent="-342900">
              <a:lnSpc>
                <a:spcPct val="150000"/>
              </a:lnSpc>
              <a:buFont typeface="+mj-lt"/>
              <a:buAutoNum type="arabicPeriod"/>
            </a:pPr>
            <a:r>
              <a:rPr lang="es-MX" dirty="0">
                <a:latin typeface="Libre Franklin" pitchFamily="2" charset="0"/>
              </a:rPr>
              <a:t>Las mejoras tecnológicas aumenta la eficiencia de producción a lo largo de la vida útil de un bien.</a:t>
            </a:r>
          </a:p>
          <a:p>
            <a:pPr marL="342900" indent="-342900">
              <a:lnSpc>
                <a:spcPct val="150000"/>
              </a:lnSpc>
              <a:buFont typeface="+mj-lt"/>
              <a:buAutoNum type="arabicPeriod"/>
            </a:pPr>
            <a:r>
              <a:rPr lang="es-MX" dirty="0">
                <a:latin typeface="Libre Franklin" pitchFamily="2" charset="0"/>
              </a:rPr>
              <a:t>La mejora en la productividad conduce a una caída en los precios relativos.</a:t>
            </a:r>
          </a:p>
          <a:p>
            <a:pPr marL="342900" indent="-342900">
              <a:lnSpc>
                <a:spcPct val="150000"/>
              </a:lnSpc>
              <a:buFont typeface="+mj-lt"/>
              <a:buAutoNum type="arabicPeriod"/>
            </a:pPr>
            <a:r>
              <a:rPr lang="es-MX" dirty="0">
                <a:latin typeface="Libre Franklin" pitchFamily="2" charset="0"/>
              </a:rPr>
              <a:t>En consecuencia existe una tendencia decreciente de precios relativos.</a:t>
            </a:r>
          </a:p>
        </p:txBody>
      </p:sp>
      <p:sp>
        <p:nvSpPr>
          <p:cNvPr id="10" name="CuadroTexto 9">
            <a:extLst>
              <a:ext uri="{FF2B5EF4-FFF2-40B4-BE49-F238E27FC236}">
                <a16:creationId xmlns:a16="http://schemas.microsoft.com/office/drawing/2014/main" id="{CFF62F81-80D5-A60E-BF44-1804B01232D0}"/>
              </a:ext>
            </a:extLst>
          </p:cNvPr>
          <p:cNvSpPr txBox="1"/>
          <p:nvPr/>
        </p:nvSpPr>
        <p:spPr>
          <a:xfrm>
            <a:off x="325728" y="3493572"/>
            <a:ext cx="11396730" cy="923330"/>
          </a:xfrm>
          <a:prstGeom prst="rect">
            <a:avLst/>
          </a:prstGeom>
          <a:noFill/>
        </p:spPr>
        <p:txBody>
          <a:bodyPr wrap="square">
            <a:spAutoFit/>
          </a:bodyPr>
          <a:lstStyle/>
          <a:p>
            <a:pPr algn="just"/>
            <a:r>
              <a:rPr lang="es-MX" dirty="0">
                <a:latin typeface="Libre Franklin" pitchFamily="2" charset="0"/>
              </a:rPr>
              <a:t>Si la inflación es igual a cero y existen bienes cuyos precios no se actualizan con suficiente velocidad, no se materializa la caída </a:t>
            </a:r>
            <a:r>
              <a:rPr lang="es-MX" i="1" dirty="0">
                <a:latin typeface="Libre Franklin" pitchFamily="2" charset="0"/>
              </a:rPr>
              <a:t>“deseada”</a:t>
            </a:r>
            <a:r>
              <a:rPr lang="es-MX" dirty="0">
                <a:latin typeface="Libre Franklin" pitchFamily="2" charset="0"/>
              </a:rPr>
              <a:t> en sus precios relativos. Una inflación positive, pero moderada contribuye a materializar esta tendencia en los precios relativos.</a:t>
            </a:r>
            <a:endParaRPr lang="es-MX" i="1" dirty="0">
              <a:latin typeface="Libre Franklin" pitchFamily="2" charset="0"/>
            </a:endParaRPr>
          </a:p>
        </p:txBody>
      </p:sp>
    </p:spTree>
    <p:extLst>
      <p:ext uri="{BB962C8B-B14F-4D97-AF65-F5344CB8AC3E}">
        <p14:creationId xmlns:p14="http://schemas.microsoft.com/office/powerpoint/2010/main" val="2000954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8DFD3-8687-6243-1AC7-9DF869F75D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D2B7D2-2750-06E7-EC7F-533B1C884C16}"/>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9DD5B005-4BA8-03A3-FCDF-6BB47F78B54D}"/>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57037FB6-FAFC-7752-6115-C5DD3A53E5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D095E91F-B5A3-2872-5750-16FDA7149A76}"/>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Argumentos a favor de una inflación positiva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C65FA05D-961E-042A-4BAB-41B3974B8AB0}"/>
              </a:ext>
            </a:extLst>
          </p:cNvPr>
          <p:cNvCxnSpPr>
            <a:cxnSpLocks/>
          </p:cNvCxnSpPr>
          <p:nvPr/>
        </p:nvCxnSpPr>
        <p:spPr>
          <a:xfrm>
            <a:off x="265471" y="730459"/>
            <a:ext cx="7655036"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47F9BE4E-4AF1-E515-27A8-5BBD88B40CD7}"/>
              </a:ext>
            </a:extLst>
          </p:cNvPr>
          <p:cNvSpPr txBox="1"/>
          <p:nvPr/>
        </p:nvSpPr>
        <p:spPr>
          <a:xfrm>
            <a:off x="490600" y="876271"/>
            <a:ext cx="9899117" cy="400110"/>
          </a:xfrm>
          <a:prstGeom prst="rect">
            <a:avLst/>
          </a:prstGeom>
          <a:noFill/>
        </p:spPr>
        <p:txBody>
          <a:bodyPr wrap="square" rtlCol="0">
            <a:spAutoFit/>
          </a:bodyPr>
          <a:lstStyle/>
          <a:p>
            <a:r>
              <a:rPr lang="es-ES" sz="2000" b="1" dirty="0">
                <a:latin typeface="Libre Franklin" pitchFamily="2" charset="0"/>
              </a:rPr>
              <a:t>Limite inferior cero</a:t>
            </a:r>
            <a:endParaRPr lang="es-ES" sz="2000" dirty="0">
              <a:latin typeface="Libre Franklin" pitchFamily="2" charset="0"/>
            </a:endParaRPr>
          </a:p>
        </p:txBody>
      </p:sp>
      <p:sp>
        <p:nvSpPr>
          <p:cNvPr id="15" name="CuadroTexto 14">
            <a:extLst>
              <a:ext uri="{FF2B5EF4-FFF2-40B4-BE49-F238E27FC236}">
                <a16:creationId xmlns:a16="http://schemas.microsoft.com/office/drawing/2014/main" id="{5991B524-8676-AEF3-E6D1-A2F1F580BFD7}"/>
              </a:ext>
            </a:extLst>
          </p:cNvPr>
          <p:cNvSpPr txBox="1"/>
          <p:nvPr/>
        </p:nvSpPr>
        <p:spPr>
          <a:xfrm>
            <a:off x="477591" y="1337807"/>
            <a:ext cx="11396730" cy="646331"/>
          </a:xfrm>
          <a:prstGeom prst="rect">
            <a:avLst/>
          </a:prstGeom>
          <a:noFill/>
        </p:spPr>
        <p:txBody>
          <a:bodyPr wrap="square">
            <a:spAutoFit/>
          </a:bodyPr>
          <a:lstStyle/>
          <a:p>
            <a:pPr algn="just"/>
            <a:r>
              <a:rPr lang="es-GT" dirty="0">
                <a:latin typeface="Libre Franklin" pitchFamily="2" charset="0"/>
              </a:rPr>
              <a:t>Anterior a la crisis financiera de 2008 este tema no revestía de gran importancia, una vez ocurrida la crisis este tema ha recibido gran atención por parte de los economistas. </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902AFF2-A843-38F8-F34D-6AF6FA7B6F4A}"/>
                  </a:ext>
                </a:extLst>
              </p:cNvPr>
              <p:cNvSpPr txBox="1"/>
              <p:nvPr/>
            </p:nvSpPr>
            <p:spPr>
              <a:xfrm>
                <a:off x="559248" y="2614188"/>
                <a:ext cx="192950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3600" b="0" i="1" smtClean="0">
                          <a:latin typeface="Cambria Math" panose="02040503050406030204" pitchFamily="18" charset="0"/>
                        </a:rPr>
                        <m:t>𝑟</m:t>
                      </m:r>
                      <m:r>
                        <a:rPr lang="es-MX" sz="3600" b="0" i="1" smtClean="0">
                          <a:latin typeface="Cambria Math" panose="02040503050406030204" pitchFamily="18" charset="0"/>
                        </a:rPr>
                        <m:t>=</m:t>
                      </m:r>
                      <m:r>
                        <a:rPr lang="es-MX" sz="3600" b="0" i="1" smtClean="0">
                          <a:latin typeface="Cambria Math" panose="02040503050406030204" pitchFamily="18" charset="0"/>
                        </a:rPr>
                        <m:t>𝑖</m:t>
                      </m:r>
                      <m:r>
                        <a:rPr lang="es-MX" sz="3600" b="0" i="1" smtClean="0">
                          <a:latin typeface="Cambria Math" panose="02040503050406030204" pitchFamily="18" charset="0"/>
                        </a:rPr>
                        <m:t>−</m:t>
                      </m:r>
                      <m:r>
                        <a:rPr lang="es-MX" sz="3600" b="0" i="1" smtClean="0">
                          <a:latin typeface="Cambria Math" panose="02040503050406030204" pitchFamily="18" charset="0"/>
                          <a:ea typeface="Cambria Math" panose="02040503050406030204" pitchFamily="18" charset="0"/>
                        </a:rPr>
                        <m:t>𝜋</m:t>
                      </m:r>
                    </m:oMath>
                  </m:oMathPara>
                </a14:m>
                <a:endParaRPr lang="es-MX" sz="3600" dirty="0"/>
              </a:p>
            </p:txBody>
          </p:sp>
        </mc:Choice>
        <mc:Fallback xmlns="">
          <p:sp>
            <p:nvSpPr>
              <p:cNvPr id="9" name="CuadroTexto 8">
                <a:extLst>
                  <a:ext uri="{FF2B5EF4-FFF2-40B4-BE49-F238E27FC236}">
                    <a16:creationId xmlns:a16="http://schemas.microsoft.com/office/drawing/2014/main" id="{0902AFF2-A843-38F8-F34D-6AF6FA7B6F4A}"/>
                  </a:ext>
                </a:extLst>
              </p:cNvPr>
              <p:cNvSpPr txBox="1">
                <a:spLocks noRot="1" noChangeAspect="1" noMove="1" noResize="1" noEditPoints="1" noAdjustHandles="1" noChangeArrowheads="1" noChangeShapeType="1" noTextEdit="1"/>
              </p:cNvSpPr>
              <p:nvPr/>
            </p:nvSpPr>
            <p:spPr>
              <a:xfrm>
                <a:off x="559248" y="2614188"/>
                <a:ext cx="1929503" cy="553998"/>
              </a:xfrm>
              <a:prstGeom prst="rect">
                <a:avLst/>
              </a:prstGeom>
              <a:blipFill>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7D3ECF0D-67B2-C4FD-EB48-1913454261FD}"/>
                  </a:ext>
                </a:extLst>
              </p:cNvPr>
              <p:cNvSpPr txBox="1"/>
              <p:nvPr/>
            </p:nvSpPr>
            <p:spPr>
              <a:xfrm>
                <a:off x="3105391" y="2270757"/>
                <a:ext cx="2403415" cy="553998"/>
              </a:xfrm>
              <a:prstGeom prst="rect">
                <a:avLst/>
              </a:prstGeom>
              <a:noFill/>
            </p:spPr>
            <p:txBody>
              <a:bodyPr wrap="none" lIns="0" tIns="0" rIns="0" bIns="0" rtlCol="0">
                <a:spAutoFit/>
              </a:bodyPr>
              <a:lstStyle/>
              <a:p>
                <a14:m>
                  <m:oMath xmlns:m="http://schemas.openxmlformats.org/officeDocument/2006/math">
                    <m:r>
                      <a:rPr lang="es-MX" sz="3600" b="0" i="1" smtClean="0">
                        <a:latin typeface="Cambria Math" panose="02040503050406030204" pitchFamily="18" charset="0"/>
                      </a:rPr>
                      <m:t>𝑟</m:t>
                    </m:r>
                  </m:oMath>
                </a14:m>
                <a:r>
                  <a:rPr lang="es-MX" sz="3600" dirty="0"/>
                  <a:t> </a:t>
                </a:r>
                <a:r>
                  <a:rPr lang="es-MX" dirty="0">
                    <a:latin typeface="Libre Franklin" pitchFamily="2" charset="0"/>
                  </a:rPr>
                  <a:t>Tasa de interés real</a:t>
                </a:r>
                <a:endParaRPr lang="es-MX" sz="3600" dirty="0">
                  <a:latin typeface="Libre Franklin" pitchFamily="2" charset="0"/>
                </a:endParaRPr>
              </a:p>
            </p:txBody>
          </p:sp>
        </mc:Choice>
        <mc:Fallback xmlns="">
          <p:sp>
            <p:nvSpPr>
              <p:cNvPr id="10" name="CuadroTexto 9">
                <a:extLst>
                  <a:ext uri="{FF2B5EF4-FFF2-40B4-BE49-F238E27FC236}">
                    <a16:creationId xmlns:a16="http://schemas.microsoft.com/office/drawing/2014/main" id="{7D3ECF0D-67B2-C4FD-EB48-1913454261FD}"/>
                  </a:ext>
                </a:extLst>
              </p:cNvPr>
              <p:cNvSpPr txBox="1">
                <a:spLocks noRot="1" noChangeAspect="1" noMove="1" noResize="1" noEditPoints="1" noAdjustHandles="1" noChangeArrowheads="1" noChangeShapeType="1" noTextEdit="1"/>
              </p:cNvSpPr>
              <p:nvPr/>
            </p:nvSpPr>
            <p:spPr>
              <a:xfrm>
                <a:off x="3105391" y="2270757"/>
                <a:ext cx="2403415" cy="553998"/>
              </a:xfrm>
              <a:prstGeom prst="rect">
                <a:avLst/>
              </a:prstGeom>
              <a:blipFill>
                <a:blip r:embed="rId4"/>
                <a:stretch>
                  <a:fillRect r="-7089" b="-1318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E6CAC45E-33A3-D980-CE60-6D44764D2670}"/>
                  </a:ext>
                </a:extLst>
              </p:cNvPr>
              <p:cNvSpPr txBox="1"/>
              <p:nvPr/>
            </p:nvSpPr>
            <p:spPr>
              <a:xfrm>
                <a:off x="3105391" y="2793848"/>
                <a:ext cx="2784673" cy="553998"/>
              </a:xfrm>
              <a:prstGeom prst="rect">
                <a:avLst/>
              </a:prstGeom>
              <a:noFill/>
            </p:spPr>
            <p:txBody>
              <a:bodyPr wrap="none" lIns="0" tIns="0" rIns="0" bIns="0" rtlCol="0">
                <a:spAutoFit/>
              </a:bodyPr>
              <a:lstStyle/>
              <a:p>
                <a14:m>
                  <m:oMath xmlns:m="http://schemas.openxmlformats.org/officeDocument/2006/math">
                    <m:r>
                      <a:rPr lang="es-MX" sz="3600" b="0" i="1" smtClean="0">
                        <a:latin typeface="Cambria Math" panose="02040503050406030204" pitchFamily="18" charset="0"/>
                      </a:rPr>
                      <m:t>𝑖</m:t>
                    </m:r>
                  </m:oMath>
                </a14:m>
                <a:r>
                  <a:rPr lang="es-MX" sz="3600" dirty="0"/>
                  <a:t> </a:t>
                </a:r>
                <a:r>
                  <a:rPr lang="es-MX" dirty="0">
                    <a:latin typeface="Libre Franklin" pitchFamily="2" charset="0"/>
                  </a:rPr>
                  <a:t>Tasa de interés nominal</a:t>
                </a:r>
                <a:endParaRPr lang="es-MX" sz="3600" dirty="0">
                  <a:latin typeface="Libre Franklin" pitchFamily="2" charset="0"/>
                </a:endParaRPr>
              </a:p>
            </p:txBody>
          </p:sp>
        </mc:Choice>
        <mc:Fallback xmlns="">
          <p:sp>
            <p:nvSpPr>
              <p:cNvPr id="11" name="CuadroTexto 10">
                <a:extLst>
                  <a:ext uri="{FF2B5EF4-FFF2-40B4-BE49-F238E27FC236}">
                    <a16:creationId xmlns:a16="http://schemas.microsoft.com/office/drawing/2014/main" id="{E6CAC45E-33A3-D980-CE60-6D44764D2670}"/>
                  </a:ext>
                </a:extLst>
              </p:cNvPr>
              <p:cNvSpPr txBox="1">
                <a:spLocks noRot="1" noChangeAspect="1" noMove="1" noResize="1" noEditPoints="1" noAdjustHandles="1" noChangeArrowheads="1" noChangeShapeType="1" noTextEdit="1"/>
              </p:cNvSpPr>
              <p:nvPr/>
            </p:nvSpPr>
            <p:spPr>
              <a:xfrm>
                <a:off x="3105391" y="2793848"/>
                <a:ext cx="2784673" cy="553998"/>
              </a:xfrm>
              <a:prstGeom prst="rect">
                <a:avLst/>
              </a:prstGeom>
              <a:blipFill>
                <a:blip r:embed="rId5"/>
                <a:stretch>
                  <a:fillRect r="-6565" b="-1318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8DB201B2-C3FC-51D0-736E-9777D2BEBB13}"/>
                  </a:ext>
                </a:extLst>
              </p:cNvPr>
              <p:cNvSpPr txBox="1"/>
              <p:nvPr/>
            </p:nvSpPr>
            <p:spPr>
              <a:xfrm>
                <a:off x="3105391" y="3280748"/>
                <a:ext cx="2172390" cy="553998"/>
              </a:xfrm>
              <a:prstGeom prst="rect">
                <a:avLst/>
              </a:prstGeom>
              <a:noFill/>
            </p:spPr>
            <p:txBody>
              <a:bodyPr wrap="none" lIns="0" tIns="0" rIns="0" bIns="0" rtlCol="0">
                <a:spAutoFit/>
              </a:bodyPr>
              <a:lstStyle/>
              <a:p>
                <a14:m>
                  <m:oMath xmlns:m="http://schemas.openxmlformats.org/officeDocument/2006/math">
                    <m:r>
                      <a:rPr lang="es-MX" sz="3600" b="0" i="1" smtClean="0">
                        <a:latin typeface="Cambria Math" panose="02040503050406030204" pitchFamily="18" charset="0"/>
                        <a:ea typeface="Cambria Math" panose="02040503050406030204" pitchFamily="18" charset="0"/>
                      </a:rPr>
                      <m:t>𝜋</m:t>
                    </m:r>
                  </m:oMath>
                </a14:m>
                <a:r>
                  <a:rPr lang="es-MX" sz="3600" dirty="0"/>
                  <a:t> </a:t>
                </a:r>
                <a:r>
                  <a:rPr lang="es-MX" dirty="0">
                    <a:latin typeface="Libre Franklin" pitchFamily="2" charset="0"/>
                  </a:rPr>
                  <a:t>Tasa de inflación</a:t>
                </a:r>
                <a:endParaRPr lang="es-MX" sz="3600" dirty="0">
                  <a:latin typeface="Libre Franklin" pitchFamily="2" charset="0"/>
                </a:endParaRPr>
              </a:p>
            </p:txBody>
          </p:sp>
        </mc:Choice>
        <mc:Fallback xmlns="">
          <p:sp>
            <p:nvSpPr>
              <p:cNvPr id="12" name="CuadroTexto 11">
                <a:extLst>
                  <a:ext uri="{FF2B5EF4-FFF2-40B4-BE49-F238E27FC236}">
                    <a16:creationId xmlns:a16="http://schemas.microsoft.com/office/drawing/2014/main" id="{8DB201B2-C3FC-51D0-736E-9777D2BEBB13}"/>
                  </a:ext>
                </a:extLst>
              </p:cNvPr>
              <p:cNvSpPr txBox="1">
                <a:spLocks noRot="1" noChangeAspect="1" noMove="1" noResize="1" noEditPoints="1" noAdjustHandles="1" noChangeArrowheads="1" noChangeShapeType="1" noTextEdit="1"/>
              </p:cNvSpPr>
              <p:nvPr/>
            </p:nvSpPr>
            <p:spPr>
              <a:xfrm>
                <a:off x="3105391" y="3280748"/>
                <a:ext cx="2172390" cy="553998"/>
              </a:xfrm>
              <a:prstGeom prst="rect">
                <a:avLst/>
              </a:prstGeom>
              <a:blipFill>
                <a:blip r:embed="rId6"/>
                <a:stretch>
                  <a:fillRect r="-8403" b="-13187"/>
                </a:stretch>
              </a:blipFill>
            </p:spPr>
            <p:txBody>
              <a:bodyPr/>
              <a:lstStyle/>
              <a:p>
                <a:r>
                  <a:rPr lang="es-MX">
                    <a:noFill/>
                  </a:rPr>
                  <a:t> </a:t>
                </a:r>
              </a:p>
            </p:txBody>
          </p:sp>
        </mc:Fallback>
      </mc:AlternateContent>
      <p:sp>
        <p:nvSpPr>
          <p:cNvPr id="13" name="CuadroTexto 12">
            <a:extLst>
              <a:ext uri="{FF2B5EF4-FFF2-40B4-BE49-F238E27FC236}">
                <a16:creationId xmlns:a16="http://schemas.microsoft.com/office/drawing/2014/main" id="{B8877BE1-96BF-3C3C-8753-DFC1FE4F60F0}"/>
              </a:ext>
            </a:extLst>
          </p:cNvPr>
          <p:cNvSpPr txBox="1"/>
          <p:nvPr/>
        </p:nvSpPr>
        <p:spPr>
          <a:xfrm>
            <a:off x="265471" y="4290739"/>
            <a:ext cx="11396730" cy="923330"/>
          </a:xfrm>
          <a:prstGeom prst="rect">
            <a:avLst/>
          </a:prstGeom>
          <a:noFill/>
        </p:spPr>
        <p:txBody>
          <a:bodyPr wrap="square">
            <a:spAutoFit/>
          </a:bodyPr>
          <a:lstStyle/>
          <a:p>
            <a:pPr algn="just"/>
            <a:r>
              <a:rPr lang="es-GT" dirty="0">
                <a:latin typeface="Libre Franklin" pitchFamily="2" charset="0"/>
              </a:rPr>
              <a:t>Con una inflación objetivo de 0 la política monetaria pierde margen de acción cuando necesita que la tasa de interés real sea negativa, por ejemplo, para estimular la economía en un escenario de recesión o lidiar con episodios deflacionarios.</a:t>
            </a:r>
          </a:p>
        </p:txBody>
      </p:sp>
      <p:sp>
        <p:nvSpPr>
          <p:cNvPr id="14" name="CuadroTexto 13">
            <a:extLst>
              <a:ext uri="{FF2B5EF4-FFF2-40B4-BE49-F238E27FC236}">
                <a16:creationId xmlns:a16="http://schemas.microsoft.com/office/drawing/2014/main" id="{9D47062E-1234-F9E1-F042-BC07EAFF42FB}"/>
              </a:ext>
            </a:extLst>
          </p:cNvPr>
          <p:cNvSpPr txBox="1"/>
          <p:nvPr/>
        </p:nvSpPr>
        <p:spPr>
          <a:xfrm>
            <a:off x="6506704" y="2509569"/>
            <a:ext cx="4698642" cy="1200329"/>
          </a:xfrm>
          <a:prstGeom prst="rect">
            <a:avLst/>
          </a:prstGeom>
          <a:noFill/>
          <a:ln w="12700">
            <a:solidFill>
              <a:srgbClr val="FF7F00"/>
            </a:solidFill>
          </a:ln>
        </p:spPr>
        <p:txBody>
          <a:bodyPr wrap="square">
            <a:spAutoFit/>
          </a:bodyPr>
          <a:lstStyle/>
          <a:p>
            <a:pPr algn="just"/>
            <a:r>
              <a:rPr lang="es-GT" dirty="0">
                <a:latin typeface="Libre Franklin" pitchFamily="2" charset="0"/>
              </a:rPr>
              <a:t>El argumento es sencillo pero poderoso. La tasa de inflación debe ser positiva ya que debe permitir que la tasa de interés real sea negativa en ciertos momentos.</a:t>
            </a:r>
          </a:p>
        </p:txBody>
      </p:sp>
      <p:sp>
        <p:nvSpPr>
          <p:cNvPr id="16" name="Cerrar llave 15">
            <a:extLst>
              <a:ext uri="{FF2B5EF4-FFF2-40B4-BE49-F238E27FC236}">
                <a16:creationId xmlns:a16="http://schemas.microsoft.com/office/drawing/2014/main" id="{B270A1EB-ED0F-6E46-1F40-615F7F8009C7}"/>
              </a:ext>
            </a:extLst>
          </p:cNvPr>
          <p:cNvSpPr/>
          <p:nvPr/>
        </p:nvSpPr>
        <p:spPr>
          <a:xfrm>
            <a:off x="5824915" y="2236095"/>
            <a:ext cx="364901" cy="1922173"/>
          </a:xfrm>
          <a:prstGeom prst="rightBrace">
            <a:avLst>
              <a:gd name="adj1" fmla="val 8333"/>
              <a:gd name="adj2" fmla="val 50000"/>
            </a:avLst>
          </a:prstGeom>
          <a:ln w="12700">
            <a:solidFill>
              <a:srgbClr val="FF7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Tree>
    <p:extLst>
      <p:ext uri="{BB962C8B-B14F-4D97-AF65-F5344CB8AC3E}">
        <p14:creationId xmlns:p14="http://schemas.microsoft.com/office/powerpoint/2010/main" val="2285620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0A21E-BDA5-12C2-3BD3-B79D1721FD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B330E1-B7A6-941D-BAE7-9678C1EA6F28}"/>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C71F94F6-4165-6596-2349-B346439B4469}"/>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CA0CBFC0-B5D7-074E-BB5A-0C81AD0B9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59DAC8F1-4652-4776-0770-829CD15D1341}"/>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Argumentos a favor de una inflación positiva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FF9865B6-0CF1-D5CB-0294-AFD2FE306FF5}"/>
              </a:ext>
            </a:extLst>
          </p:cNvPr>
          <p:cNvCxnSpPr>
            <a:cxnSpLocks/>
          </p:cNvCxnSpPr>
          <p:nvPr/>
        </p:nvCxnSpPr>
        <p:spPr>
          <a:xfrm>
            <a:off x="265471" y="730459"/>
            <a:ext cx="7655036"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pic>
        <p:nvPicPr>
          <p:cNvPr id="19" name="Imagen 18">
            <a:extLst>
              <a:ext uri="{FF2B5EF4-FFF2-40B4-BE49-F238E27FC236}">
                <a16:creationId xmlns:a16="http://schemas.microsoft.com/office/drawing/2014/main" id="{28B1F950-25A8-79F8-B05E-F582D04A9A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33637"/>
            <a:ext cx="12192000" cy="3793066"/>
          </a:xfrm>
          <a:prstGeom prst="rect">
            <a:avLst/>
          </a:prstGeom>
        </p:spPr>
      </p:pic>
      <p:sp>
        <p:nvSpPr>
          <p:cNvPr id="20" name="CuadroTexto 19">
            <a:extLst>
              <a:ext uri="{FF2B5EF4-FFF2-40B4-BE49-F238E27FC236}">
                <a16:creationId xmlns:a16="http://schemas.microsoft.com/office/drawing/2014/main" id="{3528D8C2-0E05-B583-F44E-FCEF9B964E12}"/>
              </a:ext>
            </a:extLst>
          </p:cNvPr>
          <p:cNvSpPr txBox="1"/>
          <p:nvPr/>
        </p:nvSpPr>
        <p:spPr>
          <a:xfrm>
            <a:off x="265471" y="930513"/>
            <a:ext cx="11647487" cy="646331"/>
          </a:xfrm>
          <a:prstGeom prst="rect">
            <a:avLst/>
          </a:prstGeom>
          <a:noFill/>
        </p:spPr>
        <p:txBody>
          <a:bodyPr wrap="square" rtlCol="0">
            <a:spAutoFit/>
          </a:bodyPr>
          <a:lstStyle/>
          <a:p>
            <a:pPr algn="just"/>
            <a:r>
              <a:rPr lang="es-MX" dirty="0">
                <a:latin typeface="Libre Franklin" pitchFamily="2" charset="0"/>
              </a:rPr>
              <a:t>Según </a:t>
            </a:r>
            <a:r>
              <a:rPr lang="es-MX" dirty="0" err="1">
                <a:latin typeface="Libre Franklin" pitchFamily="2" charset="0"/>
              </a:rPr>
              <a:t>Romer</a:t>
            </a:r>
            <a:r>
              <a:rPr lang="es-MX" dirty="0">
                <a:latin typeface="Libre Franklin" pitchFamily="2" charset="0"/>
              </a:rPr>
              <a:t> y </a:t>
            </a:r>
            <a:r>
              <a:rPr lang="es-MX" dirty="0" err="1">
                <a:latin typeface="Libre Franklin" pitchFamily="2" charset="0"/>
              </a:rPr>
              <a:t>Romer</a:t>
            </a:r>
            <a:r>
              <a:rPr lang="es-MX" dirty="0">
                <a:latin typeface="Libre Franklin" pitchFamily="2" charset="0"/>
              </a:rPr>
              <a:t> (1994) Estados Unidos ha reducido tasas de interés durante cada recesión desde el final de la Segunda Guerra Mundial. </a:t>
            </a:r>
          </a:p>
        </p:txBody>
      </p:sp>
      <p:sp>
        <p:nvSpPr>
          <p:cNvPr id="21" name="CuadroTexto 20">
            <a:extLst>
              <a:ext uri="{FF2B5EF4-FFF2-40B4-BE49-F238E27FC236}">
                <a16:creationId xmlns:a16="http://schemas.microsoft.com/office/drawing/2014/main" id="{E6856C2F-57D5-A9F4-1C62-2EE7D953A00C}"/>
              </a:ext>
            </a:extLst>
          </p:cNvPr>
          <p:cNvSpPr txBox="1"/>
          <p:nvPr/>
        </p:nvSpPr>
        <p:spPr>
          <a:xfrm>
            <a:off x="165181" y="5487973"/>
            <a:ext cx="2376152" cy="261610"/>
          </a:xfrm>
          <a:prstGeom prst="rect">
            <a:avLst/>
          </a:prstGeom>
          <a:noFill/>
        </p:spPr>
        <p:txBody>
          <a:bodyPr wrap="square" rtlCol="0">
            <a:spAutoFit/>
          </a:bodyPr>
          <a:lstStyle/>
          <a:p>
            <a:r>
              <a:rPr lang="es-MX" sz="1100" dirty="0">
                <a:latin typeface="Libre Franklin" pitchFamily="2" charset="0"/>
              </a:rPr>
              <a:t>Fuente: FRED</a:t>
            </a:r>
          </a:p>
        </p:txBody>
      </p:sp>
    </p:spTree>
    <p:extLst>
      <p:ext uri="{BB962C8B-B14F-4D97-AF65-F5344CB8AC3E}">
        <p14:creationId xmlns:p14="http://schemas.microsoft.com/office/powerpoint/2010/main" val="173454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BB4CC-A329-A358-14FC-2A109F1F40E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F5B8B6-68BC-62D9-B9A5-0024FBBF89B8}"/>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270D6378-BB85-6724-EB1B-63E961EDFD94}"/>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C41DCC2D-55DE-0D33-5CA4-1EBB10778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1" name="CuadroTexto 20">
            <a:extLst>
              <a:ext uri="{FF2B5EF4-FFF2-40B4-BE49-F238E27FC236}">
                <a16:creationId xmlns:a16="http://schemas.microsoft.com/office/drawing/2014/main" id="{11C12030-4B68-67C9-7D32-B24AF6A62AB6}"/>
              </a:ext>
            </a:extLst>
          </p:cNvPr>
          <p:cNvSpPr txBox="1"/>
          <p:nvPr/>
        </p:nvSpPr>
        <p:spPr>
          <a:xfrm>
            <a:off x="590180" y="5487973"/>
            <a:ext cx="2376152" cy="261610"/>
          </a:xfrm>
          <a:prstGeom prst="rect">
            <a:avLst/>
          </a:prstGeom>
          <a:noFill/>
        </p:spPr>
        <p:txBody>
          <a:bodyPr wrap="square" rtlCol="0">
            <a:spAutoFit/>
          </a:bodyPr>
          <a:lstStyle/>
          <a:p>
            <a:r>
              <a:rPr lang="es-MX" sz="1100" dirty="0">
                <a:latin typeface="Libre Franklin" pitchFamily="2" charset="0"/>
              </a:rPr>
              <a:t>Fuente: FRED</a:t>
            </a:r>
          </a:p>
        </p:txBody>
      </p:sp>
      <p:pic>
        <p:nvPicPr>
          <p:cNvPr id="10" name="Imagen 9" descr="Gráfico, Histograma&#10;&#10;El contenido generado por IA puede ser incorrecto.">
            <a:extLst>
              <a:ext uri="{FF2B5EF4-FFF2-40B4-BE49-F238E27FC236}">
                <a16:creationId xmlns:a16="http://schemas.microsoft.com/office/drawing/2014/main" id="{59CB8F54-7C33-243F-90CB-39A3A5C051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999" y="8795"/>
            <a:ext cx="6203078" cy="2756924"/>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B82E966E-5C0F-0035-BCD7-CFAC23CC5C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3477" y="2713482"/>
            <a:ext cx="6204600" cy="2757600"/>
          </a:xfrm>
          <a:prstGeom prst="rect">
            <a:avLst/>
          </a:prstGeom>
        </p:spPr>
      </p:pic>
      <p:sp>
        <p:nvSpPr>
          <p:cNvPr id="13" name="CuadroTexto 12">
            <a:extLst>
              <a:ext uri="{FF2B5EF4-FFF2-40B4-BE49-F238E27FC236}">
                <a16:creationId xmlns:a16="http://schemas.microsoft.com/office/drawing/2014/main" id="{51A59B87-38AE-C4AE-956E-FA8A51AF88EF}"/>
              </a:ext>
            </a:extLst>
          </p:cNvPr>
          <p:cNvSpPr txBox="1"/>
          <p:nvPr/>
        </p:nvSpPr>
        <p:spPr>
          <a:xfrm>
            <a:off x="6812923" y="909081"/>
            <a:ext cx="4836017" cy="1200329"/>
          </a:xfrm>
          <a:prstGeom prst="rect">
            <a:avLst/>
          </a:prstGeom>
          <a:noFill/>
        </p:spPr>
        <p:txBody>
          <a:bodyPr wrap="square" rtlCol="0">
            <a:spAutoFit/>
          </a:bodyPr>
          <a:lstStyle/>
          <a:p>
            <a:pPr algn="just"/>
            <a:r>
              <a:rPr lang="es-MX" dirty="0">
                <a:latin typeface="Libre Franklin" pitchFamily="2" charset="0"/>
              </a:rPr>
              <a:t>Pero Estados Unidos no ha sido el único, países como Canadá o la Unión Europea también han reducido tu tasa de interés en periodos de recesión.</a:t>
            </a:r>
          </a:p>
        </p:txBody>
      </p:sp>
      <p:sp>
        <p:nvSpPr>
          <p:cNvPr id="15" name="CuadroTexto 14">
            <a:extLst>
              <a:ext uri="{FF2B5EF4-FFF2-40B4-BE49-F238E27FC236}">
                <a16:creationId xmlns:a16="http://schemas.microsoft.com/office/drawing/2014/main" id="{627E649B-7356-F32F-2454-FF0FC91FAA5F}"/>
              </a:ext>
            </a:extLst>
          </p:cNvPr>
          <p:cNvSpPr txBox="1"/>
          <p:nvPr/>
        </p:nvSpPr>
        <p:spPr>
          <a:xfrm>
            <a:off x="6812923" y="3563948"/>
            <a:ext cx="4836017" cy="1477328"/>
          </a:xfrm>
          <a:prstGeom prst="rect">
            <a:avLst/>
          </a:prstGeom>
          <a:noFill/>
        </p:spPr>
        <p:txBody>
          <a:bodyPr wrap="square" rtlCol="0">
            <a:spAutoFit/>
          </a:bodyPr>
          <a:lstStyle/>
          <a:p>
            <a:pPr algn="just"/>
            <a:r>
              <a:rPr lang="es-MX" dirty="0">
                <a:latin typeface="Libre Franklin" pitchFamily="2" charset="0"/>
              </a:rPr>
              <a:t>Como puede notarse, durante la crisis financiera de 2008 las tasas de interés estuvieron muy cercanas a cero. Reduciendo las capacidades de los Banco Centrales de actuar.</a:t>
            </a:r>
          </a:p>
        </p:txBody>
      </p:sp>
    </p:spTree>
    <p:extLst>
      <p:ext uri="{BB962C8B-B14F-4D97-AF65-F5344CB8AC3E}">
        <p14:creationId xmlns:p14="http://schemas.microsoft.com/office/powerpoint/2010/main" val="549976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E0456-9D0A-458C-8A2E-EC9E7705C955}"/>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0D8893AB-0534-4B88-9B3D-6ABA4EB9FE3F}"/>
              </a:ext>
            </a:extLst>
          </p:cNvPr>
          <p:cNvSpPr>
            <a:spLocks noGrp="1"/>
          </p:cNvSpPr>
          <p:nvPr>
            <p:ph type="subTitle" idx="1"/>
          </p:nvPr>
        </p:nvSpPr>
        <p:spPr/>
        <p:txBody>
          <a:bodyPr/>
          <a:lstStyle/>
          <a:p>
            <a:endParaRPr lang="es-GT"/>
          </a:p>
        </p:txBody>
      </p:sp>
      <p:pic>
        <p:nvPicPr>
          <p:cNvPr id="5" name="Imagen 4">
            <a:extLst>
              <a:ext uri="{FF2B5EF4-FFF2-40B4-BE49-F238E27FC236}">
                <a16:creationId xmlns:a16="http://schemas.microsoft.com/office/drawing/2014/main" id="{1DC1C9B3-8822-4405-A159-EE71CDEE81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0"/>
            <a:ext cx="12192000" cy="6858000"/>
          </a:xfrm>
          <a:prstGeom prst="rect">
            <a:avLst/>
          </a:prstGeom>
        </p:spPr>
      </p:pic>
      <p:sp>
        <p:nvSpPr>
          <p:cNvPr id="4" name="CuadroTexto 3">
            <a:extLst>
              <a:ext uri="{FF2B5EF4-FFF2-40B4-BE49-F238E27FC236}">
                <a16:creationId xmlns:a16="http://schemas.microsoft.com/office/drawing/2014/main" id="{FE5E3879-F1BD-BC5E-F1DC-E7E02C5B4EDC}"/>
              </a:ext>
            </a:extLst>
          </p:cNvPr>
          <p:cNvSpPr txBox="1"/>
          <p:nvPr/>
        </p:nvSpPr>
        <p:spPr>
          <a:xfrm>
            <a:off x="7697274" y="1894187"/>
            <a:ext cx="4076163" cy="2862322"/>
          </a:xfrm>
          <a:prstGeom prst="rect">
            <a:avLst/>
          </a:prstGeom>
          <a:noFill/>
        </p:spPr>
        <p:txBody>
          <a:bodyPr wrap="square" rtlCol="0">
            <a:spAutoFit/>
          </a:bodyPr>
          <a:lstStyle/>
          <a:p>
            <a:pPr algn="ctr"/>
            <a:r>
              <a:rPr lang="es-MX" sz="3600" b="1" dirty="0">
                <a:solidFill>
                  <a:schemeClr val="bg1"/>
                </a:solidFill>
                <a:latin typeface="Libre Franklin" pitchFamily="2" charset="0"/>
              </a:rPr>
              <a:t>Meta de inflación en las economías avanzadas y problemas con el límite inferior</a:t>
            </a:r>
          </a:p>
        </p:txBody>
      </p:sp>
      <p:sp>
        <p:nvSpPr>
          <p:cNvPr id="6" name="CuadroTexto 5">
            <a:extLst>
              <a:ext uri="{FF2B5EF4-FFF2-40B4-BE49-F238E27FC236}">
                <a16:creationId xmlns:a16="http://schemas.microsoft.com/office/drawing/2014/main" id="{1D18245E-5F44-C163-3B64-F6EC4EFD90B9}"/>
              </a:ext>
            </a:extLst>
          </p:cNvPr>
          <p:cNvSpPr txBox="1"/>
          <p:nvPr/>
        </p:nvSpPr>
        <p:spPr>
          <a:xfrm>
            <a:off x="418563" y="1092818"/>
            <a:ext cx="6072389" cy="923330"/>
          </a:xfrm>
          <a:prstGeom prst="rect">
            <a:avLst/>
          </a:prstGeom>
          <a:noFill/>
        </p:spPr>
        <p:txBody>
          <a:bodyPr wrap="square" rtlCol="0">
            <a:spAutoFit/>
          </a:bodyPr>
          <a:lstStyle/>
          <a:p>
            <a:pPr algn="just"/>
            <a:r>
              <a:rPr lang="es-MX" dirty="0">
                <a:latin typeface="Libre Franklin" pitchFamily="2" charset="0"/>
              </a:rPr>
              <a:t>Distintos autores han postulado que el riesgo de que las tasas de interés alcancen valores cercanos a cero está relacionado con la meta de inflación.</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E03FA8B1-3267-D914-F04F-13312FC0AE66}"/>
                  </a:ext>
                </a:extLst>
              </p:cNvPr>
              <p:cNvSpPr txBox="1"/>
              <p:nvPr/>
            </p:nvSpPr>
            <p:spPr>
              <a:xfrm>
                <a:off x="1114249" y="2185473"/>
                <a:ext cx="232300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MX" sz="3600" b="0" i="1" smtClean="0">
                              <a:latin typeface="Cambria Math" panose="02040503050406030204" pitchFamily="18" charset="0"/>
                            </a:rPr>
                          </m:ctrlPr>
                        </m:sSupPr>
                        <m:e>
                          <m:r>
                            <a:rPr lang="es-MX" sz="3600" b="0" i="1" smtClean="0">
                              <a:latin typeface="Cambria Math" panose="02040503050406030204" pitchFamily="18" charset="0"/>
                            </a:rPr>
                            <m:t>𝑟</m:t>
                          </m:r>
                        </m:e>
                        <m:sup>
                          <m:r>
                            <a:rPr lang="es-MX" sz="3600" b="0" i="1" smtClean="0">
                              <a:latin typeface="Cambria Math" panose="02040503050406030204" pitchFamily="18" charset="0"/>
                            </a:rPr>
                            <m:t>∗</m:t>
                          </m:r>
                        </m:sup>
                      </m:sSup>
                      <m:r>
                        <a:rPr lang="es-MX" sz="3600" b="0" i="1" smtClean="0">
                          <a:latin typeface="Cambria Math" panose="02040503050406030204" pitchFamily="18" charset="0"/>
                        </a:rPr>
                        <m:t>=</m:t>
                      </m:r>
                      <m:r>
                        <a:rPr lang="es-MX" sz="3600" b="0" i="1" smtClean="0">
                          <a:latin typeface="Cambria Math" panose="02040503050406030204" pitchFamily="18" charset="0"/>
                        </a:rPr>
                        <m:t>𝑖</m:t>
                      </m:r>
                      <m:r>
                        <a:rPr lang="es-MX" sz="3600" b="0" i="1" smtClean="0">
                          <a:latin typeface="Cambria Math" panose="02040503050406030204" pitchFamily="18" charset="0"/>
                        </a:rPr>
                        <m:t>−</m:t>
                      </m:r>
                      <m:sSup>
                        <m:sSupPr>
                          <m:ctrlPr>
                            <a:rPr lang="es-MX" sz="3600" b="0" i="1" smtClean="0">
                              <a:latin typeface="Cambria Math" panose="02040503050406030204" pitchFamily="18" charset="0"/>
                            </a:rPr>
                          </m:ctrlPr>
                        </m:sSupPr>
                        <m:e>
                          <m:r>
                            <a:rPr lang="es-MX" sz="3600" b="0" i="1" smtClean="0">
                              <a:latin typeface="Cambria Math" panose="02040503050406030204" pitchFamily="18" charset="0"/>
                              <a:ea typeface="Cambria Math" panose="02040503050406030204" pitchFamily="18" charset="0"/>
                            </a:rPr>
                            <m:t>𝜋</m:t>
                          </m:r>
                        </m:e>
                        <m:sup>
                          <m:r>
                            <a:rPr lang="es-MX" sz="3600" b="0" i="1" smtClean="0">
                              <a:latin typeface="Cambria Math" panose="02040503050406030204" pitchFamily="18" charset="0"/>
                            </a:rPr>
                            <m:t>∗</m:t>
                          </m:r>
                        </m:sup>
                      </m:sSup>
                    </m:oMath>
                  </m:oMathPara>
                </a14:m>
                <a:endParaRPr lang="es-MX" sz="3600" dirty="0"/>
              </a:p>
            </p:txBody>
          </p:sp>
        </mc:Choice>
        <mc:Fallback xmlns="">
          <p:sp>
            <p:nvSpPr>
              <p:cNvPr id="7" name="CuadroTexto 6">
                <a:extLst>
                  <a:ext uri="{FF2B5EF4-FFF2-40B4-BE49-F238E27FC236}">
                    <a16:creationId xmlns:a16="http://schemas.microsoft.com/office/drawing/2014/main" id="{E03FA8B1-3267-D914-F04F-13312FC0AE66}"/>
                  </a:ext>
                </a:extLst>
              </p:cNvPr>
              <p:cNvSpPr txBox="1">
                <a:spLocks noRot="1" noChangeAspect="1" noMove="1" noResize="1" noEditPoints="1" noAdjustHandles="1" noChangeArrowheads="1" noChangeShapeType="1" noTextEdit="1"/>
              </p:cNvSpPr>
              <p:nvPr/>
            </p:nvSpPr>
            <p:spPr>
              <a:xfrm>
                <a:off x="1114249" y="2185473"/>
                <a:ext cx="2323007" cy="553998"/>
              </a:xfrm>
              <a:prstGeom prst="rect">
                <a:avLst/>
              </a:prstGeom>
              <a:blipFill>
                <a:blip r:embed="rId4"/>
                <a:stretch>
                  <a:fillRect/>
                </a:stretch>
              </a:blipFill>
            </p:spPr>
            <p:txBody>
              <a:bodyPr/>
              <a:lstStyle/>
              <a:p>
                <a:r>
                  <a:rPr lang="es-MX">
                    <a:noFill/>
                  </a:rPr>
                  <a:t> </a:t>
                </a:r>
              </a:p>
            </p:txBody>
          </p:sp>
        </mc:Fallback>
      </mc:AlternateContent>
      <p:sp>
        <p:nvSpPr>
          <p:cNvPr id="8" name="CuadroTexto 7">
            <a:extLst>
              <a:ext uri="{FF2B5EF4-FFF2-40B4-BE49-F238E27FC236}">
                <a16:creationId xmlns:a16="http://schemas.microsoft.com/office/drawing/2014/main" id="{BFD81339-89E2-A2E6-02D5-8F8FA4979664}"/>
              </a:ext>
            </a:extLst>
          </p:cNvPr>
          <p:cNvSpPr txBox="1"/>
          <p:nvPr/>
        </p:nvSpPr>
        <p:spPr>
          <a:xfrm>
            <a:off x="3591288" y="2200862"/>
            <a:ext cx="2152918" cy="523220"/>
          </a:xfrm>
          <a:prstGeom prst="rect">
            <a:avLst/>
          </a:prstGeom>
          <a:noFill/>
        </p:spPr>
        <p:txBody>
          <a:bodyPr wrap="square" rtlCol="0">
            <a:spAutoFit/>
          </a:bodyPr>
          <a:lstStyle/>
          <a:p>
            <a:pPr algn="just"/>
            <a:r>
              <a:rPr lang="es-MX" sz="1400" b="1" dirty="0">
                <a:latin typeface="Libre Franklin" pitchFamily="2" charset="0"/>
              </a:rPr>
              <a:t>* Denota los niveles de largo plazo</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F156CB86-AECC-4E4C-CCC6-8C46B4000E34}"/>
                  </a:ext>
                </a:extLst>
              </p:cNvPr>
              <p:cNvSpPr txBox="1"/>
              <p:nvPr/>
            </p:nvSpPr>
            <p:spPr>
              <a:xfrm>
                <a:off x="418563" y="2962504"/>
                <a:ext cx="6072389" cy="2308324"/>
              </a:xfrm>
              <a:prstGeom prst="rect">
                <a:avLst/>
              </a:prstGeom>
              <a:noFill/>
            </p:spPr>
            <p:txBody>
              <a:bodyPr wrap="square" rtlCol="0">
                <a:spAutoFit/>
              </a:bodyPr>
              <a:lstStyle/>
              <a:p>
                <a:pPr algn="just"/>
                <a:r>
                  <a:rPr lang="es-MX" dirty="0">
                    <a:latin typeface="Libre Franklin" pitchFamily="2" charset="0"/>
                  </a:rPr>
                  <a:t>Así por ejemplo una meta de inflación </a:t>
                </a:r>
                <a14:m>
                  <m:oMath xmlns:m="http://schemas.openxmlformats.org/officeDocument/2006/math">
                    <m:sSup>
                      <m:sSupPr>
                        <m:ctrlPr>
                          <a:rPr lang="es-MX" i="1">
                            <a:latin typeface="Cambria Math" panose="02040503050406030204" pitchFamily="18" charset="0"/>
                          </a:rPr>
                        </m:ctrlPr>
                      </m:sSupPr>
                      <m:e>
                        <m:r>
                          <a:rPr lang="es-MX" i="1">
                            <a:latin typeface="Cambria Math" panose="02040503050406030204" pitchFamily="18" charset="0"/>
                            <a:ea typeface="Cambria Math" panose="02040503050406030204" pitchFamily="18" charset="0"/>
                          </a:rPr>
                          <m:t>𝜋</m:t>
                        </m:r>
                      </m:e>
                      <m:sup>
                        <m:r>
                          <a:rPr lang="es-MX" i="1">
                            <a:latin typeface="Cambria Math" panose="02040503050406030204" pitchFamily="18" charset="0"/>
                          </a:rPr>
                          <m:t>∗</m:t>
                        </m:r>
                      </m:sup>
                    </m:sSup>
                  </m:oMath>
                </a14:m>
                <a:r>
                  <a:rPr lang="es-MX" dirty="0">
                    <a:latin typeface="Libre Franklin" pitchFamily="2" charset="0"/>
                  </a:rPr>
                  <a:t> superior al 2% en las economías avanzadas hubiera dado mayor margen de acción a los bancos centrales.</a:t>
                </a:r>
              </a:p>
              <a:p>
                <a:pPr algn="just"/>
                <a:endParaRPr lang="es-MX" dirty="0">
                  <a:latin typeface="Libre Franklin" pitchFamily="2" charset="0"/>
                </a:endParaRPr>
              </a:p>
              <a:p>
                <a:pPr algn="just"/>
                <a:r>
                  <a:rPr lang="es-MX" dirty="0">
                    <a:latin typeface="Libre Franklin" pitchFamily="2" charset="0"/>
                  </a:rPr>
                  <a:t>Por otro lado, economistas como Olivier Blanchard proponen que de haber sido así, los déficits fiscales hubieran crecido en menor medida durante la crisis financiera de 2008.</a:t>
                </a:r>
              </a:p>
            </p:txBody>
          </p:sp>
        </mc:Choice>
        <mc:Fallback xmlns="">
          <p:sp>
            <p:nvSpPr>
              <p:cNvPr id="9" name="CuadroTexto 8">
                <a:extLst>
                  <a:ext uri="{FF2B5EF4-FFF2-40B4-BE49-F238E27FC236}">
                    <a16:creationId xmlns:a16="http://schemas.microsoft.com/office/drawing/2014/main" id="{F156CB86-AECC-4E4C-CCC6-8C46B4000E34}"/>
                  </a:ext>
                </a:extLst>
              </p:cNvPr>
              <p:cNvSpPr txBox="1">
                <a:spLocks noRot="1" noChangeAspect="1" noMove="1" noResize="1" noEditPoints="1" noAdjustHandles="1" noChangeArrowheads="1" noChangeShapeType="1" noTextEdit="1"/>
              </p:cNvSpPr>
              <p:nvPr/>
            </p:nvSpPr>
            <p:spPr>
              <a:xfrm>
                <a:off x="418563" y="2962504"/>
                <a:ext cx="6072389" cy="2308324"/>
              </a:xfrm>
              <a:prstGeom prst="rect">
                <a:avLst/>
              </a:prstGeom>
              <a:blipFill>
                <a:blip r:embed="rId5"/>
                <a:stretch>
                  <a:fillRect l="-904" t="-1583" r="-1506" b="-3166"/>
                </a:stretch>
              </a:blipFill>
            </p:spPr>
            <p:txBody>
              <a:bodyPr/>
              <a:lstStyle/>
              <a:p>
                <a:r>
                  <a:rPr lang="es-MX">
                    <a:noFill/>
                  </a:rPr>
                  <a:t> </a:t>
                </a:r>
              </a:p>
            </p:txBody>
          </p:sp>
        </mc:Fallback>
      </mc:AlternateContent>
    </p:spTree>
    <p:extLst>
      <p:ext uri="{BB962C8B-B14F-4D97-AF65-F5344CB8AC3E}">
        <p14:creationId xmlns:p14="http://schemas.microsoft.com/office/powerpoint/2010/main" val="808530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DC376-05D2-284E-417B-EFE613171B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2BB140-5F41-B9CC-1841-C69F9E100C95}"/>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C0FD4F0E-EFB1-EC0D-64FF-7F124F59F564}"/>
              </a:ext>
            </a:extLst>
          </p:cNvPr>
          <p:cNvSpPr>
            <a:spLocks noGrp="1"/>
          </p:cNvSpPr>
          <p:nvPr>
            <p:ph type="subTitle" idx="1"/>
          </p:nvPr>
        </p:nvSpPr>
        <p:spPr/>
        <p:txBody>
          <a:bodyPr/>
          <a:lstStyle/>
          <a:p>
            <a:endParaRPr lang="es-GT"/>
          </a:p>
        </p:txBody>
      </p:sp>
      <p:grpSp>
        <p:nvGrpSpPr>
          <p:cNvPr id="12" name="Grupo 11">
            <a:extLst>
              <a:ext uri="{FF2B5EF4-FFF2-40B4-BE49-F238E27FC236}">
                <a16:creationId xmlns:a16="http://schemas.microsoft.com/office/drawing/2014/main" id="{455BBFDE-9155-48BB-9447-B2311D96806C}"/>
              </a:ext>
            </a:extLst>
          </p:cNvPr>
          <p:cNvGrpSpPr/>
          <p:nvPr/>
        </p:nvGrpSpPr>
        <p:grpSpPr>
          <a:xfrm>
            <a:off x="-5902" y="0"/>
            <a:ext cx="12197902" cy="6858000"/>
            <a:chOff x="-5902" y="0"/>
            <a:chExt cx="12197902" cy="6858000"/>
          </a:xfrm>
        </p:grpSpPr>
        <p:pic>
          <p:nvPicPr>
            <p:cNvPr id="6" name="Imagen 5">
              <a:extLst>
                <a:ext uri="{FF2B5EF4-FFF2-40B4-BE49-F238E27FC236}">
                  <a16:creationId xmlns:a16="http://schemas.microsoft.com/office/drawing/2014/main" id="{078930E4-9157-0E54-0011-96912EBF70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ángulo 9">
              <a:extLst>
                <a:ext uri="{FF2B5EF4-FFF2-40B4-BE49-F238E27FC236}">
                  <a16:creationId xmlns:a16="http://schemas.microsoft.com/office/drawing/2014/main" id="{03748724-AF5B-41C4-B51C-0812E9B82675}"/>
                </a:ext>
              </a:extLst>
            </p:cNvPr>
            <p:cNvSpPr/>
            <p:nvPr/>
          </p:nvSpPr>
          <p:spPr>
            <a:xfrm>
              <a:off x="-5902" y="5796850"/>
              <a:ext cx="6642673" cy="193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grpSp>
      <p:grpSp>
        <p:nvGrpSpPr>
          <p:cNvPr id="19" name="Grupo 18">
            <a:extLst>
              <a:ext uri="{FF2B5EF4-FFF2-40B4-BE49-F238E27FC236}">
                <a16:creationId xmlns:a16="http://schemas.microsoft.com/office/drawing/2014/main" id="{DDD48C51-85DE-425D-8728-C696EDAD174A}"/>
              </a:ext>
            </a:extLst>
          </p:cNvPr>
          <p:cNvGrpSpPr/>
          <p:nvPr/>
        </p:nvGrpSpPr>
        <p:grpSpPr>
          <a:xfrm>
            <a:off x="273130" y="74000"/>
            <a:ext cx="6317674" cy="5983900"/>
            <a:chOff x="154378" y="74000"/>
            <a:chExt cx="6317674" cy="5983900"/>
          </a:xfrm>
        </p:grpSpPr>
        <p:pic>
          <p:nvPicPr>
            <p:cNvPr id="14" name="slide2" descr="Hoja 1">
              <a:extLst>
                <a:ext uri="{FF2B5EF4-FFF2-40B4-BE49-F238E27FC236}">
                  <a16:creationId xmlns:a16="http://schemas.microsoft.com/office/drawing/2014/main" id="{D1238DB8-07B8-42B3-9744-000E971B25C4}"/>
                </a:ext>
              </a:extLst>
            </p:cNvPr>
            <p:cNvPicPr>
              <a:picLocks noChangeAspect="1"/>
            </p:cNvPicPr>
            <p:nvPr/>
          </p:nvPicPr>
          <p:blipFill rotWithShape="1">
            <a:blip r:embed="rId3">
              <a:extLst>
                <a:ext uri="{28A0092B-C50C-407E-A947-70E740481C1C}">
                  <a14:useLocalDpi xmlns:a14="http://schemas.microsoft.com/office/drawing/2010/main" val="0"/>
                </a:ext>
              </a:extLst>
            </a:blip>
            <a:srcRect r="14381" b="1987"/>
            <a:stretch/>
          </p:blipFill>
          <p:spPr>
            <a:xfrm>
              <a:off x="227250" y="590317"/>
              <a:ext cx="6244802" cy="5206533"/>
            </a:xfrm>
            <a:prstGeom prst="rect">
              <a:avLst/>
            </a:prstGeom>
          </p:spPr>
        </p:pic>
        <p:sp>
          <p:nvSpPr>
            <p:cNvPr id="15" name="CuadroTexto 14">
              <a:extLst>
                <a:ext uri="{FF2B5EF4-FFF2-40B4-BE49-F238E27FC236}">
                  <a16:creationId xmlns:a16="http://schemas.microsoft.com/office/drawing/2014/main" id="{FCA2F1B9-CDA1-494D-82DC-DDB5A5E1271C}"/>
                </a:ext>
              </a:extLst>
            </p:cNvPr>
            <p:cNvSpPr txBox="1"/>
            <p:nvPr/>
          </p:nvSpPr>
          <p:spPr>
            <a:xfrm>
              <a:off x="154378" y="74000"/>
              <a:ext cx="4732317" cy="584775"/>
            </a:xfrm>
            <a:prstGeom prst="rect">
              <a:avLst/>
            </a:prstGeom>
            <a:noFill/>
          </p:spPr>
          <p:txBody>
            <a:bodyPr wrap="square" rtlCol="0">
              <a:spAutoFit/>
            </a:bodyPr>
            <a:lstStyle/>
            <a:p>
              <a:r>
                <a:rPr lang="es-MX" dirty="0">
                  <a:latin typeface="Libre Franklin" pitchFamily="2" charset="0"/>
                </a:rPr>
                <a:t>Crecimiento de la deuda respecto del PIB</a:t>
              </a:r>
            </a:p>
            <a:p>
              <a:r>
                <a:rPr lang="es-MX" sz="1400" dirty="0">
                  <a:latin typeface="Libre Franklin" pitchFamily="2" charset="0"/>
                </a:rPr>
                <a:t>Puntos porcentuales</a:t>
              </a:r>
              <a:endParaRPr lang="es-GT" dirty="0">
                <a:latin typeface="Libre Franklin" pitchFamily="2" charset="0"/>
              </a:endParaRPr>
            </a:p>
          </p:txBody>
        </p:sp>
        <p:sp>
          <p:nvSpPr>
            <p:cNvPr id="16" name="CuadroTexto 15">
              <a:extLst>
                <a:ext uri="{FF2B5EF4-FFF2-40B4-BE49-F238E27FC236}">
                  <a16:creationId xmlns:a16="http://schemas.microsoft.com/office/drawing/2014/main" id="{F2BA9C8E-07EF-4A7F-A34F-D1A55C8FCC65}"/>
                </a:ext>
              </a:extLst>
            </p:cNvPr>
            <p:cNvSpPr txBox="1"/>
            <p:nvPr/>
          </p:nvSpPr>
          <p:spPr>
            <a:xfrm>
              <a:off x="154378" y="5796290"/>
              <a:ext cx="4732317" cy="261610"/>
            </a:xfrm>
            <a:prstGeom prst="rect">
              <a:avLst/>
            </a:prstGeom>
            <a:noFill/>
          </p:spPr>
          <p:txBody>
            <a:bodyPr wrap="square" rtlCol="0">
              <a:spAutoFit/>
            </a:bodyPr>
            <a:lstStyle/>
            <a:p>
              <a:r>
                <a:rPr lang="es-MX" sz="1050" dirty="0">
                  <a:latin typeface="Libre Franklin" pitchFamily="2" charset="0"/>
                </a:rPr>
                <a:t>Fuente: </a:t>
              </a:r>
              <a:r>
                <a:rPr lang="es-MX" sz="1050" dirty="0" err="1">
                  <a:latin typeface="Libre Franklin" pitchFamily="2" charset="0"/>
                </a:rPr>
                <a:t>World</a:t>
              </a:r>
              <a:r>
                <a:rPr lang="es-MX" sz="1050" dirty="0">
                  <a:latin typeface="Libre Franklin" pitchFamily="2" charset="0"/>
                </a:rPr>
                <a:t> </a:t>
              </a:r>
              <a:r>
                <a:rPr lang="es-MX" sz="1050" dirty="0" err="1">
                  <a:latin typeface="Libre Franklin" pitchFamily="2" charset="0"/>
                </a:rPr>
                <a:t>Economic</a:t>
              </a:r>
              <a:r>
                <a:rPr lang="es-MX" sz="1050" dirty="0">
                  <a:latin typeface="Libre Franklin" pitchFamily="2" charset="0"/>
                </a:rPr>
                <a:t> Outlook IMF, April 2025</a:t>
              </a:r>
              <a:endParaRPr lang="es-GT" sz="1200" dirty="0">
                <a:latin typeface="Libre Franklin" pitchFamily="2" charset="0"/>
              </a:endParaRPr>
            </a:p>
          </p:txBody>
        </p:sp>
      </p:grpSp>
      <p:sp>
        <p:nvSpPr>
          <p:cNvPr id="21" name="CuadroTexto 20">
            <a:extLst>
              <a:ext uri="{FF2B5EF4-FFF2-40B4-BE49-F238E27FC236}">
                <a16:creationId xmlns:a16="http://schemas.microsoft.com/office/drawing/2014/main" id="{E752D445-1649-4F7F-A755-1C39EF115A9D}"/>
              </a:ext>
            </a:extLst>
          </p:cNvPr>
          <p:cNvSpPr txBox="1"/>
          <p:nvPr/>
        </p:nvSpPr>
        <p:spPr>
          <a:xfrm>
            <a:off x="7230537" y="2285642"/>
            <a:ext cx="4031229" cy="1815882"/>
          </a:xfrm>
          <a:prstGeom prst="rect">
            <a:avLst/>
          </a:prstGeom>
          <a:noFill/>
        </p:spPr>
        <p:txBody>
          <a:bodyPr wrap="square">
            <a:spAutoFit/>
          </a:bodyPr>
          <a:lstStyle/>
          <a:p>
            <a:pPr algn="just"/>
            <a:r>
              <a:rPr lang="es-MX" sz="1600" dirty="0">
                <a:latin typeface="Libre Franklin" pitchFamily="2" charset="0"/>
              </a:rPr>
              <a:t>Durante la crisis financiera de 2008, tanto las economías avanzadas (G7) Como las emergentes en américa Latina incrementaron sus niveles de endeudamiento respecto del PIB, aunque fue más severo en las economías avanzadas.</a:t>
            </a:r>
            <a:endParaRPr lang="es-GT" sz="1600" dirty="0"/>
          </a:p>
        </p:txBody>
      </p:sp>
    </p:spTree>
    <p:extLst>
      <p:ext uri="{BB962C8B-B14F-4D97-AF65-F5344CB8AC3E}">
        <p14:creationId xmlns:p14="http://schemas.microsoft.com/office/powerpoint/2010/main" val="4185212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1FFCA-B12A-05DD-9960-35EB7F8DE7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1058C3E-8E2C-CE18-58DF-5BAD4C52A078}"/>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F1E7CD02-3C2B-E3AE-4503-C0DB9CDFBC19}"/>
              </a:ext>
            </a:extLst>
          </p:cNvPr>
          <p:cNvSpPr>
            <a:spLocks noGrp="1"/>
          </p:cNvSpPr>
          <p:nvPr>
            <p:ph type="subTitle" idx="1"/>
          </p:nvPr>
        </p:nvSpPr>
        <p:spPr/>
        <p:txBody>
          <a:bodyPr/>
          <a:lstStyle/>
          <a:p>
            <a:endParaRPr lang="es-GT"/>
          </a:p>
        </p:txBody>
      </p:sp>
      <p:pic>
        <p:nvPicPr>
          <p:cNvPr id="5" name="Imagen 4">
            <a:extLst>
              <a:ext uri="{FF2B5EF4-FFF2-40B4-BE49-F238E27FC236}">
                <a16:creationId xmlns:a16="http://schemas.microsoft.com/office/drawing/2014/main" id="{4BFD13A9-E59F-204B-6AC5-BEE9808D3E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CuadroTexto 3">
            <a:extLst>
              <a:ext uri="{FF2B5EF4-FFF2-40B4-BE49-F238E27FC236}">
                <a16:creationId xmlns:a16="http://schemas.microsoft.com/office/drawing/2014/main" id="{C0A3476C-4C3B-B573-79B6-26F32D218BE8}"/>
              </a:ext>
            </a:extLst>
          </p:cNvPr>
          <p:cNvSpPr txBox="1"/>
          <p:nvPr/>
        </p:nvSpPr>
        <p:spPr>
          <a:xfrm>
            <a:off x="94058" y="2121595"/>
            <a:ext cx="4810259" cy="2308324"/>
          </a:xfrm>
          <a:prstGeom prst="rect">
            <a:avLst/>
          </a:prstGeom>
          <a:noFill/>
        </p:spPr>
        <p:txBody>
          <a:bodyPr wrap="square" rtlCol="0">
            <a:spAutoFit/>
          </a:bodyPr>
          <a:lstStyle/>
          <a:p>
            <a:pPr algn="ctr"/>
            <a:r>
              <a:rPr lang="es-ES" sz="3600" b="1" dirty="0">
                <a:solidFill>
                  <a:schemeClr val="bg1"/>
                </a:solidFill>
                <a:latin typeface="Libre Franklin" pitchFamily="2" charset="0"/>
              </a:rPr>
              <a:t>Discusión en torno a la meta de inflación en economía avanzadas </a:t>
            </a:r>
            <a:endParaRPr lang="es-GT" sz="2400" b="1" dirty="0">
              <a:solidFill>
                <a:schemeClr val="bg1"/>
              </a:solidFill>
              <a:latin typeface="Libre Franklin" pitchFamily="2" charset="0"/>
            </a:endParaRPr>
          </a:p>
        </p:txBody>
      </p:sp>
      <p:sp>
        <p:nvSpPr>
          <p:cNvPr id="6" name="CuadroTexto 5">
            <a:extLst>
              <a:ext uri="{FF2B5EF4-FFF2-40B4-BE49-F238E27FC236}">
                <a16:creationId xmlns:a16="http://schemas.microsoft.com/office/drawing/2014/main" id="{7B4C1375-D1DE-17F8-C88E-CBB3B42B94F2}"/>
              </a:ext>
            </a:extLst>
          </p:cNvPr>
          <p:cNvSpPr txBox="1"/>
          <p:nvPr/>
        </p:nvSpPr>
        <p:spPr>
          <a:xfrm>
            <a:off x="5511964" y="1122363"/>
            <a:ext cx="6072389" cy="4247317"/>
          </a:xfrm>
          <a:prstGeom prst="rect">
            <a:avLst/>
          </a:prstGeom>
          <a:noFill/>
        </p:spPr>
        <p:txBody>
          <a:bodyPr wrap="square" rtlCol="0">
            <a:spAutoFit/>
          </a:bodyPr>
          <a:lstStyle/>
          <a:p>
            <a:pPr algn="just"/>
            <a:r>
              <a:rPr lang="es-MX" dirty="0">
                <a:latin typeface="Libre Franklin" pitchFamily="2" charset="0"/>
              </a:rPr>
              <a:t>Distintos economistas y trabajos han postulado que una meta del 2% no es del todo óptima para una economía argumentando lo siguiente:</a:t>
            </a:r>
          </a:p>
          <a:p>
            <a:pPr algn="just"/>
            <a:endParaRPr lang="es-MX" dirty="0">
              <a:latin typeface="Libre Franklin" pitchFamily="2" charset="0"/>
            </a:endParaRPr>
          </a:p>
          <a:p>
            <a:pPr marL="285750" indent="-285750" algn="just">
              <a:buFont typeface="Arial" panose="020B0604020202020204" pitchFamily="34" charset="0"/>
              <a:buChar char="•"/>
            </a:pPr>
            <a:r>
              <a:rPr lang="es-MX" dirty="0">
                <a:latin typeface="Libre Franklin" pitchFamily="2" charset="0"/>
              </a:rPr>
              <a:t> Una meta mas elevada brinda mayor margen de acción a la política monetaria.</a:t>
            </a:r>
          </a:p>
          <a:p>
            <a:pPr marL="285750" indent="-285750" algn="just">
              <a:buFont typeface="Arial" panose="020B0604020202020204" pitchFamily="34" charset="0"/>
              <a:buChar char="•"/>
            </a:pPr>
            <a:endParaRPr lang="es-MX" dirty="0">
              <a:latin typeface="Libre Franklin" pitchFamily="2" charset="0"/>
            </a:endParaRPr>
          </a:p>
          <a:p>
            <a:pPr marL="285750" indent="-285750" algn="just">
              <a:buFont typeface="Arial" panose="020B0604020202020204" pitchFamily="34" charset="0"/>
              <a:buChar char="•"/>
            </a:pPr>
            <a:r>
              <a:rPr lang="es-MX" dirty="0">
                <a:latin typeface="Libre Franklin" pitchFamily="2" charset="0"/>
              </a:rPr>
              <a:t>Un Banco Central con mayor margen de acción podría reducir la severidad de los periodos de recesión.</a:t>
            </a:r>
          </a:p>
          <a:p>
            <a:pPr marL="285750" indent="-285750" algn="just">
              <a:buFont typeface="Arial" panose="020B0604020202020204" pitchFamily="34" charset="0"/>
              <a:buChar char="•"/>
            </a:pPr>
            <a:endParaRPr lang="es-MX" dirty="0">
              <a:latin typeface="Libre Franklin" pitchFamily="2" charset="0"/>
            </a:endParaRPr>
          </a:p>
          <a:p>
            <a:pPr marL="285750" indent="-285750" algn="just">
              <a:buFont typeface="Arial" panose="020B0604020202020204" pitchFamily="34" charset="0"/>
              <a:buChar char="•"/>
            </a:pPr>
            <a:r>
              <a:rPr lang="es-MX" dirty="0">
                <a:latin typeface="Libre Franklin" pitchFamily="2" charset="0"/>
              </a:rPr>
              <a:t>Bajo contextos inflacionarios bajos los agentes no incorporan la inflación en la toma de decisiones, lo cual los vuelve susceptibles a choques inflacionarios desanclando sus exceptivas con mayor facilidad.</a:t>
            </a:r>
          </a:p>
        </p:txBody>
      </p:sp>
    </p:spTree>
    <p:extLst>
      <p:ext uri="{BB962C8B-B14F-4D97-AF65-F5344CB8AC3E}">
        <p14:creationId xmlns:p14="http://schemas.microsoft.com/office/powerpoint/2010/main" val="1676154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7C53C-70AD-5013-9D50-D69606246E85}"/>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54CCE951-D57B-EE5F-B26E-21BA911003C0}"/>
              </a:ext>
            </a:extLst>
          </p:cNvPr>
          <p:cNvPicPr>
            <a:picLocks noChangeAspect="1"/>
          </p:cNvPicPr>
          <p:nvPr/>
        </p:nvPicPr>
        <p:blipFill>
          <a:blip r:embed="rId3"/>
          <a:stretch>
            <a:fillRect/>
          </a:stretch>
        </p:blipFill>
        <p:spPr>
          <a:xfrm>
            <a:off x="0" y="0"/>
            <a:ext cx="12192000" cy="6848475"/>
          </a:xfrm>
          <a:prstGeom prst="rect">
            <a:avLst/>
          </a:prstGeom>
        </p:spPr>
      </p:pic>
      <p:sp>
        <p:nvSpPr>
          <p:cNvPr id="9" name="CuadroTexto 8">
            <a:extLst>
              <a:ext uri="{FF2B5EF4-FFF2-40B4-BE49-F238E27FC236}">
                <a16:creationId xmlns:a16="http://schemas.microsoft.com/office/drawing/2014/main" id="{858D0594-A903-1530-8BCE-D4BE146B5EE9}"/>
              </a:ext>
            </a:extLst>
          </p:cNvPr>
          <p:cNvSpPr txBox="1"/>
          <p:nvPr/>
        </p:nvSpPr>
        <p:spPr>
          <a:xfrm>
            <a:off x="3503054" y="2166338"/>
            <a:ext cx="5048871" cy="2308324"/>
          </a:xfrm>
          <a:prstGeom prst="rect">
            <a:avLst/>
          </a:prstGeom>
          <a:noFill/>
        </p:spPr>
        <p:txBody>
          <a:bodyPr wrap="square" rtlCol="0">
            <a:spAutoFit/>
          </a:bodyPr>
          <a:lstStyle/>
          <a:p>
            <a:pPr algn="ctr"/>
            <a:r>
              <a:rPr lang="es-ES" sz="3600" b="1" dirty="0">
                <a:solidFill>
                  <a:schemeClr val="bg1"/>
                </a:solidFill>
                <a:latin typeface="Libre Franklin" pitchFamily="2" charset="0"/>
              </a:rPr>
              <a:t>Cambio de meta de inflación y credibilidad del Banco Central</a:t>
            </a:r>
            <a:endParaRPr lang="es-GT" sz="2400" b="1" dirty="0">
              <a:solidFill>
                <a:schemeClr val="bg1"/>
              </a:solidFill>
              <a:latin typeface="Libre Franklin" pitchFamily="2" charset="0"/>
            </a:endParaRPr>
          </a:p>
        </p:txBody>
      </p:sp>
    </p:spTree>
    <p:extLst>
      <p:ext uri="{BB962C8B-B14F-4D97-AF65-F5344CB8AC3E}">
        <p14:creationId xmlns:p14="http://schemas.microsoft.com/office/powerpoint/2010/main" val="1987822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80712-5331-76A0-C704-2F9E400FBF6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FC8177-DCB4-35B7-FCA8-3ADE50980550}"/>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179FBE3F-E28C-451D-21E2-B373F6899F8B}"/>
              </a:ext>
            </a:extLst>
          </p:cNvPr>
          <p:cNvSpPr>
            <a:spLocks noGrp="1"/>
          </p:cNvSpPr>
          <p:nvPr>
            <p:ph type="subTitle" idx="1"/>
          </p:nvPr>
        </p:nvSpPr>
        <p:spPr>
          <a:xfrm>
            <a:off x="1524000" y="3518331"/>
            <a:ext cx="9144000" cy="1655762"/>
          </a:xfrm>
        </p:spPr>
        <p:txBody>
          <a:bodyPr/>
          <a:lstStyle/>
          <a:p>
            <a:endParaRPr lang="es-GT"/>
          </a:p>
        </p:txBody>
      </p:sp>
      <p:grpSp>
        <p:nvGrpSpPr>
          <p:cNvPr id="17" name="Grupo 16">
            <a:extLst>
              <a:ext uri="{FF2B5EF4-FFF2-40B4-BE49-F238E27FC236}">
                <a16:creationId xmlns:a16="http://schemas.microsoft.com/office/drawing/2014/main" id="{53238796-79DF-9183-5BB4-DB12F7D627D8}"/>
              </a:ext>
            </a:extLst>
          </p:cNvPr>
          <p:cNvGrpSpPr/>
          <p:nvPr/>
        </p:nvGrpSpPr>
        <p:grpSpPr>
          <a:xfrm>
            <a:off x="0" y="0"/>
            <a:ext cx="12192000" cy="6858000"/>
            <a:chOff x="0" y="0"/>
            <a:chExt cx="12192000" cy="6858000"/>
          </a:xfrm>
        </p:grpSpPr>
        <p:pic>
          <p:nvPicPr>
            <p:cNvPr id="6" name="Imagen 5">
              <a:extLst>
                <a:ext uri="{FF2B5EF4-FFF2-40B4-BE49-F238E27FC236}">
                  <a16:creationId xmlns:a16="http://schemas.microsoft.com/office/drawing/2014/main" id="{FFA391E8-6802-D900-138F-0EA91DCE48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ángulo 4">
              <a:extLst>
                <a:ext uri="{FF2B5EF4-FFF2-40B4-BE49-F238E27FC236}">
                  <a16:creationId xmlns:a16="http://schemas.microsoft.com/office/drawing/2014/main" id="{BC3EC0D0-158A-7B8C-78BA-92BDAC11B4A0}"/>
                </a:ext>
              </a:extLst>
            </p:cNvPr>
            <p:cNvSpPr/>
            <p:nvPr/>
          </p:nvSpPr>
          <p:spPr>
            <a:xfrm>
              <a:off x="6439" y="5783088"/>
              <a:ext cx="6587544" cy="118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7" name="CuadroTexto 6">
            <a:extLst>
              <a:ext uri="{FF2B5EF4-FFF2-40B4-BE49-F238E27FC236}">
                <a16:creationId xmlns:a16="http://schemas.microsoft.com/office/drawing/2014/main" id="{89D28C65-EF85-167D-85A2-7635757E9C83}"/>
              </a:ext>
            </a:extLst>
          </p:cNvPr>
          <p:cNvSpPr txBox="1"/>
          <p:nvPr/>
        </p:nvSpPr>
        <p:spPr>
          <a:xfrm>
            <a:off x="165181" y="142848"/>
            <a:ext cx="9899117" cy="523220"/>
          </a:xfrm>
          <a:prstGeom prst="rect">
            <a:avLst/>
          </a:prstGeom>
          <a:noFill/>
        </p:spPr>
        <p:txBody>
          <a:bodyPr wrap="square" rtlCol="0">
            <a:spAutoFit/>
          </a:bodyPr>
          <a:lstStyle/>
          <a:p>
            <a:r>
              <a:rPr lang="es-ES" sz="2800" b="1" dirty="0">
                <a:latin typeface="Libre Franklin" pitchFamily="2" charset="0"/>
              </a:rPr>
              <a:t>Condiciones previas a la reducción de la meta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FC8B459D-E446-FAD8-507A-AF56DB776210}"/>
              </a:ext>
            </a:extLst>
          </p:cNvPr>
          <p:cNvCxnSpPr>
            <a:cxnSpLocks/>
          </p:cNvCxnSpPr>
          <p:nvPr/>
        </p:nvCxnSpPr>
        <p:spPr>
          <a:xfrm>
            <a:off x="265471" y="666068"/>
            <a:ext cx="7655036"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C0CEC8F3-3608-FF3A-558F-74A98EB376E5}"/>
              </a:ext>
            </a:extLst>
          </p:cNvPr>
          <p:cNvSpPr txBox="1"/>
          <p:nvPr/>
        </p:nvSpPr>
        <p:spPr>
          <a:xfrm>
            <a:off x="530624" y="1431686"/>
            <a:ext cx="11131578" cy="4493538"/>
          </a:xfrm>
          <a:prstGeom prst="rect">
            <a:avLst/>
          </a:prstGeom>
          <a:noFill/>
        </p:spPr>
        <p:txBody>
          <a:bodyPr wrap="square" rtlCol="0">
            <a:spAutoFit/>
          </a:bodyPr>
          <a:lstStyle/>
          <a:p>
            <a:r>
              <a:rPr lang="es-ES" sz="2000" b="1" dirty="0">
                <a:latin typeface="Libre Franklin" pitchFamily="2" charset="0"/>
              </a:rPr>
              <a:t>Independencia del Banco Central</a:t>
            </a:r>
          </a:p>
          <a:p>
            <a:pPr marL="985838" indent="-985838" algn="just"/>
            <a:r>
              <a:rPr lang="es-ES" sz="2000" dirty="0">
                <a:latin typeface="Libre Franklin" pitchFamily="2" charset="0"/>
              </a:rPr>
              <a:t>	</a:t>
            </a:r>
            <a:r>
              <a:rPr lang="es-ES" dirty="0">
                <a:latin typeface="Libre Franklin" pitchFamily="2" charset="0"/>
              </a:rPr>
              <a:t>El Banco Central debe establecer su política sin intromisión alguna con el propósito de mantener la inflación en el objetivo fijado</a:t>
            </a:r>
            <a:endParaRPr lang="es-ES" sz="2000" dirty="0">
              <a:latin typeface="Libre Franklin" pitchFamily="2" charset="0"/>
            </a:endParaRPr>
          </a:p>
          <a:p>
            <a:endParaRPr lang="es-ES" sz="2000" b="1" dirty="0">
              <a:latin typeface="Libre Franklin" pitchFamily="2" charset="0"/>
            </a:endParaRPr>
          </a:p>
          <a:p>
            <a:r>
              <a:rPr lang="es-ES" sz="2000" b="1" dirty="0">
                <a:latin typeface="Libre Franklin" pitchFamily="2" charset="0"/>
              </a:rPr>
              <a:t>Integración con la política fiscal</a:t>
            </a:r>
          </a:p>
          <a:p>
            <a:pPr marL="985838" algn="just"/>
            <a:r>
              <a:rPr lang="es-ES" dirty="0">
                <a:latin typeface="Libre Franklin" pitchFamily="2" charset="0"/>
              </a:rPr>
              <a:t>La política fiscal no debe contrariar a la monetaria en el sentido de que ambas deben contener la demanda agregada cuando así se requiera.</a:t>
            </a:r>
          </a:p>
          <a:p>
            <a:endParaRPr lang="es-ES" sz="2000" b="1" dirty="0">
              <a:latin typeface="Libre Franklin" pitchFamily="2" charset="0"/>
            </a:endParaRPr>
          </a:p>
          <a:p>
            <a:r>
              <a:rPr lang="es-ES" sz="2000" b="1" dirty="0">
                <a:latin typeface="Libre Franklin" pitchFamily="2" charset="0"/>
              </a:rPr>
              <a:t>Un mecanismo de transmisión fortalecido</a:t>
            </a:r>
          </a:p>
          <a:p>
            <a:pPr marL="985838" algn="just"/>
            <a:r>
              <a:rPr lang="es-ES" dirty="0">
                <a:latin typeface="Libre Franklin" pitchFamily="2" charset="0"/>
              </a:rPr>
              <a:t>Estudios han sugerido que el mecanismo de transmisión en Guatemala es débil y proponen que este se fortalecería mediante el desarrollo del mercado secundario.</a:t>
            </a:r>
          </a:p>
          <a:p>
            <a:endParaRPr lang="es-ES" sz="2000" b="1" dirty="0">
              <a:latin typeface="Libre Franklin" pitchFamily="2" charset="0"/>
            </a:endParaRPr>
          </a:p>
          <a:p>
            <a:r>
              <a:rPr lang="es-ES" sz="2000" b="1" dirty="0">
                <a:latin typeface="Libre Franklin" pitchFamily="2" charset="0"/>
              </a:rPr>
              <a:t>Credibilidad del Banco Central</a:t>
            </a:r>
          </a:p>
          <a:p>
            <a:pPr marL="985838"/>
            <a:r>
              <a:rPr lang="es-ES" dirty="0">
                <a:latin typeface="Libre Franklin" pitchFamily="2" charset="0"/>
              </a:rPr>
              <a:t>Los bancos centrales deben contar con un capital de credibilidad previo a reducir la meta de inflación.</a:t>
            </a:r>
          </a:p>
        </p:txBody>
      </p:sp>
      <p:sp>
        <p:nvSpPr>
          <p:cNvPr id="15" name="CuadroTexto 14">
            <a:extLst>
              <a:ext uri="{FF2B5EF4-FFF2-40B4-BE49-F238E27FC236}">
                <a16:creationId xmlns:a16="http://schemas.microsoft.com/office/drawing/2014/main" id="{F5DD472B-4A98-6AE4-ED72-EB4B3FC4BE11}"/>
              </a:ext>
            </a:extLst>
          </p:cNvPr>
          <p:cNvSpPr txBox="1"/>
          <p:nvPr/>
        </p:nvSpPr>
        <p:spPr>
          <a:xfrm>
            <a:off x="265471" y="753160"/>
            <a:ext cx="11396730" cy="646331"/>
          </a:xfrm>
          <a:prstGeom prst="rect">
            <a:avLst/>
          </a:prstGeom>
          <a:noFill/>
        </p:spPr>
        <p:txBody>
          <a:bodyPr wrap="square">
            <a:spAutoFit/>
          </a:bodyPr>
          <a:lstStyle/>
          <a:p>
            <a:pPr algn="just"/>
            <a:r>
              <a:rPr lang="es-GT" dirty="0">
                <a:latin typeface="Libre Franklin" pitchFamily="2" charset="0"/>
              </a:rPr>
              <a:t>Existen condiciones que deben cumplirse antes que una autoridad monetaria reduzca su metas de inflación. Entre ellas destacan las siguientes: </a:t>
            </a:r>
          </a:p>
        </p:txBody>
      </p:sp>
      <p:cxnSp>
        <p:nvCxnSpPr>
          <p:cNvPr id="18" name="Conector recto 17">
            <a:extLst>
              <a:ext uri="{FF2B5EF4-FFF2-40B4-BE49-F238E27FC236}">
                <a16:creationId xmlns:a16="http://schemas.microsoft.com/office/drawing/2014/main" id="{1F76A3DF-97B5-5377-0C93-52F85735400E}"/>
              </a:ext>
            </a:extLst>
          </p:cNvPr>
          <p:cNvCxnSpPr>
            <a:cxnSpLocks/>
          </p:cNvCxnSpPr>
          <p:nvPr/>
        </p:nvCxnSpPr>
        <p:spPr>
          <a:xfrm>
            <a:off x="438356" y="1624056"/>
            <a:ext cx="144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D3699448-32C7-D74F-2DA1-A0B372A93277}"/>
              </a:ext>
            </a:extLst>
          </p:cNvPr>
          <p:cNvCxnSpPr>
            <a:cxnSpLocks/>
          </p:cNvCxnSpPr>
          <p:nvPr/>
        </p:nvCxnSpPr>
        <p:spPr>
          <a:xfrm>
            <a:off x="458118" y="2819645"/>
            <a:ext cx="144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795E5196-CB0D-FA8D-6F6B-F0B337154E4E}"/>
              </a:ext>
            </a:extLst>
          </p:cNvPr>
          <p:cNvCxnSpPr>
            <a:cxnSpLocks/>
          </p:cNvCxnSpPr>
          <p:nvPr/>
        </p:nvCxnSpPr>
        <p:spPr>
          <a:xfrm>
            <a:off x="458118" y="3954303"/>
            <a:ext cx="144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4C1101AE-5D7E-1D79-71B7-792ED7BA1E60}"/>
              </a:ext>
            </a:extLst>
          </p:cNvPr>
          <p:cNvCxnSpPr>
            <a:cxnSpLocks/>
          </p:cNvCxnSpPr>
          <p:nvPr/>
        </p:nvCxnSpPr>
        <p:spPr>
          <a:xfrm>
            <a:off x="452122" y="5130572"/>
            <a:ext cx="144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0646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C75DC-67BC-9518-D21F-0E740DDCC4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FBB272-C571-645A-36F0-62BD33A7C53F}"/>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BC01979E-F6A0-63FA-37DC-1FF856DADACC}"/>
              </a:ext>
            </a:extLst>
          </p:cNvPr>
          <p:cNvSpPr>
            <a:spLocks noGrp="1"/>
          </p:cNvSpPr>
          <p:nvPr>
            <p:ph type="subTitle" idx="1"/>
          </p:nvPr>
        </p:nvSpPr>
        <p:spPr/>
        <p:txBody>
          <a:bodyPr/>
          <a:lstStyle/>
          <a:p>
            <a:endParaRPr lang="es-GT"/>
          </a:p>
        </p:txBody>
      </p:sp>
      <p:pic>
        <p:nvPicPr>
          <p:cNvPr id="5" name="Imagen 4">
            <a:extLst>
              <a:ext uri="{FF2B5EF4-FFF2-40B4-BE49-F238E27FC236}">
                <a16:creationId xmlns:a16="http://schemas.microsoft.com/office/drawing/2014/main" id="{EB72DE02-BA25-6201-631E-B13C840257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CuadroTexto 3">
            <a:extLst>
              <a:ext uri="{FF2B5EF4-FFF2-40B4-BE49-F238E27FC236}">
                <a16:creationId xmlns:a16="http://schemas.microsoft.com/office/drawing/2014/main" id="{BEC758C3-9BF1-8286-3732-50A6A40C9677}"/>
              </a:ext>
            </a:extLst>
          </p:cNvPr>
          <p:cNvSpPr txBox="1"/>
          <p:nvPr/>
        </p:nvSpPr>
        <p:spPr>
          <a:xfrm>
            <a:off x="-64394" y="2828835"/>
            <a:ext cx="4810259" cy="1200329"/>
          </a:xfrm>
          <a:prstGeom prst="rect">
            <a:avLst/>
          </a:prstGeom>
          <a:noFill/>
        </p:spPr>
        <p:txBody>
          <a:bodyPr wrap="square" rtlCol="0">
            <a:spAutoFit/>
          </a:bodyPr>
          <a:lstStyle/>
          <a:p>
            <a:pPr algn="ctr"/>
            <a:r>
              <a:rPr lang="es-ES" sz="3600" b="1" dirty="0">
                <a:solidFill>
                  <a:schemeClr val="bg1"/>
                </a:solidFill>
                <a:latin typeface="Libre Franklin" pitchFamily="2" charset="0"/>
              </a:rPr>
              <a:t>Credibilidad del Banco Central</a:t>
            </a:r>
            <a:endParaRPr lang="es-GT" sz="2400" b="1" dirty="0">
              <a:solidFill>
                <a:schemeClr val="bg1"/>
              </a:solidFill>
              <a:latin typeface="Libre Franklin" pitchFamily="2" charset="0"/>
            </a:endParaRPr>
          </a:p>
        </p:txBody>
      </p:sp>
      <p:sp>
        <p:nvSpPr>
          <p:cNvPr id="6" name="CuadroTexto 5">
            <a:extLst>
              <a:ext uri="{FF2B5EF4-FFF2-40B4-BE49-F238E27FC236}">
                <a16:creationId xmlns:a16="http://schemas.microsoft.com/office/drawing/2014/main" id="{F4A791EE-AEFE-7664-E4F3-21A27FE1A4F1}"/>
              </a:ext>
            </a:extLst>
          </p:cNvPr>
          <p:cNvSpPr txBox="1"/>
          <p:nvPr/>
        </p:nvSpPr>
        <p:spPr>
          <a:xfrm>
            <a:off x="5647193" y="2491870"/>
            <a:ext cx="6072389" cy="1631216"/>
          </a:xfrm>
          <a:prstGeom prst="rect">
            <a:avLst/>
          </a:prstGeom>
          <a:noFill/>
        </p:spPr>
        <p:txBody>
          <a:bodyPr wrap="square" rtlCol="0">
            <a:spAutoFit/>
          </a:bodyPr>
          <a:lstStyle/>
          <a:p>
            <a:pPr algn="just"/>
            <a:r>
              <a:rPr lang="es-MX" sz="2000" dirty="0">
                <a:latin typeface="Libre Franklin" pitchFamily="2" charset="0"/>
              </a:rPr>
              <a:t>Dentro del actual ambiente macroeconómico consideramos que la credibilidad del Banco Central reviste de especial importancia al momento de considerar una revisión hacia la baja de la meta de inflación.</a:t>
            </a:r>
          </a:p>
        </p:txBody>
      </p:sp>
    </p:spTree>
    <p:extLst>
      <p:ext uri="{BB962C8B-B14F-4D97-AF65-F5344CB8AC3E}">
        <p14:creationId xmlns:p14="http://schemas.microsoft.com/office/powerpoint/2010/main" val="22551673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7B5F2-10A4-C994-7BE9-EBB95B0CD56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5F934F-126C-7A14-4B96-23967A787695}"/>
              </a:ext>
            </a:extLst>
          </p:cNvPr>
          <p:cNvSpPr>
            <a:spLocks noGrp="1"/>
          </p:cNvSpPr>
          <p:nvPr>
            <p:ph type="ctrTitle"/>
          </p:nvPr>
        </p:nvSpPr>
        <p:spPr/>
        <p:txBody>
          <a:bodyPr/>
          <a:lstStyle/>
          <a:p>
            <a:endParaRPr lang="es-GT"/>
          </a:p>
        </p:txBody>
      </p:sp>
      <p:grpSp>
        <p:nvGrpSpPr>
          <p:cNvPr id="17" name="Grupo 16">
            <a:extLst>
              <a:ext uri="{FF2B5EF4-FFF2-40B4-BE49-F238E27FC236}">
                <a16:creationId xmlns:a16="http://schemas.microsoft.com/office/drawing/2014/main" id="{9F6CE7F6-C99E-0676-6DF0-1D4A26BFE35B}"/>
              </a:ext>
            </a:extLst>
          </p:cNvPr>
          <p:cNvGrpSpPr/>
          <p:nvPr/>
        </p:nvGrpSpPr>
        <p:grpSpPr>
          <a:xfrm>
            <a:off x="0" y="0"/>
            <a:ext cx="12192000" cy="6858000"/>
            <a:chOff x="0" y="0"/>
            <a:chExt cx="12192000" cy="6858000"/>
          </a:xfrm>
        </p:grpSpPr>
        <p:pic>
          <p:nvPicPr>
            <p:cNvPr id="6" name="Imagen 5">
              <a:extLst>
                <a:ext uri="{FF2B5EF4-FFF2-40B4-BE49-F238E27FC236}">
                  <a16:creationId xmlns:a16="http://schemas.microsoft.com/office/drawing/2014/main" id="{F507F8F0-65C3-3468-542F-653F5AAEB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ángulo 4">
              <a:extLst>
                <a:ext uri="{FF2B5EF4-FFF2-40B4-BE49-F238E27FC236}">
                  <a16:creationId xmlns:a16="http://schemas.microsoft.com/office/drawing/2014/main" id="{573F1218-1F16-2BA6-162F-2EF7E54148EF}"/>
                </a:ext>
              </a:extLst>
            </p:cNvPr>
            <p:cNvSpPr/>
            <p:nvPr/>
          </p:nvSpPr>
          <p:spPr>
            <a:xfrm>
              <a:off x="6439" y="5783088"/>
              <a:ext cx="6587544" cy="118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7" name="CuadroTexto 6">
            <a:extLst>
              <a:ext uri="{FF2B5EF4-FFF2-40B4-BE49-F238E27FC236}">
                <a16:creationId xmlns:a16="http://schemas.microsoft.com/office/drawing/2014/main" id="{A6B3F45E-BA7B-CE0C-35A8-3228A89353B8}"/>
              </a:ext>
            </a:extLst>
          </p:cNvPr>
          <p:cNvSpPr txBox="1"/>
          <p:nvPr/>
        </p:nvSpPr>
        <p:spPr>
          <a:xfrm>
            <a:off x="165181" y="142848"/>
            <a:ext cx="9899117" cy="523220"/>
          </a:xfrm>
          <a:prstGeom prst="rect">
            <a:avLst/>
          </a:prstGeom>
          <a:noFill/>
        </p:spPr>
        <p:txBody>
          <a:bodyPr wrap="square" rtlCol="0">
            <a:spAutoFit/>
          </a:bodyPr>
          <a:lstStyle/>
          <a:p>
            <a:r>
              <a:rPr lang="es-ES" sz="2800" b="1" dirty="0">
                <a:latin typeface="Libre Franklin" pitchFamily="2" charset="0"/>
              </a:rPr>
              <a:t>Credibilidad del Banco Central</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BF878A72-7579-F937-DCA9-B7F4434D2446}"/>
              </a:ext>
            </a:extLst>
          </p:cNvPr>
          <p:cNvCxnSpPr>
            <a:cxnSpLocks/>
          </p:cNvCxnSpPr>
          <p:nvPr/>
        </p:nvCxnSpPr>
        <p:spPr>
          <a:xfrm>
            <a:off x="265471" y="666068"/>
            <a:ext cx="5184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0E8C68AE-7377-2F3C-2D59-95F07FE3668E}"/>
              </a:ext>
            </a:extLst>
          </p:cNvPr>
          <p:cNvSpPr txBox="1"/>
          <p:nvPr/>
        </p:nvSpPr>
        <p:spPr>
          <a:xfrm>
            <a:off x="265471" y="753160"/>
            <a:ext cx="11396730" cy="3693319"/>
          </a:xfrm>
          <a:prstGeom prst="rect">
            <a:avLst/>
          </a:prstGeom>
          <a:noFill/>
        </p:spPr>
        <p:txBody>
          <a:bodyPr wrap="square">
            <a:spAutoFit/>
          </a:bodyPr>
          <a:lstStyle/>
          <a:p>
            <a:pPr algn="just"/>
            <a:r>
              <a:rPr lang="es-GT" i="1" dirty="0" err="1">
                <a:latin typeface="Libre Franklin" pitchFamily="2" charset="0"/>
              </a:rPr>
              <a:t>Cukierman</a:t>
            </a:r>
            <a:r>
              <a:rPr lang="es-GT" i="1" dirty="0">
                <a:latin typeface="Libre Franklin" pitchFamily="2" charset="0"/>
              </a:rPr>
              <a:t> (1986) </a:t>
            </a:r>
            <a:r>
              <a:rPr lang="es-GT" dirty="0">
                <a:latin typeface="Libre Franklin" pitchFamily="2" charset="0"/>
              </a:rPr>
              <a:t>define la credibilidad de un Banco Central como:</a:t>
            </a:r>
          </a:p>
          <a:p>
            <a:pPr algn="just"/>
            <a:endParaRPr lang="es-GT" dirty="0">
              <a:latin typeface="Libre Franklin" pitchFamily="2" charset="0"/>
            </a:endParaRPr>
          </a:p>
          <a:p>
            <a:pPr algn="just"/>
            <a:endParaRPr lang="es-GT" i="1" dirty="0">
              <a:latin typeface="Libre Franklin" pitchFamily="2" charset="0"/>
            </a:endParaRPr>
          </a:p>
          <a:p>
            <a:pPr algn="just"/>
            <a:endParaRPr lang="es-GT" i="1" dirty="0">
              <a:latin typeface="Libre Franklin" pitchFamily="2" charset="0"/>
            </a:endParaRPr>
          </a:p>
          <a:p>
            <a:pPr algn="just"/>
            <a:endParaRPr lang="es-GT" i="1" dirty="0">
              <a:latin typeface="Libre Franklin" pitchFamily="2" charset="0"/>
            </a:endParaRPr>
          </a:p>
          <a:p>
            <a:pPr algn="just"/>
            <a:endParaRPr lang="es-GT" i="1" dirty="0">
              <a:latin typeface="Libre Franklin" pitchFamily="2" charset="0"/>
            </a:endParaRPr>
          </a:p>
          <a:p>
            <a:pPr algn="just"/>
            <a:r>
              <a:rPr lang="es-GT" dirty="0">
                <a:latin typeface="Libre Franklin" pitchFamily="2" charset="0"/>
              </a:rPr>
              <a:t>Otros economistas como </a:t>
            </a:r>
            <a:r>
              <a:rPr lang="es-GT" i="1" dirty="0">
                <a:latin typeface="Libre Franklin" pitchFamily="2" charset="0"/>
              </a:rPr>
              <a:t>Frederic </a:t>
            </a:r>
            <a:r>
              <a:rPr lang="es-GT" i="1" dirty="0" err="1">
                <a:latin typeface="Libre Franklin" pitchFamily="2" charset="0"/>
              </a:rPr>
              <a:t>Mishkin</a:t>
            </a:r>
            <a:r>
              <a:rPr lang="es-GT" i="1" dirty="0">
                <a:latin typeface="Libre Franklin" pitchFamily="2" charset="0"/>
              </a:rPr>
              <a:t> (2008)</a:t>
            </a:r>
            <a:r>
              <a:rPr lang="es-GT" dirty="0">
                <a:latin typeface="Libre Franklin" pitchFamily="2" charset="0"/>
              </a:rPr>
              <a:t> sugieren que los Bancos Centrales deben generar un compromiso firme con el ancla nominal que han escogido. Algo muy en línea con  autores como </a:t>
            </a:r>
            <a:r>
              <a:rPr lang="es-GT" i="1" dirty="0">
                <a:latin typeface="Libre Franklin" pitchFamily="2" charset="0"/>
              </a:rPr>
              <a:t>Bordo </a:t>
            </a:r>
            <a:r>
              <a:rPr lang="es-GT" dirty="0">
                <a:latin typeface="Libre Franklin" pitchFamily="2" charset="0"/>
              </a:rPr>
              <a:t>y </a:t>
            </a:r>
            <a:r>
              <a:rPr lang="es-GT" i="1" dirty="0" err="1">
                <a:latin typeface="Libre Franklin" pitchFamily="2" charset="0"/>
              </a:rPr>
              <a:t>Siklos</a:t>
            </a:r>
            <a:r>
              <a:rPr lang="es-GT" i="1" dirty="0">
                <a:latin typeface="Libre Franklin" pitchFamily="2" charset="0"/>
              </a:rPr>
              <a:t> (2014)</a:t>
            </a:r>
            <a:r>
              <a:rPr lang="es-GT" dirty="0">
                <a:latin typeface="Libre Franklin" pitchFamily="2" charset="0"/>
              </a:rPr>
              <a:t> que definen la credibilidad de un Banco Central en términos del desempeño de la inflación.</a:t>
            </a:r>
          </a:p>
          <a:p>
            <a:pPr algn="just"/>
            <a:endParaRPr lang="es-GT" i="1" dirty="0">
              <a:latin typeface="Libre Franklin" pitchFamily="2" charset="0"/>
            </a:endParaRPr>
          </a:p>
          <a:p>
            <a:pPr algn="just"/>
            <a:endParaRPr lang="es-GT" i="1" dirty="0">
              <a:latin typeface="Libre Franklin" pitchFamily="2" charset="0"/>
            </a:endParaRPr>
          </a:p>
          <a:p>
            <a:pPr algn="just"/>
            <a:r>
              <a:rPr lang="es-GT" i="1" dirty="0">
                <a:latin typeface="Libre Franklin" pitchFamily="2" charset="0"/>
              </a:rPr>
              <a:t>Bordo </a:t>
            </a:r>
            <a:r>
              <a:rPr lang="es-GT" dirty="0">
                <a:latin typeface="Libre Franklin" pitchFamily="2" charset="0"/>
              </a:rPr>
              <a:t>y </a:t>
            </a:r>
            <a:r>
              <a:rPr lang="es-GT" i="1" dirty="0" err="1">
                <a:latin typeface="Libre Franklin" pitchFamily="2" charset="0"/>
              </a:rPr>
              <a:t>Siklos</a:t>
            </a:r>
            <a:r>
              <a:rPr lang="es-GT" i="1" dirty="0">
                <a:latin typeface="Libre Franklin" pitchFamily="2" charset="0"/>
              </a:rPr>
              <a:t> (2014) </a:t>
            </a:r>
            <a:r>
              <a:rPr lang="es-GT" dirty="0">
                <a:latin typeface="Libre Franklin" pitchFamily="2" charset="0"/>
              </a:rPr>
              <a:t>También señalan que la credibilidad consiste en </a:t>
            </a:r>
            <a:r>
              <a:rPr lang="es-GT" i="1" dirty="0">
                <a:latin typeface="Libre Franklin" pitchFamily="2" charset="0"/>
              </a:rPr>
              <a:t>“el compromiso de seguir reglas y objetivos políticos bien articulados y transparentes”</a:t>
            </a:r>
          </a:p>
        </p:txBody>
      </p:sp>
      <p:sp>
        <p:nvSpPr>
          <p:cNvPr id="9" name="CuadroTexto 8">
            <a:extLst>
              <a:ext uri="{FF2B5EF4-FFF2-40B4-BE49-F238E27FC236}">
                <a16:creationId xmlns:a16="http://schemas.microsoft.com/office/drawing/2014/main" id="{B37F6339-FF3E-893A-2329-D0A852984060}"/>
              </a:ext>
            </a:extLst>
          </p:cNvPr>
          <p:cNvSpPr txBox="1"/>
          <p:nvPr/>
        </p:nvSpPr>
        <p:spPr>
          <a:xfrm>
            <a:off x="2270819" y="1481022"/>
            <a:ext cx="7386034" cy="646331"/>
          </a:xfrm>
          <a:prstGeom prst="rect">
            <a:avLst/>
          </a:prstGeom>
          <a:noFill/>
        </p:spPr>
        <p:txBody>
          <a:bodyPr wrap="square" rtlCol="0">
            <a:spAutoFit/>
          </a:bodyPr>
          <a:lstStyle/>
          <a:p>
            <a:pPr algn="just"/>
            <a:r>
              <a:rPr lang="es-GT" i="1" dirty="0">
                <a:latin typeface="Libre Franklin" pitchFamily="2" charset="0"/>
              </a:rPr>
              <a:t>“El grado en que el público cree que se ha producido un cambio en la política cuando, de hecho, dicho cambio se ha producido realmente”</a:t>
            </a:r>
          </a:p>
        </p:txBody>
      </p:sp>
    </p:spTree>
    <p:extLst>
      <p:ext uri="{BB962C8B-B14F-4D97-AF65-F5344CB8AC3E}">
        <p14:creationId xmlns:p14="http://schemas.microsoft.com/office/powerpoint/2010/main" val="1456250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39ECD-49CC-0F04-4F06-651E925961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DC057A-D042-7193-DA96-943CACC5755A}"/>
              </a:ext>
            </a:extLst>
          </p:cNvPr>
          <p:cNvSpPr>
            <a:spLocks noGrp="1"/>
          </p:cNvSpPr>
          <p:nvPr>
            <p:ph type="ctrTitle"/>
          </p:nvPr>
        </p:nvSpPr>
        <p:spPr/>
        <p:txBody>
          <a:bodyPr/>
          <a:lstStyle/>
          <a:p>
            <a:endParaRPr lang="es-GT"/>
          </a:p>
        </p:txBody>
      </p:sp>
      <p:grpSp>
        <p:nvGrpSpPr>
          <p:cNvPr id="17" name="Grupo 16">
            <a:extLst>
              <a:ext uri="{FF2B5EF4-FFF2-40B4-BE49-F238E27FC236}">
                <a16:creationId xmlns:a16="http://schemas.microsoft.com/office/drawing/2014/main" id="{0685767A-064B-2708-C280-33B95E75C6C3}"/>
              </a:ext>
            </a:extLst>
          </p:cNvPr>
          <p:cNvGrpSpPr/>
          <p:nvPr/>
        </p:nvGrpSpPr>
        <p:grpSpPr>
          <a:xfrm>
            <a:off x="0" y="0"/>
            <a:ext cx="12192000" cy="6858000"/>
            <a:chOff x="0" y="0"/>
            <a:chExt cx="12192000" cy="6858000"/>
          </a:xfrm>
        </p:grpSpPr>
        <p:pic>
          <p:nvPicPr>
            <p:cNvPr id="6" name="Imagen 5">
              <a:extLst>
                <a:ext uri="{FF2B5EF4-FFF2-40B4-BE49-F238E27FC236}">
                  <a16:creationId xmlns:a16="http://schemas.microsoft.com/office/drawing/2014/main" id="{66EC95C2-4BF1-2788-208C-87A6E3A97E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ángulo 4">
              <a:extLst>
                <a:ext uri="{FF2B5EF4-FFF2-40B4-BE49-F238E27FC236}">
                  <a16:creationId xmlns:a16="http://schemas.microsoft.com/office/drawing/2014/main" id="{8B76BA8D-53BC-0D0D-994B-5693A9366B1D}"/>
                </a:ext>
              </a:extLst>
            </p:cNvPr>
            <p:cNvSpPr/>
            <p:nvPr/>
          </p:nvSpPr>
          <p:spPr>
            <a:xfrm>
              <a:off x="6439" y="5783088"/>
              <a:ext cx="6587544" cy="118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7" name="CuadroTexto 6">
            <a:extLst>
              <a:ext uri="{FF2B5EF4-FFF2-40B4-BE49-F238E27FC236}">
                <a16:creationId xmlns:a16="http://schemas.microsoft.com/office/drawing/2014/main" id="{5406FCF1-AD1D-A4B2-BEA4-D7A43C204183}"/>
              </a:ext>
            </a:extLst>
          </p:cNvPr>
          <p:cNvSpPr txBox="1"/>
          <p:nvPr/>
        </p:nvSpPr>
        <p:spPr>
          <a:xfrm>
            <a:off x="165181" y="142848"/>
            <a:ext cx="9899117" cy="523220"/>
          </a:xfrm>
          <a:prstGeom prst="rect">
            <a:avLst/>
          </a:prstGeom>
          <a:noFill/>
        </p:spPr>
        <p:txBody>
          <a:bodyPr wrap="square" rtlCol="0">
            <a:spAutoFit/>
          </a:bodyPr>
          <a:lstStyle/>
          <a:p>
            <a:r>
              <a:rPr lang="es-ES" sz="2800" b="1" dirty="0">
                <a:latin typeface="Libre Franklin" pitchFamily="2" charset="0"/>
              </a:rPr>
              <a:t>Credibilidad del Banco Central</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D14929B8-966D-06CC-5EE4-018EC76AE0BA}"/>
              </a:ext>
            </a:extLst>
          </p:cNvPr>
          <p:cNvCxnSpPr>
            <a:cxnSpLocks/>
          </p:cNvCxnSpPr>
          <p:nvPr/>
        </p:nvCxnSpPr>
        <p:spPr>
          <a:xfrm>
            <a:off x="265471" y="666068"/>
            <a:ext cx="5184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E23E3710-BB3B-F6D7-78DB-BEDC713E0379}"/>
              </a:ext>
            </a:extLst>
          </p:cNvPr>
          <p:cNvSpPr txBox="1"/>
          <p:nvPr/>
        </p:nvSpPr>
        <p:spPr>
          <a:xfrm>
            <a:off x="265471" y="1114648"/>
            <a:ext cx="11396730" cy="369332"/>
          </a:xfrm>
          <a:prstGeom prst="rect">
            <a:avLst/>
          </a:prstGeom>
          <a:noFill/>
        </p:spPr>
        <p:txBody>
          <a:bodyPr wrap="square">
            <a:spAutoFit/>
          </a:bodyPr>
          <a:lstStyle/>
          <a:p>
            <a:pPr algn="just"/>
            <a:r>
              <a:rPr lang="es-GT" dirty="0">
                <a:latin typeface="Libre Franklin" pitchFamily="2" charset="0"/>
              </a:rPr>
              <a:t>La credibilidad del Banco de Guatemala se ha construido con base a tres pilares fundamentes.</a:t>
            </a:r>
          </a:p>
        </p:txBody>
      </p:sp>
      <p:sp>
        <p:nvSpPr>
          <p:cNvPr id="3" name="CuadroTexto 2">
            <a:extLst>
              <a:ext uri="{FF2B5EF4-FFF2-40B4-BE49-F238E27FC236}">
                <a16:creationId xmlns:a16="http://schemas.microsoft.com/office/drawing/2014/main" id="{CBC87925-0E5F-30D6-1493-41E66BC202AD}"/>
              </a:ext>
            </a:extLst>
          </p:cNvPr>
          <p:cNvSpPr txBox="1"/>
          <p:nvPr/>
        </p:nvSpPr>
        <p:spPr>
          <a:xfrm>
            <a:off x="-64395" y="2171324"/>
            <a:ext cx="5808372" cy="1754326"/>
          </a:xfrm>
          <a:prstGeom prst="rect">
            <a:avLst/>
          </a:prstGeom>
          <a:noFill/>
        </p:spPr>
        <p:txBody>
          <a:bodyPr wrap="square" rtlCol="0">
            <a:spAutoFit/>
          </a:bodyPr>
          <a:lstStyle/>
          <a:p>
            <a:pPr marL="800100" lvl="1" indent="-342900" algn="just">
              <a:buFont typeface="+mj-lt"/>
              <a:buAutoNum type="arabicPeriod"/>
            </a:pPr>
            <a:r>
              <a:rPr lang="es-GT" dirty="0">
                <a:latin typeface="Libre Franklin" pitchFamily="2" charset="0"/>
              </a:rPr>
              <a:t>Reducción del nivel promedio de inflación desde la adopción del Esquema de Metas Explicitas de Inflación (EMEI).</a:t>
            </a:r>
          </a:p>
          <a:p>
            <a:pPr marL="800100" lvl="1" indent="-342900" algn="just">
              <a:buFont typeface="+mj-lt"/>
              <a:buAutoNum type="arabicPeriod"/>
            </a:pPr>
            <a:endParaRPr lang="es-GT" dirty="0">
              <a:latin typeface="Libre Franklin" pitchFamily="2" charset="0"/>
            </a:endParaRPr>
          </a:p>
          <a:p>
            <a:pPr marL="800100" lvl="1" indent="-342900" algn="just">
              <a:buFont typeface="+mj-lt"/>
              <a:buAutoNum type="arabicPeriod"/>
            </a:pPr>
            <a:r>
              <a:rPr lang="es-GT" dirty="0">
                <a:latin typeface="Libre Franklin" pitchFamily="2" charset="0"/>
              </a:rPr>
              <a:t>Reducción de la volatilidad de la inflación desde la adopción del al EMEI.</a:t>
            </a:r>
          </a:p>
        </p:txBody>
      </p:sp>
      <p:sp>
        <p:nvSpPr>
          <p:cNvPr id="4" name="CuadroTexto 3">
            <a:extLst>
              <a:ext uri="{FF2B5EF4-FFF2-40B4-BE49-F238E27FC236}">
                <a16:creationId xmlns:a16="http://schemas.microsoft.com/office/drawing/2014/main" id="{C8E68976-7692-96D9-0DCA-067F0B63774C}"/>
              </a:ext>
            </a:extLst>
          </p:cNvPr>
          <p:cNvSpPr txBox="1"/>
          <p:nvPr/>
        </p:nvSpPr>
        <p:spPr>
          <a:xfrm>
            <a:off x="5698901" y="2136994"/>
            <a:ext cx="5892466" cy="2031325"/>
          </a:xfrm>
          <a:prstGeom prst="rect">
            <a:avLst/>
          </a:prstGeom>
          <a:noFill/>
        </p:spPr>
        <p:txBody>
          <a:bodyPr wrap="square" rtlCol="0">
            <a:spAutoFit/>
          </a:bodyPr>
          <a:lstStyle/>
          <a:p>
            <a:pPr marL="800100" lvl="1" indent="-342900" algn="just">
              <a:buFont typeface="+mj-lt"/>
              <a:buAutoNum type="arabicPeriod" startAt="3"/>
            </a:pPr>
            <a:r>
              <a:rPr lang="es-GT" dirty="0">
                <a:latin typeface="Libre Franklin" pitchFamily="2" charset="0"/>
              </a:rPr>
              <a:t>Constituirse como un Banco Central que ejecuta su Política Monetaria de forma independiente.</a:t>
            </a:r>
          </a:p>
          <a:p>
            <a:pPr marL="800100" lvl="1" indent="-342900" algn="just">
              <a:buFont typeface="+mj-lt"/>
              <a:buAutoNum type="arabicPeriod" startAt="3"/>
            </a:pPr>
            <a:endParaRPr lang="es-GT" dirty="0">
              <a:latin typeface="Libre Franklin" pitchFamily="2" charset="0"/>
            </a:endParaRPr>
          </a:p>
          <a:p>
            <a:pPr marL="800100" lvl="1" indent="-342900" algn="just">
              <a:buFont typeface="+mj-lt"/>
              <a:buAutoNum type="arabicPeriod" startAt="3"/>
            </a:pPr>
            <a:r>
              <a:rPr lang="es-GT" dirty="0">
                <a:latin typeface="Libre Franklin" pitchFamily="2" charset="0"/>
              </a:rPr>
              <a:t>Se rige por los principios de transparencia mediante el mandato de publicar información oportuna.</a:t>
            </a:r>
          </a:p>
        </p:txBody>
      </p:sp>
    </p:spTree>
    <p:extLst>
      <p:ext uri="{BB962C8B-B14F-4D97-AF65-F5344CB8AC3E}">
        <p14:creationId xmlns:p14="http://schemas.microsoft.com/office/powerpoint/2010/main" val="22487994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4988B-532B-C7D5-6183-BA71E11849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0CF1CC-D9DC-AC26-E279-5B6A905CA942}"/>
              </a:ext>
            </a:extLst>
          </p:cNvPr>
          <p:cNvSpPr>
            <a:spLocks noGrp="1"/>
          </p:cNvSpPr>
          <p:nvPr>
            <p:ph type="ctrTitle"/>
          </p:nvPr>
        </p:nvSpPr>
        <p:spPr/>
        <p:txBody>
          <a:bodyPr/>
          <a:lstStyle/>
          <a:p>
            <a:endParaRPr lang="es-GT"/>
          </a:p>
        </p:txBody>
      </p:sp>
      <p:grpSp>
        <p:nvGrpSpPr>
          <p:cNvPr id="17" name="Grupo 16">
            <a:extLst>
              <a:ext uri="{FF2B5EF4-FFF2-40B4-BE49-F238E27FC236}">
                <a16:creationId xmlns:a16="http://schemas.microsoft.com/office/drawing/2014/main" id="{83B75C50-76AF-0D13-C5A3-994C6BBDF7FC}"/>
              </a:ext>
            </a:extLst>
          </p:cNvPr>
          <p:cNvGrpSpPr/>
          <p:nvPr/>
        </p:nvGrpSpPr>
        <p:grpSpPr>
          <a:xfrm>
            <a:off x="0" y="0"/>
            <a:ext cx="12192000" cy="6858000"/>
            <a:chOff x="0" y="0"/>
            <a:chExt cx="12192000" cy="6858000"/>
          </a:xfrm>
        </p:grpSpPr>
        <p:pic>
          <p:nvPicPr>
            <p:cNvPr id="6" name="Imagen 5">
              <a:extLst>
                <a:ext uri="{FF2B5EF4-FFF2-40B4-BE49-F238E27FC236}">
                  <a16:creationId xmlns:a16="http://schemas.microsoft.com/office/drawing/2014/main" id="{AE1FBC95-14C4-215C-E7FC-81D5AF05C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ángulo 4">
              <a:extLst>
                <a:ext uri="{FF2B5EF4-FFF2-40B4-BE49-F238E27FC236}">
                  <a16:creationId xmlns:a16="http://schemas.microsoft.com/office/drawing/2014/main" id="{BBED8873-958B-CCEE-F1D3-892FD589E3F9}"/>
                </a:ext>
              </a:extLst>
            </p:cNvPr>
            <p:cNvSpPr/>
            <p:nvPr/>
          </p:nvSpPr>
          <p:spPr>
            <a:xfrm>
              <a:off x="6439" y="5783088"/>
              <a:ext cx="6587544" cy="118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7" name="CuadroTexto 6">
            <a:extLst>
              <a:ext uri="{FF2B5EF4-FFF2-40B4-BE49-F238E27FC236}">
                <a16:creationId xmlns:a16="http://schemas.microsoft.com/office/drawing/2014/main" id="{B9B2125A-8934-74E2-D123-252B6192AE21}"/>
              </a:ext>
            </a:extLst>
          </p:cNvPr>
          <p:cNvSpPr txBox="1"/>
          <p:nvPr/>
        </p:nvSpPr>
        <p:spPr>
          <a:xfrm>
            <a:off x="165181" y="142848"/>
            <a:ext cx="9899117" cy="523220"/>
          </a:xfrm>
          <a:prstGeom prst="rect">
            <a:avLst/>
          </a:prstGeom>
          <a:noFill/>
        </p:spPr>
        <p:txBody>
          <a:bodyPr wrap="square" rtlCol="0">
            <a:spAutoFit/>
          </a:bodyPr>
          <a:lstStyle/>
          <a:p>
            <a:r>
              <a:rPr lang="es-ES" sz="2800" b="1" dirty="0">
                <a:latin typeface="Libre Franklin" pitchFamily="2" charset="0"/>
              </a:rPr>
              <a:t>Credibilidad del Banco Central</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51835506-42A0-5127-98D3-82E26CA2B0AB}"/>
              </a:ext>
            </a:extLst>
          </p:cNvPr>
          <p:cNvCxnSpPr>
            <a:cxnSpLocks/>
          </p:cNvCxnSpPr>
          <p:nvPr/>
        </p:nvCxnSpPr>
        <p:spPr>
          <a:xfrm>
            <a:off x="265471" y="666068"/>
            <a:ext cx="5184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pic>
        <p:nvPicPr>
          <p:cNvPr id="9" name="Imagen 8">
            <a:extLst>
              <a:ext uri="{FF2B5EF4-FFF2-40B4-BE49-F238E27FC236}">
                <a16:creationId xmlns:a16="http://schemas.microsoft.com/office/drawing/2014/main" id="{6384E770-E56D-A6EE-E715-0122916A6192}"/>
              </a:ext>
            </a:extLst>
          </p:cNvPr>
          <p:cNvPicPr>
            <a:picLocks noChangeAspect="1"/>
          </p:cNvPicPr>
          <p:nvPr/>
        </p:nvPicPr>
        <p:blipFill>
          <a:blip r:embed="rId3"/>
          <a:stretch>
            <a:fillRect/>
          </a:stretch>
        </p:blipFill>
        <p:spPr>
          <a:xfrm>
            <a:off x="345169" y="789762"/>
            <a:ext cx="8721557" cy="5008744"/>
          </a:xfrm>
          <a:prstGeom prst="rect">
            <a:avLst/>
          </a:prstGeom>
        </p:spPr>
      </p:pic>
      <p:sp>
        <p:nvSpPr>
          <p:cNvPr id="10" name="CuadroTexto 9">
            <a:extLst>
              <a:ext uri="{FF2B5EF4-FFF2-40B4-BE49-F238E27FC236}">
                <a16:creationId xmlns:a16="http://schemas.microsoft.com/office/drawing/2014/main" id="{E6154CBA-E923-0B45-1F8D-5E97B7214585}"/>
              </a:ext>
            </a:extLst>
          </p:cNvPr>
          <p:cNvSpPr txBox="1"/>
          <p:nvPr/>
        </p:nvSpPr>
        <p:spPr>
          <a:xfrm>
            <a:off x="9066726" y="1862973"/>
            <a:ext cx="2917066" cy="2446824"/>
          </a:xfrm>
          <a:prstGeom prst="rect">
            <a:avLst/>
          </a:prstGeom>
          <a:noFill/>
        </p:spPr>
        <p:txBody>
          <a:bodyPr wrap="square" rtlCol="0">
            <a:spAutoFit/>
          </a:bodyPr>
          <a:lstStyle/>
          <a:p>
            <a:pPr algn="just"/>
            <a:r>
              <a:rPr lang="es-MX" sz="1700" dirty="0">
                <a:latin typeface="Libre Franklin" pitchFamily="2" charset="0"/>
              </a:rPr>
              <a:t>En términos de las expectativas estas se encuentran ancladas dentro de las bandas de tolerancia de la meta. Lo cual constituye otra factor a favor de la credibilidad que ha construido el Banco de Guatemala.</a:t>
            </a:r>
          </a:p>
        </p:txBody>
      </p:sp>
    </p:spTree>
    <p:extLst>
      <p:ext uri="{BB962C8B-B14F-4D97-AF65-F5344CB8AC3E}">
        <p14:creationId xmlns:p14="http://schemas.microsoft.com/office/powerpoint/2010/main" val="329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34660-F0E2-5DFA-8D02-A4EEC934C1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D285782-8188-2878-E08B-CDE8E99B2F39}"/>
              </a:ext>
            </a:extLst>
          </p:cNvPr>
          <p:cNvSpPr>
            <a:spLocks noGrp="1"/>
          </p:cNvSpPr>
          <p:nvPr>
            <p:ph type="ctrTitle"/>
          </p:nvPr>
        </p:nvSpPr>
        <p:spPr/>
        <p:txBody>
          <a:bodyPr/>
          <a:lstStyle/>
          <a:p>
            <a:endParaRPr lang="es-GT"/>
          </a:p>
        </p:txBody>
      </p:sp>
      <p:grpSp>
        <p:nvGrpSpPr>
          <p:cNvPr id="17" name="Grupo 16">
            <a:extLst>
              <a:ext uri="{FF2B5EF4-FFF2-40B4-BE49-F238E27FC236}">
                <a16:creationId xmlns:a16="http://schemas.microsoft.com/office/drawing/2014/main" id="{348A83CC-BBFE-32D3-FF3B-4C54CFC5EC66}"/>
              </a:ext>
            </a:extLst>
          </p:cNvPr>
          <p:cNvGrpSpPr/>
          <p:nvPr/>
        </p:nvGrpSpPr>
        <p:grpSpPr>
          <a:xfrm>
            <a:off x="0" y="0"/>
            <a:ext cx="12192000" cy="6858000"/>
            <a:chOff x="0" y="0"/>
            <a:chExt cx="12192000" cy="6858000"/>
          </a:xfrm>
        </p:grpSpPr>
        <p:pic>
          <p:nvPicPr>
            <p:cNvPr id="6" name="Imagen 5">
              <a:extLst>
                <a:ext uri="{FF2B5EF4-FFF2-40B4-BE49-F238E27FC236}">
                  <a16:creationId xmlns:a16="http://schemas.microsoft.com/office/drawing/2014/main" id="{5AA61022-E8DE-07EF-7C17-3B2C1C9331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ángulo 4">
              <a:extLst>
                <a:ext uri="{FF2B5EF4-FFF2-40B4-BE49-F238E27FC236}">
                  <a16:creationId xmlns:a16="http://schemas.microsoft.com/office/drawing/2014/main" id="{02042324-CADE-8504-BAE0-6A24126DBF22}"/>
                </a:ext>
              </a:extLst>
            </p:cNvPr>
            <p:cNvSpPr/>
            <p:nvPr/>
          </p:nvSpPr>
          <p:spPr>
            <a:xfrm>
              <a:off x="6439" y="5783088"/>
              <a:ext cx="6587544" cy="118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7" name="CuadroTexto 6">
            <a:extLst>
              <a:ext uri="{FF2B5EF4-FFF2-40B4-BE49-F238E27FC236}">
                <a16:creationId xmlns:a16="http://schemas.microsoft.com/office/drawing/2014/main" id="{6B18BED7-8254-A6D3-CFE3-8A4CF5CB233B}"/>
              </a:ext>
            </a:extLst>
          </p:cNvPr>
          <p:cNvSpPr txBox="1"/>
          <p:nvPr/>
        </p:nvSpPr>
        <p:spPr>
          <a:xfrm>
            <a:off x="165181" y="142848"/>
            <a:ext cx="9899117" cy="523220"/>
          </a:xfrm>
          <a:prstGeom prst="rect">
            <a:avLst/>
          </a:prstGeom>
          <a:noFill/>
        </p:spPr>
        <p:txBody>
          <a:bodyPr wrap="square" rtlCol="0">
            <a:spAutoFit/>
          </a:bodyPr>
          <a:lstStyle/>
          <a:p>
            <a:r>
              <a:rPr lang="es-ES" sz="2800" b="1" dirty="0">
                <a:latin typeface="Libre Franklin" pitchFamily="2" charset="0"/>
              </a:rPr>
              <a:t>Credibilidad del Banco Central</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18297ACF-3CEB-1EC0-C2BD-F2B223BF4E54}"/>
              </a:ext>
            </a:extLst>
          </p:cNvPr>
          <p:cNvCxnSpPr>
            <a:cxnSpLocks/>
          </p:cNvCxnSpPr>
          <p:nvPr/>
        </p:nvCxnSpPr>
        <p:spPr>
          <a:xfrm>
            <a:off x="265471" y="666068"/>
            <a:ext cx="5184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2027A40F-C4D6-9E2A-7F64-68EB72CC24EF}"/>
              </a:ext>
            </a:extLst>
          </p:cNvPr>
          <p:cNvSpPr txBox="1"/>
          <p:nvPr/>
        </p:nvSpPr>
        <p:spPr>
          <a:xfrm>
            <a:off x="265471" y="753031"/>
            <a:ext cx="11396730" cy="4247317"/>
          </a:xfrm>
          <a:prstGeom prst="rect">
            <a:avLst/>
          </a:prstGeom>
          <a:noFill/>
        </p:spPr>
        <p:txBody>
          <a:bodyPr wrap="square">
            <a:spAutoFit/>
          </a:bodyPr>
          <a:lstStyle/>
          <a:p>
            <a:pPr algn="just"/>
            <a:r>
              <a:rPr lang="es-GT" dirty="0">
                <a:latin typeface="Libre Franklin" pitchFamily="2" charset="0"/>
              </a:rPr>
              <a:t>Con el promedio de inflación en los últimos 12 meses de 1.61% por debajo del límite inferior de la meta y considerando la credibilidad construida por el Banco de Guatemala, es razonable considerar una convergencia prudente hacia un nivel meta más bajo.</a:t>
            </a:r>
          </a:p>
          <a:p>
            <a:pPr algn="just"/>
            <a:endParaRPr lang="es-GT" dirty="0">
              <a:latin typeface="Libre Franklin" pitchFamily="2" charset="0"/>
            </a:endParaRPr>
          </a:p>
          <a:p>
            <a:pPr algn="just"/>
            <a:r>
              <a:rPr lang="es-GT" b="1" dirty="0">
                <a:latin typeface="Libre Franklin" pitchFamily="2" charset="0"/>
              </a:rPr>
              <a:t>Aspectos positivos de la reducción</a:t>
            </a:r>
          </a:p>
          <a:p>
            <a:pPr algn="just"/>
            <a:endParaRPr lang="es-GT" b="1" dirty="0">
              <a:latin typeface="Libre Franklin" pitchFamily="2" charset="0"/>
            </a:endParaRPr>
          </a:p>
          <a:p>
            <a:pPr marL="742950" lvl="1" indent="-285750" algn="just">
              <a:buFont typeface="Arial" panose="020B0604020202020204" pitchFamily="34" charset="0"/>
              <a:buChar char="•"/>
            </a:pPr>
            <a:r>
              <a:rPr lang="es-GT" dirty="0">
                <a:latin typeface="Libre Franklin" pitchFamily="2" charset="0"/>
              </a:rPr>
              <a:t>Sintonía con el resto de economías en desarrollo con Esquema de Metas Explicitas de Inflación.</a:t>
            </a:r>
          </a:p>
          <a:p>
            <a:pPr marL="742950" lvl="1" indent="-285750" algn="just">
              <a:buFont typeface="Arial" panose="020B0604020202020204" pitchFamily="34" charset="0"/>
              <a:buChar char="•"/>
            </a:pPr>
            <a:endParaRPr lang="es-GT" dirty="0">
              <a:latin typeface="Libre Franklin" pitchFamily="2" charset="0"/>
            </a:endParaRPr>
          </a:p>
          <a:p>
            <a:pPr marL="742950" lvl="1" indent="-285750" algn="just">
              <a:buFont typeface="Arial" panose="020B0604020202020204" pitchFamily="34" charset="0"/>
              <a:buChar char="•"/>
            </a:pPr>
            <a:r>
              <a:rPr lang="es-GT" dirty="0">
                <a:latin typeface="Libre Franklin" pitchFamily="2" charset="0"/>
              </a:rPr>
              <a:t>Posible reducción en la inercia inflacionaria </a:t>
            </a:r>
            <a:r>
              <a:rPr lang="es-GT" i="1" dirty="0">
                <a:latin typeface="Libre Franklin" pitchFamily="2" charset="0"/>
              </a:rPr>
              <a:t>Edwards (2012)</a:t>
            </a:r>
          </a:p>
          <a:p>
            <a:pPr marL="742950" lvl="1" indent="-285750" algn="just">
              <a:buFont typeface="Arial" panose="020B0604020202020204" pitchFamily="34" charset="0"/>
              <a:buChar char="•"/>
            </a:pPr>
            <a:endParaRPr lang="es-GT" i="1" dirty="0">
              <a:latin typeface="Libre Franklin" pitchFamily="2" charset="0"/>
            </a:endParaRPr>
          </a:p>
          <a:p>
            <a:pPr marL="742950" lvl="1" indent="-285750" algn="just">
              <a:buFont typeface="Arial" panose="020B0604020202020204" pitchFamily="34" charset="0"/>
              <a:buChar char="•"/>
            </a:pPr>
            <a:r>
              <a:rPr lang="es-GT" dirty="0">
                <a:latin typeface="Libre Franklin" pitchFamily="2" charset="0"/>
              </a:rPr>
              <a:t>La reducción en la inercia inflacionaria podría reducir la sensibilidad de las expectativas de los agentes a variables como el tipo de cambio nominal </a:t>
            </a:r>
            <a:r>
              <a:rPr lang="es-GT" i="1" dirty="0">
                <a:latin typeface="Libre Franklin" pitchFamily="2" charset="0"/>
              </a:rPr>
              <a:t>Edwards (2012)</a:t>
            </a:r>
            <a:r>
              <a:rPr lang="es-GT" dirty="0">
                <a:latin typeface="Libre Franklin" pitchFamily="2" charset="0"/>
              </a:rPr>
              <a:t>.</a:t>
            </a:r>
          </a:p>
          <a:p>
            <a:pPr marL="742950" lvl="1" indent="-285750" algn="just">
              <a:buFont typeface="Arial" panose="020B0604020202020204" pitchFamily="34" charset="0"/>
              <a:buChar char="•"/>
            </a:pPr>
            <a:endParaRPr lang="es-GT" i="1" dirty="0">
              <a:latin typeface="Libre Franklin" pitchFamily="2" charset="0"/>
            </a:endParaRPr>
          </a:p>
          <a:p>
            <a:pPr marL="742950" lvl="1" indent="-285750" algn="just">
              <a:buFont typeface="Arial" panose="020B0604020202020204" pitchFamily="34" charset="0"/>
              <a:buChar char="•"/>
            </a:pPr>
            <a:r>
              <a:rPr lang="es-GT" dirty="0">
                <a:latin typeface="Libre Franklin" pitchFamily="2" charset="0"/>
              </a:rPr>
              <a:t>Reducción del riesgo de experimentar alzas súbitas de inflación </a:t>
            </a:r>
            <a:r>
              <a:rPr lang="es-GT" i="1" dirty="0">
                <a:latin typeface="Libre Franklin" pitchFamily="2" charset="0"/>
              </a:rPr>
              <a:t>Edwards (2012)</a:t>
            </a:r>
          </a:p>
          <a:p>
            <a:pPr lvl="1" algn="just"/>
            <a:endParaRPr lang="es-GT" i="1" dirty="0">
              <a:latin typeface="Libre Franklin" pitchFamily="2" charset="0"/>
            </a:endParaRPr>
          </a:p>
        </p:txBody>
      </p:sp>
    </p:spTree>
    <p:extLst>
      <p:ext uri="{BB962C8B-B14F-4D97-AF65-F5344CB8AC3E}">
        <p14:creationId xmlns:p14="http://schemas.microsoft.com/office/powerpoint/2010/main" val="24693924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DA29D-7098-C5A1-3C3C-DC36C1872A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E5A707-6A37-FFED-3B74-8259D61774AE}"/>
              </a:ext>
            </a:extLst>
          </p:cNvPr>
          <p:cNvSpPr>
            <a:spLocks noGrp="1"/>
          </p:cNvSpPr>
          <p:nvPr>
            <p:ph type="ctrTitle"/>
          </p:nvPr>
        </p:nvSpPr>
        <p:spPr/>
        <p:txBody>
          <a:bodyPr/>
          <a:lstStyle/>
          <a:p>
            <a:endParaRPr lang="es-GT"/>
          </a:p>
        </p:txBody>
      </p:sp>
      <p:grpSp>
        <p:nvGrpSpPr>
          <p:cNvPr id="17" name="Grupo 16">
            <a:extLst>
              <a:ext uri="{FF2B5EF4-FFF2-40B4-BE49-F238E27FC236}">
                <a16:creationId xmlns:a16="http://schemas.microsoft.com/office/drawing/2014/main" id="{D9800621-B9C3-EFC1-2893-E29CC525E61B}"/>
              </a:ext>
            </a:extLst>
          </p:cNvPr>
          <p:cNvGrpSpPr/>
          <p:nvPr/>
        </p:nvGrpSpPr>
        <p:grpSpPr>
          <a:xfrm>
            <a:off x="0" y="0"/>
            <a:ext cx="12192000" cy="6858000"/>
            <a:chOff x="0" y="0"/>
            <a:chExt cx="12192000" cy="6858000"/>
          </a:xfrm>
        </p:grpSpPr>
        <p:pic>
          <p:nvPicPr>
            <p:cNvPr id="6" name="Imagen 5">
              <a:extLst>
                <a:ext uri="{FF2B5EF4-FFF2-40B4-BE49-F238E27FC236}">
                  <a16:creationId xmlns:a16="http://schemas.microsoft.com/office/drawing/2014/main" id="{4CA772CF-E845-D5E4-A0E9-F29B6AB000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ángulo 4">
              <a:extLst>
                <a:ext uri="{FF2B5EF4-FFF2-40B4-BE49-F238E27FC236}">
                  <a16:creationId xmlns:a16="http://schemas.microsoft.com/office/drawing/2014/main" id="{559F9216-6240-ADFA-0693-D6293A87C9D8}"/>
                </a:ext>
              </a:extLst>
            </p:cNvPr>
            <p:cNvSpPr/>
            <p:nvPr/>
          </p:nvSpPr>
          <p:spPr>
            <a:xfrm>
              <a:off x="6439" y="5783088"/>
              <a:ext cx="6587544" cy="118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7" name="CuadroTexto 6">
            <a:extLst>
              <a:ext uri="{FF2B5EF4-FFF2-40B4-BE49-F238E27FC236}">
                <a16:creationId xmlns:a16="http://schemas.microsoft.com/office/drawing/2014/main" id="{58240353-E7B5-1E21-0BAE-114AEBBC8AC5}"/>
              </a:ext>
            </a:extLst>
          </p:cNvPr>
          <p:cNvSpPr txBox="1"/>
          <p:nvPr/>
        </p:nvSpPr>
        <p:spPr>
          <a:xfrm>
            <a:off x="165181" y="142848"/>
            <a:ext cx="9899117" cy="523220"/>
          </a:xfrm>
          <a:prstGeom prst="rect">
            <a:avLst/>
          </a:prstGeom>
          <a:noFill/>
        </p:spPr>
        <p:txBody>
          <a:bodyPr wrap="square" rtlCol="0">
            <a:spAutoFit/>
          </a:bodyPr>
          <a:lstStyle/>
          <a:p>
            <a:r>
              <a:rPr lang="es-ES" sz="2800" b="1" dirty="0">
                <a:latin typeface="Libre Franklin" pitchFamily="2" charset="0"/>
              </a:rPr>
              <a:t>Credibilidad del Banco Central</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0821F2F4-7AE7-B858-5FCE-5B6FDC8EBD33}"/>
              </a:ext>
            </a:extLst>
          </p:cNvPr>
          <p:cNvCxnSpPr>
            <a:cxnSpLocks/>
          </p:cNvCxnSpPr>
          <p:nvPr/>
        </p:nvCxnSpPr>
        <p:spPr>
          <a:xfrm>
            <a:off x="265471" y="666068"/>
            <a:ext cx="5184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7FC7F765-A9F0-E05C-F69D-8B8AA07EC144}"/>
              </a:ext>
            </a:extLst>
          </p:cNvPr>
          <p:cNvSpPr txBox="1"/>
          <p:nvPr/>
        </p:nvSpPr>
        <p:spPr>
          <a:xfrm>
            <a:off x="265471" y="753031"/>
            <a:ext cx="11396730" cy="4801314"/>
          </a:xfrm>
          <a:prstGeom prst="rect">
            <a:avLst/>
          </a:prstGeom>
          <a:noFill/>
        </p:spPr>
        <p:txBody>
          <a:bodyPr wrap="square">
            <a:spAutoFit/>
          </a:bodyPr>
          <a:lstStyle/>
          <a:p>
            <a:pPr marL="0" lvl="1" algn="just"/>
            <a:r>
              <a:rPr lang="es-GT" dirty="0">
                <a:latin typeface="Libre Franklin" pitchFamily="2" charset="0"/>
              </a:rPr>
              <a:t>Pese lo anterior, de materializarse una reducción de la meta, no hay que olvidar el costo que tendría a la credibilidad del Banco Central una posible reversión de la meta de inflación al 4%.</a:t>
            </a:r>
          </a:p>
          <a:p>
            <a:pPr marL="0" lvl="1" algn="just"/>
            <a:endParaRPr lang="es-GT" dirty="0">
              <a:latin typeface="Libre Franklin" pitchFamily="2" charset="0"/>
            </a:endParaRPr>
          </a:p>
          <a:p>
            <a:pPr marL="0" lvl="1" algn="just"/>
            <a:r>
              <a:rPr lang="es-GT" dirty="0">
                <a:latin typeface="Libre Franklin" pitchFamily="2" charset="0"/>
              </a:rPr>
              <a:t>Estos son algunos costos de una pérdida de credibilidad:</a:t>
            </a:r>
          </a:p>
          <a:p>
            <a:pPr marL="0" lvl="1" algn="just"/>
            <a:endParaRPr lang="es-GT" dirty="0">
              <a:latin typeface="Libre Franklin" pitchFamily="2" charset="0"/>
            </a:endParaRPr>
          </a:p>
          <a:p>
            <a:pPr marL="742950" lvl="2" indent="-285750" algn="just">
              <a:buFont typeface="Arial" panose="020B0604020202020204" pitchFamily="34" charset="0"/>
              <a:buChar char="•"/>
            </a:pPr>
            <a:r>
              <a:rPr lang="es-GT" dirty="0">
                <a:latin typeface="Libre Franklin" pitchFamily="2" charset="0"/>
              </a:rPr>
              <a:t>Una mayor razón de sacrificio del producto. El Banco Central sería menos agresivo al momento de ejecutar su política monetaria.</a:t>
            </a:r>
          </a:p>
          <a:p>
            <a:pPr marL="742950" lvl="2" indent="-285750" algn="just">
              <a:buFont typeface="Arial" panose="020B0604020202020204" pitchFamily="34" charset="0"/>
              <a:buChar char="•"/>
            </a:pPr>
            <a:endParaRPr lang="es-GT" dirty="0">
              <a:latin typeface="Libre Franklin" pitchFamily="2" charset="0"/>
            </a:endParaRPr>
          </a:p>
          <a:p>
            <a:pPr marL="742950" lvl="2" indent="-285750" algn="just">
              <a:buFont typeface="Arial" panose="020B0604020202020204" pitchFamily="34" charset="0"/>
              <a:buChar char="•"/>
            </a:pPr>
            <a:r>
              <a:rPr lang="es-GT" dirty="0">
                <a:latin typeface="Libre Franklin" pitchFamily="2" charset="0"/>
              </a:rPr>
              <a:t>Existe un des anclaje de las expectativas de inflación que es difícil de recuperar en el tiempo.</a:t>
            </a:r>
          </a:p>
          <a:p>
            <a:pPr marL="742950" lvl="2" indent="-285750" algn="just">
              <a:buFont typeface="Arial" panose="020B0604020202020204" pitchFamily="34" charset="0"/>
              <a:buChar char="•"/>
            </a:pPr>
            <a:endParaRPr lang="es-GT" dirty="0">
              <a:latin typeface="Libre Franklin" pitchFamily="2" charset="0"/>
            </a:endParaRPr>
          </a:p>
          <a:p>
            <a:pPr marL="742950" lvl="2" indent="-285750" algn="just">
              <a:buFont typeface="Arial" panose="020B0604020202020204" pitchFamily="34" charset="0"/>
              <a:buChar char="•"/>
            </a:pPr>
            <a:r>
              <a:rPr lang="es-GT" dirty="0">
                <a:latin typeface="Libre Franklin" pitchFamily="2" charset="0"/>
              </a:rPr>
              <a:t>Podría conducir a un escenario en el cual las empresas aumenten la frecuencia en la cual actualicen precios con un sesgo hacia el alza (posible espiral inflacionaria).</a:t>
            </a:r>
          </a:p>
          <a:p>
            <a:pPr marL="742950" lvl="2" indent="-285750" algn="just">
              <a:buFont typeface="Arial" panose="020B0604020202020204" pitchFamily="34" charset="0"/>
              <a:buChar char="•"/>
            </a:pPr>
            <a:endParaRPr lang="es-GT" dirty="0">
              <a:latin typeface="Libre Franklin" pitchFamily="2" charset="0"/>
            </a:endParaRPr>
          </a:p>
          <a:p>
            <a:pPr marL="742950" lvl="2" indent="-285750" algn="just">
              <a:buFont typeface="Arial" panose="020B0604020202020204" pitchFamily="34" charset="0"/>
              <a:buChar char="•"/>
            </a:pPr>
            <a:r>
              <a:rPr lang="es-GT" dirty="0">
                <a:latin typeface="Libre Franklin" pitchFamily="2" charset="0"/>
              </a:rPr>
              <a:t>Un escenario económico con mayor incertidumbre que conduce a un incremento en la volatilidad de la inflación.</a:t>
            </a:r>
          </a:p>
          <a:p>
            <a:pPr marL="742950" lvl="2" indent="-285750" algn="just">
              <a:buFont typeface="Arial" panose="020B0604020202020204" pitchFamily="34" charset="0"/>
              <a:buChar char="•"/>
            </a:pPr>
            <a:endParaRPr lang="es-GT" dirty="0">
              <a:latin typeface="Libre Franklin" pitchFamily="2" charset="0"/>
            </a:endParaRPr>
          </a:p>
          <a:p>
            <a:pPr marL="0" lvl="2" algn="just"/>
            <a:r>
              <a:rPr lang="es-GT" dirty="0">
                <a:latin typeface="Libre Franklin" pitchFamily="2" charset="0"/>
              </a:rPr>
              <a:t>Dado lo anterior reconocemos los beneficios y los riesgos de una reducción de la meta de inflación.</a:t>
            </a:r>
          </a:p>
        </p:txBody>
      </p:sp>
    </p:spTree>
    <p:extLst>
      <p:ext uri="{BB962C8B-B14F-4D97-AF65-F5344CB8AC3E}">
        <p14:creationId xmlns:p14="http://schemas.microsoft.com/office/powerpoint/2010/main" val="36389534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42FA9-20D0-DFBA-C648-AFC98DDB3A5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33F779-56F8-9794-7159-AF92ABAC32C9}"/>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54EC480B-F783-8A0A-AD72-20C686DAD5C6}"/>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30BF37C9-84BC-786F-A247-8B79A826D7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5029889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6592</TotalTime>
  <Words>3831</Words>
  <Application>Microsoft Office PowerPoint</Application>
  <PresentationFormat>Panorámica</PresentationFormat>
  <Paragraphs>227</Paragraphs>
  <Slides>35</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35</vt:i4>
      </vt:variant>
    </vt:vector>
  </HeadingPairs>
  <TitlesOfParts>
    <vt:vector size="42" baseType="lpstr">
      <vt:lpstr>Aptos</vt:lpstr>
      <vt:lpstr>Arial</vt:lpstr>
      <vt:lpstr>Calibri</vt:lpstr>
      <vt:lpstr>Calibri Light</vt:lpstr>
      <vt:lpstr>Cambria Math</vt:lpstr>
      <vt:lpstr>Libre Franklin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Marjhori Carolina Fuentes Heiz</dc:creator>
  <cp:lastModifiedBy>JGOR</cp:lastModifiedBy>
  <cp:revision>59</cp:revision>
  <dcterms:created xsi:type="dcterms:W3CDTF">2025-08-04T20:22:14Z</dcterms:created>
  <dcterms:modified xsi:type="dcterms:W3CDTF">2025-11-07T18:03:55Z</dcterms:modified>
</cp:coreProperties>
</file>