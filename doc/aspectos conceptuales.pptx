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A_77442455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85" r:id="rId3"/>
    <p:sldId id="286" r:id="rId4"/>
    <p:sldId id="287" r:id="rId5"/>
    <p:sldId id="257" r:id="rId6"/>
    <p:sldId id="273" r:id="rId7"/>
    <p:sldId id="262" r:id="rId8"/>
    <p:sldId id="263" r:id="rId9"/>
    <p:sldId id="264" r:id="rId10"/>
    <p:sldId id="276" r:id="rId11"/>
    <p:sldId id="265" r:id="rId12"/>
    <p:sldId id="266" r:id="rId13"/>
    <p:sldId id="267" r:id="rId14"/>
    <p:sldId id="268" r:id="rId15"/>
    <p:sldId id="269" r:id="rId16"/>
    <p:sldId id="260" r:id="rId17"/>
    <p:sldId id="271" r:id="rId18"/>
    <p:sldId id="274" r:id="rId19"/>
    <p:sldId id="275" r:id="rId20"/>
    <p:sldId id="277" r:id="rId21"/>
    <p:sldId id="279" r:id="rId22"/>
    <p:sldId id="280" r:id="rId23"/>
    <p:sldId id="283" r:id="rId24"/>
    <p:sldId id="284" r:id="rId25"/>
    <p:sldId id="281" r:id="rId26"/>
    <p:sldId id="282" r:id="rId27"/>
    <p:sldId id="272" r:id="rId28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5084F0-A6C4-C578-9AE7-B10C524F5785}" name="Jorge Orenos" initials="JO" userId="23c8ceddaea92e4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F00"/>
    <a:srgbClr val="CFB280"/>
    <a:srgbClr val="00C1EB"/>
    <a:srgbClr val="00A3CF"/>
    <a:srgbClr val="0045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6236" autoAdjust="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omments/modernComment_10A_7744245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602AFA-C50D-44C1-AA02-856377873A8C}" authorId="{5F5084F0-A6C4-C578-9AE7-B10C524F5785}" created="2025-10-27T15:05:11.39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000954453" sldId="266"/>
      <ac:spMk id="10" creationId="{CFF62F81-80D5-A60E-BF44-1804B01232D0}"/>
      <ac:txMk cp="134" len="7">
        <ac:context len="274" hash="1507418816"/>
      </ac:txMk>
    </ac:txMkLst>
    <p188:pos x="3170938" y="487666"/>
    <p188:txBody>
      <a:bodyPr/>
      <a:lstStyle/>
      <a:p>
        <a:r>
          <a:rPr lang="es-MX"/>
          <a:t>Utilicé esta palabra porque es la que los autores usan en su trabajo.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76F4CC-8EEC-4B7D-8690-FE5A2CF4A996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6B6AF6-8D20-47C3-B043-A4175CDAFA8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2974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EBBF-A0AB-D2AF-D232-8F293B8B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326EF9-25D5-6B07-6E30-97B17AFB76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4D39E68-53E7-F9B1-7546-37737BF365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The</a:t>
            </a:r>
            <a:r>
              <a:rPr lang="es-MX" dirty="0"/>
              <a:t> case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four</a:t>
            </a:r>
            <a:r>
              <a:rPr lang="es-MX" dirty="0"/>
              <a:t> </a:t>
            </a:r>
            <a:r>
              <a:rPr lang="es-MX" dirty="0" err="1"/>
              <a:t>percent</a:t>
            </a:r>
            <a:r>
              <a:rPr lang="es-MX" dirty="0"/>
              <a:t> </a:t>
            </a:r>
            <a:r>
              <a:rPr lang="es-MX" dirty="0" err="1"/>
              <a:t>inflation</a:t>
            </a:r>
            <a:r>
              <a:rPr lang="es-MX" dirty="0"/>
              <a:t> – Laurence Ball – </a:t>
            </a:r>
            <a:r>
              <a:rPr lang="es-MX" dirty="0" err="1"/>
              <a:t>Jhons</a:t>
            </a:r>
            <a:r>
              <a:rPr lang="es-MX" dirty="0"/>
              <a:t> Hopkins </a:t>
            </a:r>
            <a:r>
              <a:rPr lang="es-MX" dirty="0" err="1"/>
              <a:t>University</a:t>
            </a:r>
            <a:r>
              <a:rPr lang="es-MX" dirty="0"/>
              <a:t> propone el vínculo entre la meta de inflación y el problema del límite inferior cero. Además de indicar que estar dentro de este límite podría agravar cualquier crisis, opinión que es compartida por otros economistas como Olivier Blanchard.</a:t>
            </a:r>
          </a:p>
          <a:p>
            <a:endParaRPr lang="es-MX" dirty="0"/>
          </a:p>
          <a:p>
            <a:r>
              <a:rPr lang="es-MX" dirty="0"/>
              <a:t>En el mismo trabajo Laurence Ball propone que la historia de la inflación podría ayudar a explicar porque no se había padecido del problema del límite inferior cero. Pone de ejemplo a japón y la recesión de 2008 indicando que estas sucedieron en periodos en los cuales le meta de inflación era baja para las economías avanzadas.</a:t>
            </a:r>
          </a:p>
          <a:p>
            <a:endParaRPr lang="es-MX" dirty="0"/>
          </a:p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00DCB3C-08D4-50A6-D500-C836FCBA5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2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94453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EBBF-A0AB-D2AF-D232-8F293B8B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326EF9-25D5-6B07-6E30-97B17AFB76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4D39E68-53E7-F9B1-7546-37737BF365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The</a:t>
            </a:r>
            <a:r>
              <a:rPr lang="es-MX" dirty="0"/>
              <a:t> case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four</a:t>
            </a:r>
            <a:r>
              <a:rPr lang="es-MX" dirty="0"/>
              <a:t> </a:t>
            </a:r>
            <a:r>
              <a:rPr lang="es-MX" dirty="0" err="1"/>
              <a:t>percent</a:t>
            </a:r>
            <a:r>
              <a:rPr lang="es-MX" dirty="0"/>
              <a:t> </a:t>
            </a:r>
            <a:r>
              <a:rPr lang="es-MX" dirty="0" err="1"/>
              <a:t>inflation</a:t>
            </a:r>
            <a:r>
              <a:rPr lang="es-MX" dirty="0"/>
              <a:t> – Laurence Ball – </a:t>
            </a:r>
            <a:r>
              <a:rPr lang="es-MX" dirty="0" err="1"/>
              <a:t>Jhons</a:t>
            </a:r>
            <a:r>
              <a:rPr lang="es-MX" dirty="0"/>
              <a:t> Hopkins </a:t>
            </a:r>
            <a:r>
              <a:rPr lang="es-MX" dirty="0" err="1"/>
              <a:t>University</a:t>
            </a:r>
            <a:r>
              <a:rPr lang="es-MX" dirty="0"/>
              <a:t> propone el vínculo entre la meta de inflación y el problema del límite inferior cero. Además de indicar que estar dentro de este límite podría agravar cualquier crisis, opinión que es compartida por otros economistas como Olivier Blanchard.</a:t>
            </a:r>
          </a:p>
          <a:p>
            <a:endParaRPr lang="es-MX" dirty="0"/>
          </a:p>
          <a:p>
            <a:r>
              <a:rPr lang="es-MX" dirty="0"/>
              <a:t>En el mismo trabajo Laurence Ball propone que la historia de la inflación podría ayudar a explicar porque no se había padecido del problema del límite inferior cero. Pone de ejemplo a japón y la recesión de 2008 indicando que estas sucedieron en periodos en los cuales le meta de inflación era baja para las economías avanzadas.</a:t>
            </a:r>
          </a:p>
          <a:p>
            <a:endParaRPr lang="es-MX" dirty="0"/>
          </a:p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00DCB3C-08D4-50A6-D500-C836FCBA5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4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70484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EBBF-A0AB-D2AF-D232-8F293B8B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326EF9-25D5-6B07-6E30-97B17AFB76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4D39E68-53E7-F9B1-7546-37737BF365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The</a:t>
            </a:r>
            <a:r>
              <a:rPr lang="es-MX" dirty="0"/>
              <a:t> case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four</a:t>
            </a:r>
            <a:r>
              <a:rPr lang="es-MX" dirty="0"/>
              <a:t> </a:t>
            </a:r>
            <a:r>
              <a:rPr lang="es-MX" dirty="0" err="1"/>
              <a:t>percent</a:t>
            </a:r>
            <a:r>
              <a:rPr lang="es-MX" dirty="0"/>
              <a:t> </a:t>
            </a:r>
            <a:r>
              <a:rPr lang="es-MX" dirty="0" err="1"/>
              <a:t>inflation</a:t>
            </a:r>
            <a:r>
              <a:rPr lang="es-MX" dirty="0"/>
              <a:t> – Laurence Ball – </a:t>
            </a:r>
            <a:r>
              <a:rPr lang="es-MX" dirty="0" err="1"/>
              <a:t>Jhons</a:t>
            </a:r>
            <a:r>
              <a:rPr lang="es-MX" dirty="0"/>
              <a:t> Hopkins </a:t>
            </a:r>
            <a:r>
              <a:rPr lang="es-MX" dirty="0" err="1"/>
              <a:t>University</a:t>
            </a:r>
            <a:r>
              <a:rPr lang="es-MX" dirty="0"/>
              <a:t> propone el vínculo entre la meta de inflación y el problema del límite inferior cero. Además de indicar que estar dentro de este límite podría agravar cualquier crisis, opinión que es compartida por otros economistas como Olivier Blanchard.</a:t>
            </a:r>
          </a:p>
          <a:p>
            <a:endParaRPr lang="es-MX" dirty="0"/>
          </a:p>
          <a:p>
            <a:r>
              <a:rPr lang="es-MX" dirty="0"/>
              <a:t>En el mismo trabajo Laurence Ball propone que la historia de la inflación podría ayudar a explicar porque no se había padecido del problema del límite inferior cero. Pone de ejemplo a japón y la recesión de 2008 indicando que estas sucedieron en periodos en los cuales le meta de inflación era baja para las economías avanzadas.</a:t>
            </a:r>
          </a:p>
          <a:p>
            <a:endParaRPr lang="es-MX" dirty="0"/>
          </a:p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00DCB3C-08D4-50A6-D500-C836FCBA5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6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49619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24802-8B58-7C7C-890E-B59CB0FCB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25915AB-6BA2-95BC-D49C-CA2D8B467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0F87483-6A59-80EB-912D-1AFC17626A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The</a:t>
            </a:r>
            <a:r>
              <a:rPr lang="es-MX" dirty="0"/>
              <a:t> case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four</a:t>
            </a:r>
            <a:r>
              <a:rPr lang="es-MX" dirty="0"/>
              <a:t> </a:t>
            </a:r>
            <a:r>
              <a:rPr lang="es-MX" dirty="0" err="1"/>
              <a:t>percent</a:t>
            </a:r>
            <a:r>
              <a:rPr lang="es-MX" dirty="0"/>
              <a:t> </a:t>
            </a:r>
            <a:r>
              <a:rPr lang="es-MX" dirty="0" err="1"/>
              <a:t>inflation</a:t>
            </a:r>
            <a:r>
              <a:rPr lang="es-MX" dirty="0"/>
              <a:t> – Laurence Ball – </a:t>
            </a:r>
            <a:r>
              <a:rPr lang="es-MX" dirty="0" err="1"/>
              <a:t>Jhons</a:t>
            </a:r>
            <a:r>
              <a:rPr lang="es-MX" dirty="0"/>
              <a:t> Hopkins </a:t>
            </a:r>
            <a:r>
              <a:rPr lang="es-MX" dirty="0" err="1"/>
              <a:t>University</a:t>
            </a:r>
            <a:r>
              <a:rPr lang="es-MX" dirty="0"/>
              <a:t> propone el vínculo entre la meta de inflación y el problema del límite inferior cero. Además de indicar que estar dentro de este límite podría agravar cualquier crisis, opinión que es compartida por otros economistas como Olivier Blanchard.</a:t>
            </a:r>
          </a:p>
          <a:p>
            <a:endParaRPr lang="es-MX" dirty="0"/>
          </a:p>
          <a:p>
            <a:r>
              <a:rPr lang="es-MX" dirty="0"/>
              <a:t>En el mismo trabajo Laurence Ball propone que la historia de la inflación podría ayudar a explicar porque no se había padecido del problema del límite inferior cero. Pone de ejemplo a japón y la recesión de 2008 indicando que estas sucedieron en periodos en los cuales le meta de inflación era baja para las economías avanzadas.</a:t>
            </a:r>
          </a:p>
          <a:p>
            <a:endParaRPr lang="es-MX" dirty="0"/>
          </a:p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7A3409-962C-1CB5-6040-77B96A33F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10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79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The</a:t>
            </a:r>
            <a:r>
              <a:rPr lang="es-MX" dirty="0"/>
              <a:t> case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four</a:t>
            </a:r>
            <a:r>
              <a:rPr lang="es-MX" dirty="0"/>
              <a:t> </a:t>
            </a:r>
            <a:r>
              <a:rPr lang="es-MX" dirty="0" err="1"/>
              <a:t>percent</a:t>
            </a:r>
            <a:r>
              <a:rPr lang="es-MX" dirty="0"/>
              <a:t> </a:t>
            </a:r>
            <a:r>
              <a:rPr lang="es-MX" dirty="0" err="1"/>
              <a:t>inflation</a:t>
            </a:r>
            <a:r>
              <a:rPr lang="es-MX" dirty="0"/>
              <a:t> – Laurence Ball – </a:t>
            </a:r>
            <a:r>
              <a:rPr lang="es-MX" dirty="0" err="1"/>
              <a:t>Jhons</a:t>
            </a:r>
            <a:r>
              <a:rPr lang="es-MX" dirty="0"/>
              <a:t> Hopkins </a:t>
            </a:r>
            <a:r>
              <a:rPr lang="es-MX" dirty="0" err="1"/>
              <a:t>University</a:t>
            </a:r>
            <a:r>
              <a:rPr lang="es-MX" dirty="0"/>
              <a:t> propone el vínculo entre la meta de inflación y el problema del límite inferior cero. Además de indicar que estar dentro de este límite podría agravar cualquier crisis, opinión que es compartida por otros economistas como Olivier Blanchard.</a:t>
            </a:r>
          </a:p>
          <a:p>
            <a:endParaRPr lang="es-MX" dirty="0"/>
          </a:p>
          <a:p>
            <a:r>
              <a:rPr lang="es-MX" dirty="0"/>
              <a:t>En el mismo trabajo Laurence Ball propone que la historia de la inflación podría ayudar a explicar porque no se había padecido del problema del límite inferior cero. Pone de ejemplo a japón y la recesión de 2008 indicando que estas sucedieron en periodos en los cuales le meta de inflación era baja para las economías avanzadas.</a:t>
            </a:r>
          </a:p>
          <a:p>
            <a:endParaRPr lang="es-MX" dirty="0"/>
          </a:p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16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308393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3E1BE-7E56-C2C8-3FAB-5B316853D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20D4482-9719-9775-987C-20194D08A3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382C909-EDBE-935C-0DEB-3C91FCB3B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Blanchard por ejemplo propone una meta en torno al 3 o 4%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C814985-C659-237A-C8CD-5F1B4F3F50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18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58633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3D1A0-6DD0-541C-C839-C9E61CA78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5AA3547-9576-FD88-1E58-298A2FC630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450B40C-EBD4-9169-5E12-22BDA188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69A039-42A7-309E-1818-72A35D0651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19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54731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608F-F5B2-7D1E-F3B4-E5C047660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4771F8-A5AF-2668-D01E-804B99FFF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818F0D6-F8B1-A069-D451-CE200BBED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Blanchard por ejemplo propone una meta en torno al 3 o 4%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473DF02-F3C2-8E9A-2DB2-06A62FEA35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6B6AF6-8D20-47C3-B043-A4175CDAFA80}" type="slidenum">
              <a:rPr lang="es-MX" smtClean="0"/>
              <a:t>21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5479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C489B-6F11-43C2-B59C-A16E77CED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581BB51-EF15-41A3-8405-A7B4E2EB9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C28AEB-2F07-4D8C-A2E2-580F85A38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1A2453-F67D-4765-8AE1-4E2325754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1ED1F2-212F-41BC-98E9-3FC585E05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01935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9B028-6B31-4ACB-821F-FDFC21CE9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8570EF-72DA-42EF-9113-108FB6794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F2D7CE-59E3-438B-BD73-216AB6413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F42CEB-251F-4479-9936-AF05CC0DF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EAEA5EA-BBE6-41EE-9386-CB365491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70539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75F74-0973-47AE-AAB5-7D83B8986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DB2E791-C4E3-4F05-8182-73CA89428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996EAAC-920B-4E9E-9718-8C2F46E9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E9745B-570D-4250-9790-29DC5200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447EFE-48A2-4B32-8C1F-D52919EE2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8524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76AECE-9F02-4A10-B180-4249ABE8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8982AE-D1DE-437D-B06A-905F2915F8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02E218D-884D-4937-ADB3-1DC067B64A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35BF05-7B9C-45D3-8D94-DCC0C55C2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1D9D067-7482-405C-9725-D7BD831EC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CB20F0D-E4E8-4037-A509-FE0334007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089948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D4CEE4-751C-41CA-8A85-DA7E63DE8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EF0BEEC-1A9F-48AE-9342-26E5751D6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CACB47E-12E2-45BA-9DAC-6DFBB8C26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C3D8530-D6BC-4552-B46A-ACFFF28458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59D761F-E67A-48CE-8D8E-6BFAD2DA8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DF86A71-29F9-4042-A7CC-B10D6E119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07A42DB-40AE-48EA-AEA0-004B9FC53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200B0AA-C1CA-489A-B955-71FC57A86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671652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381559-553F-4156-BE5A-DDA2BDB8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831B6F-FC91-46E9-AF0E-14687FC6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1D4840B-3510-4D46-95F9-4BAB21607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6301C2-B966-484F-A207-3D13EE1B4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93716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CF6A49D-19AF-4B3E-BF96-D18F89C6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32C2EB8-0DF8-4E66-8886-F930E5134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B6F46F0-035A-4AE9-8B34-D3163A4A8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04777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375D32-E2CF-48A7-9AE6-E542A183C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D4BDAE-C21B-490F-9E6D-C23DAA5D1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D4F73E-49BD-48F4-B6FC-8FBAE596C1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756D542-DC57-4EC6-B039-E65C3DC53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00B3145-F035-4526-BC8F-1F485C3E6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0C8CF14-0901-4F08-90F4-C36C1F3AE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38577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7B2C8C-0DEB-4CAB-B0D0-053033388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F5C2178-5B2A-4742-BD2D-6AF3822DDF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1D62EE-93C6-4F39-96CE-B9A0F310F2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7F37D26-9A3F-405B-B4BA-7C407BCA9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E28E0CB-8BFD-42EE-BE5B-79C238410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06A02E3-FE4E-4175-AFE0-A4A3379CE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6400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DF781A-342F-4707-BA3B-4441EFCB4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A764C5A-1724-431B-8632-CAEA8DB47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AB1DEA-1869-4E53-8BB8-064162A3E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CAAC54A-1BD3-4F45-971D-4AC95E1B6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DE40B26-F095-454A-BD41-2109BB8B9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0330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ED5CAC-C9E0-40C9-85B8-B768CA32E9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467D9E6-123F-41B7-A04F-DCA753C81F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FB598A-56BC-46F3-B83E-1253BF71F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925A9B-E620-4C4A-88E6-383AF9626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DF1B5D-1F1E-417A-985A-E6FAB540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245689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99E81DA-632F-4299-86AA-DCE8552E6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0A8CBD5-EAA2-42A8-98B4-EBD1B6036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0C411A-98C9-437D-B36B-A34C603187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07358E-6E89-42EC-A39F-28F52F3BB1DC}" type="datetimeFigureOut">
              <a:rPr lang="es-GT" smtClean="0"/>
              <a:t>04/11/2025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B54C67-9F37-478C-AD62-79A0A9FA12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B1516F-ADAF-48DB-8451-CEA724D936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8E36B0-AB87-4E02-9E91-54D4050C1E9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38733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microsoft.com/office/2018/10/relationships/comments" Target="../comments/modernComment_10A_7744245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0456-9D0A-458C-8A2E-EC9E7705C9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D8893AB-0534-4B88-9B3D-6ABA4EB9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0A1BD8A-D1C9-4547-BAB9-AFF89C45A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76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AA1A9-8DB9-8217-6799-61188BA1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AB09F7BA-0A85-1EAF-B696-43D631D42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08956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A6C8FC43-76E7-592A-8555-D7EDEA428B80}"/>
              </a:ext>
            </a:extLst>
          </p:cNvPr>
          <p:cNvSpPr txBox="1"/>
          <p:nvPr/>
        </p:nvSpPr>
        <p:spPr>
          <a:xfrm>
            <a:off x="3575381" y="2357717"/>
            <a:ext cx="46710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800" b="1" dirty="0">
                <a:solidFill>
                  <a:schemeClr val="bg1"/>
                </a:solidFill>
                <a:latin typeface="Libre Franklin" pitchFamily="2" charset="0"/>
              </a:rPr>
              <a:t>Revisión literaria</a:t>
            </a:r>
          </a:p>
        </p:txBody>
      </p:sp>
    </p:spTree>
    <p:extLst>
      <p:ext uri="{BB962C8B-B14F-4D97-AF65-F5344CB8AC3E}">
        <p14:creationId xmlns:p14="http://schemas.microsoft.com/office/powerpoint/2010/main" val="186625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0456-9D0A-458C-8A2E-EC9E7705C9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D8893AB-0534-4B88-9B3D-6ABA4EB9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C209CE5-AFD2-4CA7-8D90-C1E60E946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BBF9201-58C7-4E4D-ABE8-980848FA6D59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Bibliografía consultada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41A554FA-D2F8-4E55-B343-5244ABC3AFF3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6430297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7D7D931-49AF-4697-AA0B-140B7ADA1D91}"/>
              </a:ext>
            </a:extLst>
          </p:cNvPr>
          <p:cNvSpPr txBox="1"/>
          <p:nvPr/>
        </p:nvSpPr>
        <p:spPr>
          <a:xfrm>
            <a:off x="165181" y="730459"/>
            <a:ext cx="11546173" cy="492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latin typeface="Libre Franklin" pitchFamily="2" charset="0"/>
              </a:rPr>
              <a:t>Monetary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Policy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Strategy</a:t>
            </a:r>
            <a:r>
              <a:rPr lang="es-MX" sz="2000" dirty="0">
                <a:latin typeface="Libre Franklin" pitchFamily="2" charset="0"/>
              </a:rPr>
              <a:t>: </a:t>
            </a:r>
            <a:r>
              <a:rPr lang="es-MX" sz="2000" dirty="0" err="1">
                <a:latin typeface="Libre Franklin" pitchFamily="2" charset="0"/>
              </a:rPr>
              <a:t>Lessons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From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The</a:t>
            </a:r>
            <a:r>
              <a:rPr lang="es-MX" sz="2000" dirty="0">
                <a:latin typeface="Libre Franklin" pitchFamily="2" charset="0"/>
              </a:rPr>
              <a:t> Crisis </a:t>
            </a:r>
            <a:r>
              <a:rPr lang="es-MX" sz="2000" dirty="0" err="1">
                <a:latin typeface="Libre Franklin" pitchFamily="2" charset="0"/>
              </a:rPr>
              <a:t>Mishkin</a:t>
            </a:r>
            <a:r>
              <a:rPr lang="es-MX" sz="2000" dirty="0">
                <a:latin typeface="Libre Franklin" pitchFamily="2" charset="0"/>
              </a:rPr>
              <a:t> 2011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MX" sz="2000" dirty="0">
                <a:latin typeface="Libre Franklin" pitchFamily="2" charset="0"/>
              </a:rPr>
              <a:t>Evaluación de la Política Monetaria 2015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MX" sz="2000" dirty="0">
                <a:latin typeface="Libre Franklin" pitchFamily="2" charset="0"/>
              </a:rPr>
              <a:t>Evaluación del diseño e implementación de la política monetaria y cambiaria del Banco</a:t>
            </a:r>
          </a:p>
          <a:p>
            <a:pPr lvl="1">
              <a:lnSpc>
                <a:spcPct val="200000"/>
              </a:lnSpc>
            </a:pPr>
            <a:r>
              <a:rPr lang="es-MX" sz="2000" dirty="0">
                <a:latin typeface="Libre Franklin" pitchFamily="2" charset="0"/>
              </a:rPr>
              <a:t>      de Guatemala 2012-2022 Sebastián Edwards.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latin typeface="Libre Franklin" pitchFamily="2" charset="0"/>
              </a:rPr>
              <a:t>Measurement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Errors</a:t>
            </a:r>
            <a:r>
              <a:rPr lang="es-MX" sz="2000" dirty="0">
                <a:latin typeface="Libre Franklin" pitchFamily="2" charset="0"/>
              </a:rPr>
              <a:t> in </a:t>
            </a:r>
            <a:r>
              <a:rPr lang="es-MX" sz="2000" dirty="0" err="1">
                <a:latin typeface="Libre Franklin" pitchFamily="2" charset="0"/>
              </a:rPr>
              <a:t>the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Consumer</a:t>
            </a:r>
            <a:r>
              <a:rPr lang="es-MX" sz="2000" dirty="0">
                <a:latin typeface="Libre Franklin" pitchFamily="2" charset="0"/>
              </a:rPr>
              <a:t> Price </a:t>
            </a:r>
            <a:r>
              <a:rPr lang="es-MX" sz="2000" dirty="0" err="1">
                <a:latin typeface="Libre Franklin" pitchFamily="2" charset="0"/>
              </a:rPr>
              <a:t>Index</a:t>
            </a:r>
            <a:r>
              <a:rPr lang="es-MX" sz="2000" dirty="0">
                <a:latin typeface="Libre Franklin" pitchFamily="2" charset="0"/>
              </a:rPr>
              <a:t>: </a:t>
            </a:r>
            <a:r>
              <a:rPr lang="es-MX" sz="2000" dirty="0" err="1">
                <a:latin typeface="Libre Franklin" pitchFamily="2" charset="0"/>
              </a:rPr>
              <a:t>Perspectives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on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Numerical</a:t>
            </a:r>
            <a:endParaRPr lang="es-MX" sz="2000" dirty="0">
              <a:latin typeface="Libre Franklin" pitchFamily="2" charset="0"/>
            </a:endParaRPr>
          </a:p>
          <a:p>
            <a:pPr lvl="1">
              <a:lnSpc>
                <a:spcPct val="200000"/>
              </a:lnSpc>
            </a:pPr>
            <a:r>
              <a:rPr lang="es-MX" sz="2000" dirty="0">
                <a:latin typeface="Libre Franklin" pitchFamily="2" charset="0"/>
              </a:rPr>
              <a:t>      Targets </a:t>
            </a:r>
            <a:r>
              <a:rPr lang="es-MX" sz="2000" dirty="0" err="1">
                <a:latin typeface="Libre Franklin" pitchFamily="2" charset="0"/>
              </a:rPr>
              <a:t>for</a:t>
            </a:r>
            <a:r>
              <a:rPr lang="es-MX" sz="2000" dirty="0">
                <a:latin typeface="Libre Franklin" pitchFamily="2" charset="0"/>
              </a:rPr>
              <a:t> Price </a:t>
            </a:r>
            <a:r>
              <a:rPr lang="es-MX" sz="2000" dirty="0" err="1">
                <a:latin typeface="Libre Franklin" pitchFamily="2" charset="0"/>
              </a:rPr>
              <a:t>Stability</a:t>
            </a:r>
            <a:r>
              <a:rPr lang="es-MX" sz="2000" dirty="0">
                <a:latin typeface="Libre Franklin" pitchFamily="2" charset="0"/>
              </a:rPr>
              <a:t> in </a:t>
            </a:r>
            <a:r>
              <a:rPr lang="es-MX" sz="2000" dirty="0" err="1">
                <a:latin typeface="Libre Franklin" pitchFamily="2" charset="0"/>
              </a:rPr>
              <a:t>Major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Economies</a:t>
            </a:r>
            <a:r>
              <a:rPr lang="es-MX" sz="2000" dirty="0">
                <a:latin typeface="Libre Franklin" pitchFamily="2" charset="0"/>
              </a:rPr>
              <a:t> Bank </a:t>
            </a:r>
            <a:r>
              <a:rPr lang="es-MX" sz="2000" dirty="0" err="1">
                <a:latin typeface="Libre Franklin" pitchFamily="2" charset="0"/>
              </a:rPr>
              <a:t>of</a:t>
            </a:r>
            <a:r>
              <a:rPr lang="es-MX" sz="2000" dirty="0">
                <a:latin typeface="Libre Franklin" pitchFamily="2" charset="0"/>
              </a:rPr>
              <a:t> </a:t>
            </a:r>
            <a:r>
              <a:rPr lang="es-MX" sz="2000" dirty="0" err="1">
                <a:latin typeface="Libre Franklin" pitchFamily="2" charset="0"/>
              </a:rPr>
              <a:t>Japan</a:t>
            </a:r>
            <a:r>
              <a:rPr lang="es-MX" sz="2000" dirty="0">
                <a:latin typeface="Libre Franklin" pitchFamily="2" charset="0"/>
              </a:rPr>
              <a:t> 2024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GT" sz="2000" dirty="0" err="1">
                <a:latin typeface="Libre Franklin" pitchFamily="2" charset="0"/>
              </a:rPr>
              <a:t>Structural</a:t>
            </a:r>
            <a:r>
              <a:rPr lang="es-GT" sz="2000" dirty="0">
                <a:latin typeface="Libre Franklin" pitchFamily="2" charset="0"/>
              </a:rPr>
              <a:t> </a:t>
            </a:r>
            <a:r>
              <a:rPr lang="es-GT" sz="2000" dirty="0" err="1">
                <a:latin typeface="Libre Franklin" pitchFamily="2" charset="0"/>
              </a:rPr>
              <a:t>Estimates</a:t>
            </a:r>
            <a:r>
              <a:rPr lang="es-GT" sz="2000" dirty="0">
                <a:latin typeface="Libre Franklin" pitchFamily="2" charset="0"/>
              </a:rPr>
              <a:t> </a:t>
            </a:r>
            <a:r>
              <a:rPr lang="es-GT" sz="2000" dirty="0" err="1">
                <a:latin typeface="Libre Franklin" pitchFamily="2" charset="0"/>
              </a:rPr>
              <a:t>of</a:t>
            </a:r>
            <a:r>
              <a:rPr lang="es-GT" sz="2000" dirty="0">
                <a:latin typeface="Libre Franklin" pitchFamily="2" charset="0"/>
              </a:rPr>
              <a:t> </a:t>
            </a:r>
            <a:r>
              <a:rPr lang="es-GT" sz="2000" dirty="0" err="1">
                <a:latin typeface="Libre Franklin" pitchFamily="2" charset="0"/>
              </a:rPr>
              <a:t>the</a:t>
            </a:r>
            <a:r>
              <a:rPr lang="es-GT" sz="2000" dirty="0">
                <a:latin typeface="Libre Franklin" pitchFamily="2" charset="0"/>
              </a:rPr>
              <a:t> U.S. </a:t>
            </a:r>
            <a:r>
              <a:rPr lang="es-GT" sz="2000" dirty="0" err="1">
                <a:latin typeface="Libre Franklin" pitchFamily="2" charset="0"/>
              </a:rPr>
              <a:t>Sacrifice</a:t>
            </a:r>
            <a:r>
              <a:rPr lang="es-GT" sz="2000" dirty="0">
                <a:latin typeface="Libre Franklin" pitchFamily="2" charset="0"/>
              </a:rPr>
              <a:t> Ratio Federal Reserve Bank </a:t>
            </a:r>
            <a:r>
              <a:rPr lang="es-GT" sz="2000" dirty="0" err="1">
                <a:latin typeface="Libre Franklin" pitchFamily="2" charset="0"/>
              </a:rPr>
              <a:t>of</a:t>
            </a:r>
            <a:r>
              <a:rPr lang="es-GT" sz="2000" dirty="0">
                <a:latin typeface="Libre Franklin" pitchFamily="2" charset="0"/>
              </a:rPr>
              <a:t> New York 2001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GT" sz="2000" dirty="0" err="1">
                <a:latin typeface="Libre Franklin" pitchFamily="2" charset="0"/>
              </a:rPr>
              <a:t>The</a:t>
            </a:r>
            <a:r>
              <a:rPr lang="es-GT" sz="2000" dirty="0">
                <a:latin typeface="Libre Franklin" pitchFamily="2" charset="0"/>
              </a:rPr>
              <a:t> case </a:t>
            </a:r>
            <a:r>
              <a:rPr lang="es-GT" sz="2000" dirty="0" err="1">
                <a:latin typeface="Libre Franklin" pitchFamily="2" charset="0"/>
              </a:rPr>
              <a:t>for</a:t>
            </a:r>
            <a:r>
              <a:rPr lang="es-GT" sz="2000" dirty="0">
                <a:latin typeface="Libre Franklin" pitchFamily="2" charset="0"/>
              </a:rPr>
              <a:t> </a:t>
            </a:r>
            <a:r>
              <a:rPr lang="es-GT" sz="2000" dirty="0" err="1">
                <a:latin typeface="Libre Franklin" pitchFamily="2" charset="0"/>
              </a:rPr>
              <a:t>four</a:t>
            </a:r>
            <a:r>
              <a:rPr lang="es-GT" sz="2000" dirty="0">
                <a:latin typeface="Libre Franklin" pitchFamily="2" charset="0"/>
              </a:rPr>
              <a:t> </a:t>
            </a:r>
            <a:r>
              <a:rPr lang="es-GT" sz="2000" dirty="0" err="1">
                <a:latin typeface="Libre Franklin" pitchFamily="2" charset="0"/>
              </a:rPr>
              <a:t>percent</a:t>
            </a:r>
            <a:r>
              <a:rPr lang="es-GT" sz="2000" dirty="0">
                <a:latin typeface="Libre Franklin" pitchFamily="2" charset="0"/>
              </a:rPr>
              <a:t> </a:t>
            </a:r>
            <a:r>
              <a:rPr lang="es-GT" sz="2000" dirty="0" err="1">
                <a:latin typeface="Libre Franklin" pitchFamily="2" charset="0"/>
              </a:rPr>
              <a:t>inflation</a:t>
            </a:r>
            <a:r>
              <a:rPr lang="es-GT" sz="2000" dirty="0">
                <a:latin typeface="Libre Franklin" pitchFamily="2" charset="0"/>
              </a:rPr>
              <a:t> Laurence Ball 2013. </a:t>
            </a:r>
          </a:p>
        </p:txBody>
      </p:sp>
    </p:spTree>
    <p:extLst>
      <p:ext uri="{BB962C8B-B14F-4D97-AF65-F5344CB8AC3E}">
        <p14:creationId xmlns:p14="http://schemas.microsoft.com/office/powerpoint/2010/main" val="1763056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AA1A9-8DB9-8217-6799-61188BA1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AB09F7BA-0A85-1EAF-B696-43D631D42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08956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A6C8FC43-76E7-592A-8555-D7EDEA428B80}"/>
              </a:ext>
            </a:extLst>
          </p:cNvPr>
          <p:cNvSpPr txBox="1"/>
          <p:nvPr/>
        </p:nvSpPr>
        <p:spPr>
          <a:xfrm>
            <a:off x="3575381" y="2357717"/>
            <a:ext cx="46710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800" b="1" dirty="0">
                <a:solidFill>
                  <a:schemeClr val="bg1"/>
                </a:solidFill>
                <a:latin typeface="Libre Franklin" pitchFamily="2" charset="0"/>
              </a:rPr>
              <a:t>Costos de la inflación</a:t>
            </a:r>
          </a:p>
        </p:txBody>
      </p:sp>
    </p:spTree>
    <p:extLst>
      <p:ext uri="{BB962C8B-B14F-4D97-AF65-F5344CB8AC3E}">
        <p14:creationId xmlns:p14="http://schemas.microsoft.com/office/powerpoint/2010/main" val="2224759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0456-9D0A-458C-8A2E-EC9E7705C9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D8893AB-0534-4B88-9B3D-6ABA4EB9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C209CE5-AFD2-4CA7-8D90-C1E60E946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BBF9201-58C7-4E4D-ABE8-980848FA6D59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Aspectos conceptuales de la inflación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41A554FA-D2F8-4E55-B343-5244ABC3AFF3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6430297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lipse 8">
            <a:extLst>
              <a:ext uri="{FF2B5EF4-FFF2-40B4-BE49-F238E27FC236}">
                <a16:creationId xmlns:a16="http://schemas.microsoft.com/office/drawing/2014/main" id="{627394BC-6D40-41E5-97F0-3D4AF919DAD6}"/>
              </a:ext>
            </a:extLst>
          </p:cNvPr>
          <p:cNvSpPr/>
          <p:nvPr/>
        </p:nvSpPr>
        <p:spPr>
          <a:xfrm>
            <a:off x="582224" y="1068363"/>
            <a:ext cx="108000" cy="108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091F251-68D4-4990-A661-823B8FC87A9C}"/>
              </a:ext>
            </a:extLst>
          </p:cNvPr>
          <p:cNvSpPr txBox="1"/>
          <p:nvPr/>
        </p:nvSpPr>
        <p:spPr>
          <a:xfrm>
            <a:off x="690224" y="922307"/>
            <a:ext cx="9899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latin typeface="Libre Franklin" pitchFamily="2" charset="0"/>
              </a:rPr>
              <a:t>Costos</a:t>
            </a:r>
            <a:endParaRPr lang="es-GT" b="1" dirty="0">
              <a:latin typeface="Libre Franklin" pitchFamily="2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7D7D931-49AF-4697-AA0B-140B7ADA1D91}"/>
              </a:ext>
            </a:extLst>
          </p:cNvPr>
          <p:cNvSpPr txBox="1"/>
          <p:nvPr/>
        </p:nvSpPr>
        <p:spPr>
          <a:xfrm>
            <a:off x="1085481" y="1421745"/>
            <a:ext cx="10453657" cy="373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1- Erosión del poder adquisitivo de los hogares</a:t>
            </a:r>
          </a:p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2- Aumento de costos de producción para las empresas</a:t>
            </a:r>
          </a:p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3- Pérdida de competitividad (apreciación del tipo de cambio real)</a:t>
            </a:r>
          </a:p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4- Reduce la credibilidad de la Autoridad Monetaria</a:t>
            </a:r>
          </a:p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5- Aumento de la incertidumbre en el entorno económico</a:t>
            </a:r>
          </a:p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6- Efecto redistributivo del ingreso y la riqueza en perjuicio de los hogares con menos</a:t>
            </a:r>
          </a:p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      recursos</a:t>
            </a:r>
          </a:p>
          <a:p>
            <a:pPr>
              <a:lnSpc>
                <a:spcPct val="150000"/>
              </a:lnSpc>
            </a:pPr>
            <a:r>
              <a:rPr lang="es-ES" sz="2000" dirty="0">
                <a:latin typeface="Libre Franklin" pitchFamily="2" charset="0"/>
              </a:rPr>
              <a:t>7- Genera distorsiones en los precios relativos</a:t>
            </a:r>
            <a:endParaRPr lang="es-GT" sz="2000" dirty="0">
              <a:latin typeface="Libre Frankli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919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AA1A9-8DB9-8217-6799-61188BA1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AB09F7BA-0A85-1EAF-B696-43D631D42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08956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A6C8FC43-76E7-592A-8555-D7EDEA428B80}"/>
              </a:ext>
            </a:extLst>
          </p:cNvPr>
          <p:cNvSpPr txBox="1"/>
          <p:nvPr/>
        </p:nvSpPr>
        <p:spPr>
          <a:xfrm>
            <a:off x="3575381" y="2357717"/>
            <a:ext cx="467107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800" b="1" dirty="0">
                <a:solidFill>
                  <a:schemeClr val="bg1"/>
                </a:solidFill>
                <a:latin typeface="Libre Franklin" pitchFamily="2" charset="0"/>
              </a:rPr>
              <a:t>Inconvenientes estadísticos de inflación cero</a:t>
            </a:r>
          </a:p>
        </p:txBody>
      </p:sp>
    </p:spTree>
    <p:extLst>
      <p:ext uri="{BB962C8B-B14F-4D97-AF65-F5344CB8AC3E}">
        <p14:creationId xmlns:p14="http://schemas.microsoft.com/office/powerpoint/2010/main" val="846759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F0AAD-ECC2-32BE-DECD-0D9604DA3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00F02-ABC8-21BB-307E-1566DCF51A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E58B2C-E433-81DA-70CB-142F66D78F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B669E8B-6D95-C7F1-3F5A-CFA3D8C0D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D9E3BE8-5C07-C585-EA90-C2BBA38C9D99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Inconvenientes estadísticos de inflación cero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8A7597A-60A0-AD08-21CB-F17E93085EDA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FC108DCB-15E3-DC3E-70ED-F000A2B1A319}"/>
              </a:ext>
            </a:extLst>
          </p:cNvPr>
          <p:cNvSpPr txBox="1"/>
          <p:nvPr/>
        </p:nvSpPr>
        <p:spPr>
          <a:xfrm>
            <a:off x="490600" y="876271"/>
            <a:ext cx="9899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latin typeface="Libre Franklin" pitchFamily="2" charset="0"/>
              </a:rPr>
              <a:t>Sesgos en la medición de los Índices de Precios al Consumido</a:t>
            </a:r>
            <a:endParaRPr lang="es-ES" sz="2000" dirty="0">
              <a:latin typeface="Libre Franklin" pitchFamily="2" charset="0"/>
            </a:endParaRPr>
          </a:p>
          <a:p>
            <a:endParaRPr lang="es-ES" sz="2000" dirty="0">
              <a:latin typeface="Libre Franklin" pitchFamily="2" charset="0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3A2B211A-07FE-383D-3040-D49980C2AD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3" r="7236"/>
          <a:stretch>
            <a:fillRect/>
          </a:stretch>
        </p:blipFill>
        <p:spPr>
          <a:xfrm>
            <a:off x="6811056" y="1410739"/>
            <a:ext cx="4750969" cy="301918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5E32B4D1-3FE8-041C-85DA-C5B67772E78E}"/>
              </a:ext>
            </a:extLst>
          </p:cNvPr>
          <p:cNvSpPr txBox="1"/>
          <p:nvPr/>
        </p:nvSpPr>
        <p:spPr>
          <a:xfrm>
            <a:off x="490600" y="1724740"/>
            <a:ext cx="615932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800" dirty="0">
                <a:latin typeface="Libre Franklin" pitchFamily="2" charset="0"/>
              </a:rPr>
              <a:t>Desde la publicación del reporte “</a:t>
            </a:r>
            <a:r>
              <a:rPr lang="es-ES" sz="1800" i="1" dirty="0" err="1">
                <a:latin typeface="Libre Franklin" pitchFamily="2" charset="0"/>
              </a:rPr>
              <a:t>Toward</a:t>
            </a:r>
            <a:r>
              <a:rPr lang="es-ES" sz="1800" i="1" dirty="0">
                <a:latin typeface="Libre Franklin" pitchFamily="2" charset="0"/>
              </a:rPr>
              <a:t> a more </a:t>
            </a:r>
            <a:r>
              <a:rPr lang="es-ES" sz="1800" i="1" dirty="0" err="1">
                <a:latin typeface="Libre Franklin" pitchFamily="2" charset="0"/>
              </a:rPr>
              <a:t>accurate</a:t>
            </a:r>
            <a:r>
              <a:rPr lang="es-ES" sz="1800" i="1" dirty="0">
                <a:latin typeface="Libre Franklin" pitchFamily="2" charset="0"/>
              </a:rPr>
              <a:t> </a:t>
            </a:r>
            <a:r>
              <a:rPr lang="es-ES" sz="1800" i="1" dirty="0" err="1">
                <a:latin typeface="Libre Franklin" pitchFamily="2" charset="0"/>
              </a:rPr>
              <a:t>measure</a:t>
            </a:r>
            <a:r>
              <a:rPr lang="es-ES" sz="1800" i="1" dirty="0">
                <a:latin typeface="Libre Franklin" pitchFamily="2" charset="0"/>
              </a:rPr>
              <a:t> </a:t>
            </a:r>
            <a:r>
              <a:rPr lang="es-ES" sz="1800" i="1" dirty="0" err="1">
                <a:latin typeface="Libre Franklin" pitchFamily="2" charset="0"/>
              </a:rPr>
              <a:t>of</a:t>
            </a:r>
            <a:r>
              <a:rPr lang="es-ES" sz="1800" i="1" dirty="0">
                <a:latin typeface="Libre Franklin" pitchFamily="2" charset="0"/>
              </a:rPr>
              <a:t> </a:t>
            </a:r>
            <a:r>
              <a:rPr lang="es-ES" sz="1800" i="1" dirty="0" err="1">
                <a:latin typeface="Libre Franklin" pitchFamily="2" charset="0"/>
              </a:rPr>
              <a:t>the</a:t>
            </a:r>
            <a:r>
              <a:rPr lang="es-ES" sz="1800" i="1" dirty="0">
                <a:latin typeface="Libre Franklin" pitchFamily="2" charset="0"/>
              </a:rPr>
              <a:t> </a:t>
            </a:r>
            <a:r>
              <a:rPr lang="es-ES" sz="1800" i="1" dirty="0" err="1">
                <a:latin typeface="Libre Franklin" pitchFamily="2" charset="0"/>
              </a:rPr>
              <a:t>cost</a:t>
            </a:r>
            <a:r>
              <a:rPr lang="es-ES" sz="1800" i="1" dirty="0">
                <a:latin typeface="Libre Franklin" pitchFamily="2" charset="0"/>
              </a:rPr>
              <a:t> </a:t>
            </a:r>
            <a:r>
              <a:rPr lang="es-ES" sz="1800" i="1" dirty="0" err="1">
                <a:latin typeface="Libre Franklin" pitchFamily="2" charset="0"/>
              </a:rPr>
              <a:t>of</a:t>
            </a:r>
            <a:r>
              <a:rPr lang="es-ES" sz="1800" i="1" dirty="0">
                <a:latin typeface="Libre Franklin" pitchFamily="2" charset="0"/>
              </a:rPr>
              <a:t> living</a:t>
            </a:r>
            <a:r>
              <a:rPr lang="es-ES" sz="1800" dirty="0">
                <a:latin typeface="Libre Franklin" pitchFamily="2" charset="0"/>
              </a:rPr>
              <a:t>” se sabe del sesgo al alza en la medición en la inflación. Pese a los esfuerzos por reducir el sesgo este aun es un problema persistente.</a:t>
            </a:r>
          </a:p>
          <a:p>
            <a:pPr algn="just"/>
            <a:endParaRPr lang="es-ES" dirty="0">
              <a:latin typeface="Libre Franklin" pitchFamily="2" charset="0"/>
            </a:endParaRPr>
          </a:p>
          <a:p>
            <a:pPr algn="just"/>
            <a:r>
              <a:rPr lang="es-ES" dirty="0">
                <a:latin typeface="Libre Franklin" pitchFamily="2" charset="0"/>
              </a:rPr>
              <a:t>Una inflación igual a cero no solo implicaría una mala señal para los agentes, también implica una situación de deflación en la economía.</a:t>
            </a:r>
            <a:endParaRPr lang="es-GT" dirty="0">
              <a:latin typeface="Libre Franklin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C7A651E-480B-516A-D489-3D8527CB3DB1}"/>
              </a:ext>
            </a:extLst>
          </p:cNvPr>
          <p:cNvSpPr txBox="1"/>
          <p:nvPr/>
        </p:nvSpPr>
        <p:spPr>
          <a:xfrm>
            <a:off x="7398913" y="4395129"/>
            <a:ext cx="430248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200" dirty="0">
                <a:latin typeface="Libre Franklin" pitchFamily="2" charset="0"/>
              </a:rPr>
              <a:t>Fuente: </a:t>
            </a:r>
            <a:r>
              <a:rPr lang="es-ES" sz="1200" dirty="0" err="1">
                <a:latin typeface="Libre Franklin" pitchFamily="2" charset="0"/>
              </a:rPr>
              <a:t>Measurement</a:t>
            </a:r>
            <a:r>
              <a:rPr lang="es-ES" sz="1200" dirty="0">
                <a:latin typeface="Libre Franklin" pitchFamily="2" charset="0"/>
              </a:rPr>
              <a:t> </a:t>
            </a:r>
            <a:r>
              <a:rPr lang="es-ES" sz="1200" dirty="0" err="1">
                <a:latin typeface="Libre Franklin" pitchFamily="2" charset="0"/>
              </a:rPr>
              <a:t>Errors</a:t>
            </a:r>
            <a:r>
              <a:rPr lang="es-ES" sz="1200" dirty="0">
                <a:latin typeface="Libre Franklin" pitchFamily="2" charset="0"/>
              </a:rPr>
              <a:t> in </a:t>
            </a:r>
            <a:r>
              <a:rPr lang="es-ES" sz="1200" dirty="0" err="1">
                <a:latin typeface="Libre Franklin" pitchFamily="2" charset="0"/>
              </a:rPr>
              <a:t>the</a:t>
            </a:r>
            <a:r>
              <a:rPr lang="es-ES" sz="1200" dirty="0">
                <a:latin typeface="Libre Franklin" pitchFamily="2" charset="0"/>
              </a:rPr>
              <a:t> </a:t>
            </a:r>
            <a:r>
              <a:rPr lang="es-ES" sz="1200" dirty="0" err="1">
                <a:latin typeface="Libre Franklin" pitchFamily="2" charset="0"/>
              </a:rPr>
              <a:t>Consumer</a:t>
            </a:r>
            <a:r>
              <a:rPr lang="es-ES" sz="1200" dirty="0">
                <a:latin typeface="Libre Franklin" pitchFamily="2" charset="0"/>
              </a:rPr>
              <a:t> Price </a:t>
            </a:r>
            <a:r>
              <a:rPr lang="es-ES" sz="1200" dirty="0" err="1">
                <a:latin typeface="Libre Franklin" pitchFamily="2" charset="0"/>
              </a:rPr>
              <a:t>Index</a:t>
            </a:r>
            <a:r>
              <a:rPr lang="es-ES" sz="1200" dirty="0">
                <a:latin typeface="Libre Franklin" pitchFamily="2" charset="0"/>
              </a:rPr>
              <a:t>: </a:t>
            </a:r>
            <a:r>
              <a:rPr lang="es-ES" sz="1200" dirty="0" err="1">
                <a:latin typeface="Libre Franklin" pitchFamily="2" charset="0"/>
              </a:rPr>
              <a:t>Perspetives</a:t>
            </a:r>
            <a:r>
              <a:rPr lang="es-ES" sz="1200" dirty="0">
                <a:latin typeface="Libre Franklin" pitchFamily="2" charset="0"/>
              </a:rPr>
              <a:t> </a:t>
            </a:r>
            <a:r>
              <a:rPr lang="es-ES" sz="1200" dirty="0" err="1">
                <a:latin typeface="Libre Franklin" pitchFamily="2" charset="0"/>
              </a:rPr>
              <a:t>on</a:t>
            </a:r>
            <a:r>
              <a:rPr lang="es-ES" sz="1200" dirty="0">
                <a:latin typeface="Libre Franklin" pitchFamily="2" charset="0"/>
              </a:rPr>
              <a:t> </a:t>
            </a:r>
            <a:r>
              <a:rPr lang="es-ES" sz="1200" dirty="0" err="1">
                <a:latin typeface="Libre Franklin" pitchFamily="2" charset="0"/>
              </a:rPr>
              <a:t>Numerical</a:t>
            </a:r>
            <a:r>
              <a:rPr lang="es-ES" sz="1200" dirty="0">
                <a:latin typeface="Libre Franklin" pitchFamily="2" charset="0"/>
              </a:rPr>
              <a:t> Targets </a:t>
            </a:r>
            <a:r>
              <a:rPr lang="es-ES" sz="1200" dirty="0" err="1">
                <a:latin typeface="Libre Franklin" pitchFamily="2" charset="0"/>
              </a:rPr>
              <a:t>for</a:t>
            </a:r>
            <a:r>
              <a:rPr lang="es-ES" sz="1200" dirty="0">
                <a:latin typeface="Libre Franklin" pitchFamily="2" charset="0"/>
              </a:rPr>
              <a:t> Price </a:t>
            </a:r>
            <a:r>
              <a:rPr lang="es-ES" sz="1200" dirty="0" err="1">
                <a:latin typeface="Libre Franklin" pitchFamily="2" charset="0"/>
              </a:rPr>
              <a:t>Stability</a:t>
            </a:r>
            <a:r>
              <a:rPr lang="es-ES" sz="1200" dirty="0">
                <a:latin typeface="Libre Franklin" pitchFamily="2" charset="0"/>
              </a:rPr>
              <a:t> in </a:t>
            </a:r>
            <a:r>
              <a:rPr lang="es-ES" sz="1200" dirty="0" err="1">
                <a:latin typeface="Libre Franklin" pitchFamily="2" charset="0"/>
              </a:rPr>
              <a:t>Major</a:t>
            </a:r>
            <a:r>
              <a:rPr lang="es-ES" sz="1200" dirty="0">
                <a:latin typeface="Libre Franklin" pitchFamily="2" charset="0"/>
              </a:rPr>
              <a:t> </a:t>
            </a:r>
            <a:r>
              <a:rPr lang="es-ES" sz="1200" dirty="0" err="1">
                <a:latin typeface="Libre Franklin" pitchFamily="2" charset="0"/>
              </a:rPr>
              <a:t>Economies</a:t>
            </a:r>
            <a:r>
              <a:rPr lang="es-ES" sz="1200" dirty="0">
                <a:latin typeface="Libre Franklin" pitchFamily="2" charset="0"/>
              </a:rPr>
              <a:t>. </a:t>
            </a:r>
          </a:p>
          <a:p>
            <a:pPr algn="just"/>
            <a:endParaRPr lang="es-ES" sz="1200" dirty="0">
              <a:latin typeface="Libre Franklin" pitchFamily="2" charset="0"/>
            </a:endParaRPr>
          </a:p>
          <a:p>
            <a:pPr algn="just"/>
            <a:r>
              <a:rPr lang="es-ES" sz="1200" dirty="0">
                <a:latin typeface="Libre Franklin" pitchFamily="2" charset="0"/>
              </a:rPr>
              <a:t>Banco de Japón</a:t>
            </a:r>
            <a:endParaRPr lang="es-GT" sz="1200" dirty="0">
              <a:latin typeface="Libre Frankli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913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C1E0F-3A03-65A1-EAA9-2150EE119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DD0DA-3E52-35FA-6008-F1DA6CD459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D0F4EF-2D98-0191-3B39-63B5D52D1D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E0DEF24-BB80-82A7-8138-494FBF9BA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DD180B3-394E-F5B7-5528-22C8C3FB6E23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Inconvenientes estadísticos de inflación cero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16C81271-FEEB-0FD9-DC17-5AE6F8772B6E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A345C3F1-0CAB-F332-29D4-4E90E371EDF2}"/>
              </a:ext>
            </a:extLst>
          </p:cNvPr>
          <p:cNvSpPr txBox="1"/>
          <p:nvPr/>
        </p:nvSpPr>
        <p:spPr>
          <a:xfrm>
            <a:off x="490600" y="876271"/>
            <a:ext cx="9899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latin typeface="Libre Franklin" pitchFamily="2" charset="0"/>
              </a:rPr>
              <a:t>Sesgo por calidad de bienes nuevos</a:t>
            </a:r>
            <a:endParaRPr lang="es-ES" sz="2000" dirty="0">
              <a:latin typeface="Libre Franklin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79600FE-70A4-9038-77A0-06B570D2E1D6}"/>
              </a:ext>
            </a:extLst>
          </p:cNvPr>
          <p:cNvSpPr txBox="1"/>
          <p:nvPr/>
        </p:nvSpPr>
        <p:spPr>
          <a:xfrm>
            <a:off x="490599" y="1522473"/>
            <a:ext cx="107397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>
                <a:latin typeface="Libre Franklin" pitchFamily="2" charset="0"/>
              </a:rPr>
              <a:t>La correcta medición de la inflación está condicionada por la capacidad de la metodología para capturar cambios en la demanda, así como la calidad de los bienes que se comercian.</a:t>
            </a:r>
          </a:p>
          <a:p>
            <a:pPr algn="just"/>
            <a:endParaRPr lang="es-ES" dirty="0">
              <a:latin typeface="Libre Franklin" pitchFamily="2" charset="0"/>
            </a:endParaRPr>
          </a:p>
          <a:p>
            <a:pPr algn="just"/>
            <a:r>
              <a:rPr lang="es-ES" dirty="0">
                <a:latin typeface="Libre Franklin" pitchFamily="2" charset="0"/>
              </a:rPr>
              <a:t>Este tipo de sesgo sucede cuando la metodología es incapaz de distinguir los incrementos de precios por aumentos en la calidad, de incrementos asociados a presiones inflacionarias. Así, por ejemplo, la inflación podría sobreestimarse si los incrementos en los precios no son ajustados por mejoras en la calidad de los productos.</a:t>
            </a:r>
          </a:p>
          <a:p>
            <a:pPr algn="just"/>
            <a:endParaRPr lang="es-ES" dirty="0">
              <a:latin typeface="Libre Franklin" pitchFamily="2" charset="0"/>
            </a:endParaRPr>
          </a:p>
          <a:p>
            <a:pPr algn="just"/>
            <a:r>
              <a:rPr lang="es-ES" dirty="0">
                <a:latin typeface="Libre Franklin" pitchFamily="2" charset="0"/>
              </a:rPr>
              <a:t>Este apartado no es trivial, estimaciones muestran que para Estados Unidos este factor contribuye con más de la mitad del error de medición en la inflación.</a:t>
            </a:r>
          </a:p>
          <a:p>
            <a:pPr algn="just"/>
            <a:endParaRPr lang="es-ES" dirty="0">
              <a:latin typeface="Libre Franklin" pitchFamily="2" charset="0"/>
            </a:endParaRPr>
          </a:p>
          <a:p>
            <a:pPr algn="just"/>
            <a:r>
              <a:rPr lang="es-ES" dirty="0">
                <a:latin typeface="Libre Franklin" pitchFamily="2" charset="0"/>
              </a:rPr>
              <a:t>Mantener la inflación objetivo a cero hace susceptible la medición del IPC ante este tipo de sesgo.</a:t>
            </a:r>
            <a:endParaRPr lang="es-GT" dirty="0">
              <a:latin typeface="Libre Frankli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798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3CF66-944B-B561-38B7-8DB736A4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F04B3B-3B77-3927-F643-CADCB5CB6A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877F59-70BB-4F09-BE77-618E736FCE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FA0B3DE-4137-9B06-82DF-EAC23B62AA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039E571-B296-0C93-28A1-AAE2F9E1937D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Inconvenientes estadísticos de inflación cero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C4DC649-EC50-EA59-04D2-E1B33B9BF05D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133A1198-0B2D-C5C1-E75B-D3FA02C8518C}"/>
              </a:ext>
            </a:extLst>
          </p:cNvPr>
          <p:cNvSpPr txBox="1"/>
          <p:nvPr/>
        </p:nvSpPr>
        <p:spPr>
          <a:xfrm>
            <a:off x="490600" y="876271"/>
            <a:ext cx="9899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latin typeface="Libre Franklin" pitchFamily="2" charset="0"/>
              </a:rPr>
              <a:t>Sesgo por calidad de bienes nuevos</a:t>
            </a:r>
            <a:endParaRPr lang="es-ES" sz="2000" dirty="0">
              <a:latin typeface="Libre Franklin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BA88B2-CCD0-DFD2-961F-5CAC23F99EB0}"/>
              </a:ext>
            </a:extLst>
          </p:cNvPr>
          <p:cNvSpPr txBox="1"/>
          <p:nvPr/>
        </p:nvSpPr>
        <p:spPr>
          <a:xfrm>
            <a:off x="5605658" y="1368456"/>
            <a:ext cx="604972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>
                <a:latin typeface="Libre Franklin" pitchFamily="2" charset="0"/>
              </a:rPr>
              <a:t>En lo que refiere a Guatemala, el INE ha señalado que este ha sido uno de los apartados que tomó en cuenta para la base 2023, indicando que: </a:t>
            </a:r>
          </a:p>
          <a:p>
            <a:pPr algn="just"/>
            <a:endParaRPr lang="es-ES" i="1" dirty="0">
              <a:latin typeface="Libre Franklin" pitchFamily="2" charset="0"/>
            </a:endParaRPr>
          </a:p>
          <a:p>
            <a:pPr algn="just"/>
            <a:r>
              <a:rPr lang="es-ES" i="1" dirty="0">
                <a:latin typeface="Libre Franklin" pitchFamily="2" charset="0"/>
              </a:rPr>
              <a:t>“</a:t>
            </a:r>
            <a:r>
              <a:rPr lang="es-GT" i="1" dirty="0">
                <a:latin typeface="Libre Franklin" pitchFamily="2" charset="0"/>
              </a:rPr>
              <a:t>Para cumplir con la recomendación el INE elaboró un documento de especificaciones para cada bien o servicio, que es de uso interno y se realizó un proceso de capacitación para todo el personal de campo”</a:t>
            </a:r>
          </a:p>
          <a:p>
            <a:endParaRPr lang="es-GT" i="1" dirty="0">
              <a:latin typeface="Libre Franklin" pitchFamily="2" charset="0"/>
            </a:endParaRPr>
          </a:p>
          <a:p>
            <a:r>
              <a:rPr lang="es-GT" dirty="0">
                <a:latin typeface="Libre Franklin" pitchFamily="2" charset="0"/>
              </a:rPr>
              <a:t>Aunque se desconoce el grado en el que esta medida corrige el sesgo puesto que no se cuentan con estudios al respecto.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9DA5230-79CD-0B37-FE0F-3013A3589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81" y="1368456"/>
            <a:ext cx="5022077" cy="278776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2644B7C1-71CC-63A2-21F4-6C6550EE22F7}"/>
              </a:ext>
            </a:extLst>
          </p:cNvPr>
          <p:cNvSpPr txBox="1"/>
          <p:nvPr/>
        </p:nvSpPr>
        <p:spPr>
          <a:xfrm>
            <a:off x="413788" y="4124494"/>
            <a:ext cx="49438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200" dirty="0">
                <a:latin typeface="Libre Franklin" pitchFamily="2" charset="0"/>
              </a:rPr>
              <a:t>Fuente: Instituto Nacional de Estadística (INE)</a:t>
            </a:r>
            <a:endParaRPr lang="es-GT" sz="1200" dirty="0">
              <a:latin typeface="Libre Frankli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590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FA0C2-07B7-FF77-4014-C96B90F89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714356D2-3401-7CC0-D922-B47F1D9E4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208956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5E7A8AC5-54C2-29E5-96AE-BF39D1DF35E0}"/>
              </a:ext>
            </a:extLst>
          </p:cNvPr>
          <p:cNvSpPr txBox="1"/>
          <p:nvPr/>
        </p:nvSpPr>
        <p:spPr>
          <a:xfrm>
            <a:off x="3367825" y="2274838"/>
            <a:ext cx="536404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800" b="1" dirty="0">
                <a:solidFill>
                  <a:schemeClr val="bg1"/>
                </a:solidFill>
                <a:latin typeface="Libre Franklin" pitchFamily="2" charset="0"/>
              </a:rPr>
              <a:t>Argumentos a favor de inflación positiva</a:t>
            </a:r>
          </a:p>
        </p:txBody>
      </p:sp>
    </p:spTree>
    <p:extLst>
      <p:ext uri="{BB962C8B-B14F-4D97-AF65-F5344CB8AC3E}">
        <p14:creationId xmlns:p14="http://schemas.microsoft.com/office/powerpoint/2010/main" val="2821158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23FC-4400-9444-7F14-3C262EFC3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843A37-25C7-9ADA-FF5F-F9135FE702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193844-5CDD-7E71-0501-D5CC192D4B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79C6AC4-4583-04F6-1636-C5E07A6329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FB18E91-8199-4AC3-611E-160BBD7EA8CE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Argumentos a favor de una inflación positiva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7B58A893-5585-FAF8-3236-E2609A3B686C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937C6AA0-7B94-BE1D-A404-1E916823BC60}"/>
              </a:ext>
            </a:extLst>
          </p:cNvPr>
          <p:cNvSpPr txBox="1"/>
          <p:nvPr/>
        </p:nvSpPr>
        <p:spPr>
          <a:xfrm>
            <a:off x="490600" y="876271"/>
            <a:ext cx="9899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latin typeface="Libre Franklin" pitchFamily="2" charset="0"/>
              </a:rPr>
              <a:t>Reduce las distorsiones en los precios relativos</a:t>
            </a:r>
            <a:endParaRPr lang="es-ES" sz="2000" dirty="0">
              <a:latin typeface="Libre Franklin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1A0DD47-6E41-D9E8-0966-9354349F7AD8}"/>
              </a:ext>
            </a:extLst>
          </p:cNvPr>
          <p:cNvSpPr txBox="1"/>
          <p:nvPr/>
        </p:nvSpPr>
        <p:spPr>
          <a:xfrm>
            <a:off x="477591" y="1337807"/>
            <a:ext cx="113967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Con bastante regularidad los precios de los productos no se ajustan de forma continua. En contextos de alta inflación o deflación se generan grandes distorsiones en los precios relativos.</a:t>
            </a:r>
          </a:p>
          <a:p>
            <a:pPr algn="just"/>
            <a:endParaRPr lang="es-MX" dirty="0">
              <a:latin typeface="Libre Franklin" pitchFamily="2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>
                <a:latin typeface="Libre Franklin" pitchFamily="2" charset="0"/>
              </a:rPr>
              <a:t>Si el precio de un bien no se ajusta con suficiente velocidad experimenta caídas de sus precios relativos</a:t>
            </a:r>
          </a:p>
          <a:p>
            <a:pPr algn="just"/>
            <a:endParaRPr lang="es-MX" dirty="0">
              <a:latin typeface="Libre Franklin" pitchFamily="2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>
                <a:latin typeface="Libre Franklin" pitchFamily="2" charset="0"/>
              </a:rPr>
              <a:t>En contextos inflacionarios las empresas sobre reaccionan elevando los precios al alza anticipando una caída en sus precios relativos.</a:t>
            </a:r>
            <a:endParaRPr lang="es-GT" dirty="0">
              <a:latin typeface="Libre Franklin" pitchFamily="2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5E7B71F-41C3-F74E-6AEA-E731DBD8928E}"/>
              </a:ext>
            </a:extLst>
          </p:cNvPr>
          <p:cNvSpPr txBox="1"/>
          <p:nvPr/>
        </p:nvSpPr>
        <p:spPr>
          <a:xfrm>
            <a:off x="605307" y="3747978"/>
            <a:ext cx="1083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latin typeface="Libre Franklin" pitchFamily="2" charset="0"/>
              </a:rPr>
              <a:t>Ante lo anterior cabe la pregunta </a:t>
            </a:r>
            <a:r>
              <a:rPr lang="es-MX" b="1" i="1" dirty="0">
                <a:latin typeface="Libre Franklin" pitchFamily="2" charset="0"/>
              </a:rPr>
              <a:t>¿Cuál sería la inflación optima que minimice las distorsiones?</a:t>
            </a:r>
          </a:p>
        </p:txBody>
      </p:sp>
    </p:spTree>
    <p:extLst>
      <p:ext uri="{BB962C8B-B14F-4D97-AF65-F5344CB8AC3E}">
        <p14:creationId xmlns:p14="http://schemas.microsoft.com/office/powerpoint/2010/main" val="3735086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4D007-084B-3E92-BF81-CB032CD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DFD90F-35CE-F96C-BA40-461F696E7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491"/>
            <a:ext cx="9144000" cy="2387600"/>
          </a:xfrm>
        </p:spPr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74319F-3E41-9277-D7FC-DA38D4A2F2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048BB93-3B73-569C-54B8-EF39CB1366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0EDF731-4829-8B01-3AF0-285EE124002B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Argumentos a favor de una inflación positiva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413D6E6-B275-1F80-C826-B606AB130C0C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366161E-2693-3A6A-CC25-6F081F4DF75B}"/>
              </a:ext>
            </a:extLst>
          </p:cNvPr>
          <p:cNvSpPr txBox="1"/>
          <p:nvPr/>
        </p:nvSpPr>
        <p:spPr>
          <a:xfrm>
            <a:off x="325728" y="1002527"/>
            <a:ext cx="11396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Trabajos recientes como </a:t>
            </a:r>
            <a:r>
              <a:rPr lang="es-MX" i="1" dirty="0">
                <a:latin typeface="Libre Franklin" pitchFamily="2" charset="0"/>
              </a:rPr>
              <a:t>“</a:t>
            </a:r>
            <a:r>
              <a:rPr lang="en-US" i="1" dirty="0">
                <a:latin typeface="Libre Franklin" pitchFamily="2" charset="0"/>
              </a:rPr>
              <a:t>Why central banks should aim for a positive inflation target</a:t>
            </a:r>
            <a:r>
              <a:rPr lang="es-MX" i="1" dirty="0">
                <a:latin typeface="Libre Franklin" pitchFamily="2" charset="0"/>
              </a:rPr>
              <a:t>”</a:t>
            </a:r>
            <a:r>
              <a:rPr lang="es-MX" dirty="0">
                <a:latin typeface="Libre Franklin" pitchFamily="2" charset="0"/>
              </a:rPr>
              <a:t> proponen un nivel de inflación positiva a través de la siguiente línea argumentativa.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0D4B353-B2A7-B21D-063D-599EF185EF45}"/>
              </a:ext>
            </a:extLst>
          </p:cNvPr>
          <p:cNvSpPr txBox="1"/>
          <p:nvPr/>
        </p:nvSpPr>
        <p:spPr>
          <a:xfrm>
            <a:off x="463639" y="1809166"/>
            <a:ext cx="11146665" cy="12911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MX" dirty="0">
                <a:latin typeface="Libre Franklin" pitchFamily="2" charset="0"/>
              </a:rPr>
              <a:t>Las mejoras tecnológicas aumenta la eficiencia de producción a lo largo de la vida útil de un bien.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MX" dirty="0">
                <a:latin typeface="Libre Franklin" pitchFamily="2" charset="0"/>
              </a:rPr>
              <a:t>La mejora en la productividad conduce a una caída en los precios relativos.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MX" dirty="0">
                <a:latin typeface="Libre Franklin" pitchFamily="2" charset="0"/>
              </a:rPr>
              <a:t>En consecuencia existe una tendencia decreciente de precios relativos.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FF62F81-80D5-A60E-BF44-1804B01232D0}"/>
              </a:ext>
            </a:extLst>
          </p:cNvPr>
          <p:cNvSpPr txBox="1"/>
          <p:nvPr/>
        </p:nvSpPr>
        <p:spPr>
          <a:xfrm>
            <a:off x="325728" y="3493572"/>
            <a:ext cx="113967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Si la inflación es igual a cero y existen bienes cuyos precios no se actualizan con suficiente velocidad, no se materializa la caída </a:t>
            </a:r>
            <a:r>
              <a:rPr lang="es-MX" i="1" dirty="0">
                <a:latin typeface="Libre Franklin" pitchFamily="2" charset="0"/>
              </a:rPr>
              <a:t>“deseada”</a:t>
            </a:r>
            <a:r>
              <a:rPr lang="es-MX" dirty="0">
                <a:latin typeface="Libre Franklin" pitchFamily="2" charset="0"/>
              </a:rPr>
              <a:t> en sus precios relativos. Una inflación positive, pero moderada contribuye a materializar esta tendencia en los precios relativos.</a:t>
            </a:r>
            <a:endParaRPr lang="es-MX" i="1" dirty="0">
              <a:latin typeface="Libre Frankli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9544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DFD3-8687-6243-1AC7-9DF869F75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D2B7D2-2750-06E7-EC7F-533B1C884C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DD5B005-4BA8-03A3-FCDF-6BB47F78B5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7037FB6-FAFC-7752-6115-C5DD3A53E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095E91F-B5A3-2872-5750-16FDA7149A76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Argumentos a favor de una inflación positiva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C65FA05D-961E-042A-4BAB-41B3974B8AB0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47F9BE4E-4AF1-E515-27A8-5BBD88B40CD7}"/>
              </a:ext>
            </a:extLst>
          </p:cNvPr>
          <p:cNvSpPr txBox="1"/>
          <p:nvPr/>
        </p:nvSpPr>
        <p:spPr>
          <a:xfrm>
            <a:off x="490600" y="876271"/>
            <a:ext cx="9899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latin typeface="Libre Franklin" pitchFamily="2" charset="0"/>
              </a:rPr>
              <a:t>Limite inferior cero</a:t>
            </a:r>
            <a:endParaRPr lang="es-ES" sz="2000" dirty="0">
              <a:latin typeface="Libre Franklin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991B524-8676-AEF3-E6D1-A2F1F580BFD7}"/>
              </a:ext>
            </a:extLst>
          </p:cNvPr>
          <p:cNvSpPr txBox="1"/>
          <p:nvPr/>
        </p:nvSpPr>
        <p:spPr>
          <a:xfrm>
            <a:off x="477591" y="1337807"/>
            <a:ext cx="11396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GT" dirty="0">
                <a:latin typeface="Libre Franklin" pitchFamily="2" charset="0"/>
              </a:rPr>
              <a:t>Anterior a la crisis financiera de 2008 este tema no revestía de gran importancia, una vez ocurrida la crisis este tema ha recibido gran atención por parte de los economistas.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902AFF2-A843-38F8-F34D-6AF6FA7B6F4A}"/>
                  </a:ext>
                </a:extLst>
              </p:cNvPr>
              <p:cNvSpPr txBox="1"/>
              <p:nvPr/>
            </p:nvSpPr>
            <p:spPr>
              <a:xfrm>
                <a:off x="559248" y="2614188"/>
                <a:ext cx="192950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36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s-MX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s-MX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MX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s-MX" sz="3600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902AFF2-A843-38F8-F34D-6AF6FA7B6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248" y="2614188"/>
                <a:ext cx="1929503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7D3ECF0D-67B2-C4FD-EB48-1913454261FD}"/>
                  </a:ext>
                </a:extLst>
              </p:cNvPr>
              <p:cNvSpPr txBox="1"/>
              <p:nvPr/>
            </p:nvSpPr>
            <p:spPr>
              <a:xfrm>
                <a:off x="3105391" y="2270757"/>
                <a:ext cx="240341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MX" sz="3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s-MX" sz="3600" dirty="0"/>
                  <a:t> </a:t>
                </a:r>
                <a:r>
                  <a:rPr lang="es-MX" dirty="0">
                    <a:latin typeface="Libre Franklin" pitchFamily="2" charset="0"/>
                  </a:rPr>
                  <a:t>Tasa de interés real</a:t>
                </a:r>
                <a:endParaRPr lang="es-MX" sz="3600" dirty="0">
                  <a:latin typeface="Libre Franklin" pitchFamily="2" charset="0"/>
                </a:endParaRP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7D3ECF0D-67B2-C4FD-EB48-191345426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391" y="2270757"/>
                <a:ext cx="2403415" cy="553998"/>
              </a:xfrm>
              <a:prstGeom prst="rect">
                <a:avLst/>
              </a:prstGeom>
              <a:blipFill>
                <a:blip r:embed="rId4"/>
                <a:stretch>
                  <a:fillRect r="-7089" b="-13187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E6CAC45E-33A3-D980-CE60-6D44764D2670}"/>
                  </a:ext>
                </a:extLst>
              </p:cNvPr>
              <p:cNvSpPr txBox="1"/>
              <p:nvPr/>
            </p:nvSpPr>
            <p:spPr>
              <a:xfrm>
                <a:off x="3105391" y="2793848"/>
                <a:ext cx="27846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MX" sz="3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MX" sz="3600" dirty="0"/>
                  <a:t> </a:t>
                </a:r>
                <a:r>
                  <a:rPr lang="es-MX" dirty="0">
                    <a:latin typeface="Libre Franklin" pitchFamily="2" charset="0"/>
                  </a:rPr>
                  <a:t>Tasa de interés nominal</a:t>
                </a:r>
                <a:endParaRPr lang="es-MX" sz="3600" dirty="0">
                  <a:latin typeface="Libre Franklin" pitchFamily="2" charset="0"/>
                </a:endParaRPr>
              </a:p>
            </p:txBody>
          </p:sp>
        </mc:Choice>
        <mc:Fallback xmlns="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E6CAC45E-33A3-D980-CE60-6D44764D2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391" y="2793848"/>
                <a:ext cx="2784673" cy="553998"/>
              </a:xfrm>
              <a:prstGeom prst="rect">
                <a:avLst/>
              </a:prstGeom>
              <a:blipFill>
                <a:blip r:embed="rId5"/>
                <a:stretch>
                  <a:fillRect r="-6565" b="-13187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8DB201B2-C3FC-51D0-736E-9777D2BEBB13}"/>
                  </a:ext>
                </a:extLst>
              </p:cNvPr>
              <p:cNvSpPr txBox="1"/>
              <p:nvPr/>
            </p:nvSpPr>
            <p:spPr>
              <a:xfrm>
                <a:off x="3105391" y="3280748"/>
                <a:ext cx="217239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MX" sz="3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s-MX" sz="3600" dirty="0"/>
                  <a:t> </a:t>
                </a:r>
                <a:r>
                  <a:rPr lang="es-MX" dirty="0">
                    <a:latin typeface="Libre Franklin" pitchFamily="2" charset="0"/>
                  </a:rPr>
                  <a:t>Tasa de inflación</a:t>
                </a:r>
                <a:endParaRPr lang="es-MX" sz="3600" dirty="0">
                  <a:latin typeface="Libre Franklin" pitchFamily="2" charset="0"/>
                </a:endParaRPr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8DB201B2-C3FC-51D0-736E-9777D2BEBB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391" y="3280748"/>
                <a:ext cx="2172390" cy="553998"/>
              </a:xfrm>
              <a:prstGeom prst="rect">
                <a:avLst/>
              </a:prstGeom>
              <a:blipFill>
                <a:blip r:embed="rId6"/>
                <a:stretch>
                  <a:fillRect r="-8403" b="-13187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uadroTexto 12">
            <a:extLst>
              <a:ext uri="{FF2B5EF4-FFF2-40B4-BE49-F238E27FC236}">
                <a16:creationId xmlns:a16="http://schemas.microsoft.com/office/drawing/2014/main" id="{B8877BE1-96BF-3C3C-8753-DFC1FE4F60F0}"/>
              </a:ext>
            </a:extLst>
          </p:cNvPr>
          <p:cNvSpPr txBox="1"/>
          <p:nvPr/>
        </p:nvSpPr>
        <p:spPr>
          <a:xfrm>
            <a:off x="265471" y="4290739"/>
            <a:ext cx="113967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GT" dirty="0">
                <a:latin typeface="Libre Franklin" pitchFamily="2" charset="0"/>
              </a:rPr>
              <a:t>Con una inflación objetivo de 0 la política monetaria pierde margen de acción cuando necesita que la tasa de interés real sea negativa, por ejemplo, para estimular la economía en un escenario de recesión o lidiar con episodios deflacionarios.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47062E-1234-F9E1-F042-BC07EAFF42FB}"/>
              </a:ext>
            </a:extLst>
          </p:cNvPr>
          <p:cNvSpPr txBox="1"/>
          <p:nvPr/>
        </p:nvSpPr>
        <p:spPr>
          <a:xfrm>
            <a:off x="6506704" y="2509569"/>
            <a:ext cx="4698642" cy="1200329"/>
          </a:xfrm>
          <a:prstGeom prst="rect">
            <a:avLst/>
          </a:prstGeom>
          <a:noFill/>
          <a:ln w="12700">
            <a:solidFill>
              <a:srgbClr val="FF7F00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s-GT" dirty="0">
                <a:latin typeface="Libre Franklin" pitchFamily="2" charset="0"/>
              </a:rPr>
              <a:t>El argumento es sencillo pero poderoso. La tasa de inflación debe ser positiva ya que debe permitir que la tasa de interés real sea negativa en ciertos momentos.</a:t>
            </a:r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B270A1EB-ED0F-6E46-1F40-615F7F8009C7}"/>
              </a:ext>
            </a:extLst>
          </p:cNvPr>
          <p:cNvSpPr/>
          <p:nvPr/>
        </p:nvSpPr>
        <p:spPr>
          <a:xfrm>
            <a:off x="5824915" y="2236095"/>
            <a:ext cx="364901" cy="1922173"/>
          </a:xfrm>
          <a:prstGeom prst="rightBrace">
            <a:avLst>
              <a:gd name="adj1" fmla="val 8333"/>
              <a:gd name="adj2" fmla="val 50000"/>
            </a:avLst>
          </a:prstGeom>
          <a:ln w="127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56204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0A21E-BDA5-12C2-3BD3-B79D1721F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B330E1-B7A6-941D-BAE7-9678C1EA6F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71F94F6-4165-6596-2349-B346439B44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A0CBFC0-B5D7-074E-BB5A-0C81AD0B9C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9DAC8F1-4652-4776-0770-829CD15D1341}"/>
              </a:ext>
            </a:extLst>
          </p:cNvPr>
          <p:cNvSpPr txBox="1"/>
          <p:nvPr/>
        </p:nvSpPr>
        <p:spPr>
          <a:xfrm>
            <a:off x="165181" y="207239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Argumentos a favor de una inflación positiva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FF9865B6-0CF1-D5CB-0294-AFD2FE306FF5}"/>
              </a:ext>
            </a:extLst>
          </p:cNvPr>
          <p:cNvCxnSpPr>
            <a:cxnSpLocks/>
          </p:cNvCxnSpPr>
          <p:nvPr/>
        </p:nvCxnSpPr>
        <p:spPr>
          <a:xfrm>
            <a:off x="265471" y="730459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Imagen 18">
            <a:extLst>
              <a:ext uri="{FF2B5EF4-FFF2-40B4-BE49-F238E27FC236}">
                <a16:creationId xmlns:a16="http://schemas.microsoft.com/office/drawing/2014/main" id="{28B1F950-25A8-79F8-B05E-F582D04A9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33637"/>
            <a:ext cx="12192000" cy="3793066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3528D8C2-0E05-B583-F44E-FCEF9B964E12}"/>
              </a:ext>
            </a:extLst>
          </p:cNvPr>
          <p:cNvSpPr txBox="1"/>
          <p:nvPr/>
        </p:nvSpPr>
        <p:spPr>
          <a:xfrm>
            <a:off x="265471" y="930513"/>
            <a:ext cx="11647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Según </a:t>
            </a:r>
            <a:r>
              <a:rPr lang="es-MX" dirty="0" err="1">
                <a:latin typeface="Libre Franklin" pitchFamily="2" charset="0"/>
              </a:rPr>
              <a:t>Romer</a:t>
            </a:r>
            <a:r>
              <a:rPr lang="es-MX" dirty="0">
                <a:latin typeface="Libre Franklin" pitchFamily="2" charset="0"/>
              </a:rPr>
              <a:t> y </a:t>
            </a:r>
            <a:r>
              <a:rPr lang="es-MX" dirty="0" err="1">
                <a:latin typeface="Libre Franklin" pitchFamily="2" charset="0"/>
              </a:rPr>
              <a:t>Romer</a:t>
            </a:r>
            <a:r>
              <a:rPr lang="es-MX" dirty="0">
                <a:latin typeface="Libre Franklin" pitchFamily="2" charset="0"/>
              </a:rPr>
              <a:t> (1994) Estados Unidos ha reducido tasas de interés durante cada recesión desde el final de la Segunda Guerra Mundial. 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6856C2F-57D5-A9F4-1C62-2EE7D953A00C}"/>
              </a:ext>
            </a:extLst>
          </p:cNvPr>
          <p:cNvSpPr txBox="1"/>
          <p:nvPr/>
        </p:nvSpPr>
        <p:spPr>
          <a:xfrm>
            <a:off x="165181" y="5487973"/>
            <a:ext cx="23761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100" dirty="0">
                <a:latin typeface="Libre Franklin" pitchFamily="2" charset="0"/>
              </a:rPr>
              <a:t>Fuente: FRED</a:t>
            </a:r>
          </a:p>
        </p:txBody>
      </p:sp>
    </p:spTree>
    <p:extLst>
      <p:ext uri="{BB962C8B-B14F-4D97-AF65-F5344CB8AC3E}">
        <p14:creationId xmlns:p14="http://schemas.microsoft.com/office/powerpoint/2010/main" val="1734542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BB4CC-A329-A358-14FC-2A109F1F4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F5B8B6-68BC-62D9-B9A5-0024FBBF89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0D6378-BB85-6724-EB1B-63E961EDFD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41DCC2D-55DE-0D33-5CA4-1EBB107789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11C12030-4B68-67C9-7D32-B24AF6A62AB6}"/>
              </a:ext>
            </a:extLst>
          </p:cNvPr>
          <p:cNvSpPr txBox="1"/>
          <p:nvPr/>
        </p:nvSpPr>
        <p:spPr>
          <a:xfrm>
            <a:off x="590180" y="5487973"/>
            <a:ext cx="23761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100" dirty="0">
                <a:latin typeface="Libre Franklin" pitchFamily="2" charset="0"/>
              </a:rPr>
              <a:t>Fuente: FRED</a:t>
            </a:r>
          </a:p>
        </p:txBody>
      </p:sp>
      <p:pic>
        <p:nvPicPr>
          <p:cNvPr id="10" name="Imagen 9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59CB8F54-7C33-243F-90CB-39A3A5C051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9" y="8795"/>
            <a:ext cx="6203078" cy="2756924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82E966E-5C0F-0035-BCD7-CFAC23CC5C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477" y="2713482"/>
            <a:ext cx="6204600" cy="275760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51A59B87-38AE-C4AE-956E-FA8A51AF88EF}"/>
              </a:ext>
            </a:extLst>
          </p:cNvPr>
          <p:cNvSpPr txBox="1"/>
          <p:nvPr/>
        </p:nvSpPr>
        <p:spPr>
          <a:xfrm>
            <a:off x="6812923" y="909081"/>
            <a:ext cx="48360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Pero Estados Unidos no ha sido el único, países como Canadá o la Unión Europea también han reducido tu tasa de interés en periodos de recesión.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27E649B-7356-F32F-2454-FF0FC91FAA5F}"/>
              </a:ext>
            </a:extLst>
          </p:cNvPr>
          <p:cNvSpPr txBox="1"/>
          <p:nvPr/>
        </p:nvSpPr>
        <p:spPr>
          <a:xfrm>
            <a:off x="6812923" y="3563948"/>
            <a:ext cx="48360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Como puede notarse, durante la crisis financiera de 2008 las tasas de interés estuvieron muy cercanas a cero. Reduciendo las capacidades de los Banco Centrales de actuar.</a:t>
            </a:r>
          </a:p>
        </p:txBody>
      </p:sp>
    </p:spTree>
    <p:extLst>
      <p:ext uri="{BB962C8B-B14F-4D97-AF65-F5344CB8AC3E}">
        <p14:creationId xmlns:p14="http://schemas.microsoft.com/office/powerpoint/2010/main" val="549976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0456-9D0A-458C-8A2E-EC9E7705C9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D8893AB-0534-4B88-9B3D-6ABA4EB9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DC1C9B3-8822-4405-A159-EE71CDEE8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FE5E3879-F1BD-BC5E-F1DC-E7E02C5B4EDC}"/>
              </a:ext>
            </a:extLst>
          </p:cNvPr>
          <p:cNvSpPr txBox="1"/>
          <p:nvPr/>
        </p:nvSpPr>
        <p:spPr>
          <a:xfrm>
            <a:off x="7697274" y="1894187"/>
            <a:ext cx="407616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>
                <a:solidFill>
                  <a:schemeClr val="bg1"/>
                </a:solidFill>
                <a:latin typeface="Libre Franklin" pitchFamily="2" charset="0"/>
              </a:rPr>
              <a:t>Meta de inflación en las economías avanzadas y problemas con el límite inferior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D18245E-5F44-C163-3B64-F6EC4EFD90B9}"/>
              </a:ext>
            </a:extLst>
          </p:cNvPr>
          <p:cNvSpPr txBox="1"/>
          <p:nvPr/>
        </p:nvSpPr>
        <p:spPr>
          <a:xfrm>
            <a:off x="418563" y="1092818"/>
            <a:ext cx="60723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Distintos autores han postulado que el riesgo de que las tasas de interés alcancen valores cercanos a cero está relacionado con la meta de inflación.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E03FA8B1-3267-D914-F04F-13312FC0AE66}"/>
                  </a:ext>
                </a:extLst>
              </p:cNvPr>
              <p:cNvSpPr txBox="1"/>
              <p:nvPr/>
            </p:nvSpPr>
            <p:spPr>
              <a:xfrm>
                <a:off x="1114249" y="2185473"/>
                <a:ext cx="232300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s-MX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3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s-MX" sz="3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s-MX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s-MX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s-MX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s-MX" sz="3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s-MX" sz="3600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E03FA8B1-3267-D914-F04F-13312FC0A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249" y="2185473"/>
                <a:ext cx="2323007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BFD81339-89E2-A2E6-02D5-8F8FA4979664}"/>
              </a:ext>
            </a:extLst>
          </p:cNvPr>
          <p:cNvSpPr txBox="1"/>
          <p:nvPr/>
        </p:nvSpPr>
        <p:spPr>
          <a:xfrm>
            <a:off x="3591288" y="2200862"/>
            <a:ext cx="21529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1400" b="1" dirty="0">
                <a:latin typeface="Libre Franklin" pitchFamily="2" charset="0"/>
              </a:rPr>
              <a:t>* Denota los niveles de largo plazo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F156CB86-AECC-4E4C-CCC6-8C46B4000E34}"/>
                  </a:ext>
                </a:extLst>
              </p:cNvPr>
              <p:cNvSpPr txBox="1"/>
              <p:nvPr/>
            </p:nvSpPr>
            <p:spPr>
              <a:xfrm>
                <a:off x="418563" y="2962504"/>
                <a:ext cx="607238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s-MX" dirty="0">
                    <a:latin typeface="Libre Franklin" pitchFamily="2" charset="0"/>
                  </a:rPr>
                  <a:t>Así por ejemplo una meta de inflación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MX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s-MX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s-MX" dirty="0">
                    <a:latin typeface="Libre Franklin" pitchFamily="2" charset="0"/>
                  </a:rPr>
                  <a:t> superior al 2% en las economías avanzadas hubiera dado mayor margen de acción a los bancos centrales.</a:t>
                </a:r>
              </a:p>
              <a:p>
                <a:pPr algn="just"/>
                <a:endParaRPr lang="es-MX" dirty="0">
                  <a:latin typeface="Libre Franklin" pitchFamily="2" charset="0"/>
                </a:endParaRPr>
              </a:p>
              <a:p>
                <a:pPr algn="just"/>
                <a:r>
                  <a:rPr lang="es-MX" dirty="0">
                    <a:latin typeface="Libre Franklin" pitchFamily="2" charset="0"/>
                  </a:rPr>
                  <a:t>Por otro lado, economistas como Olivier Blanchard proponen que de haber sido así, los déficits fiscales hubieran crecido en menor medida durante la crisis financiera de 2008.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F156CB86-AECC-4E4C-CCC6-8C46B4000E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63" y="2962504"/>
                <a:ext cx="6072389" cy="2308324"/>
              </a:xfrm>
              <a:prstGeom prst="rect">
                <a:avLst/>
              </a:prstGeom>
              <a:blipFill>
                <a:blip r:embed="rId5"/>
                <a:stretch>
                  <a:fillRect l="-904" t="-1583" r="-1506" b="-316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85302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DC376-05D2-284E-417B-EFE61317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2BB140-5F41-B9CC-1841-C69F9E100C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0FD4F0E-EFB1-EC0D-64FF-7F124F59F5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8930E4-9157-0E54-0011-96912EBF7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AF180B2C-F8E3-81F7-F302-7782BF7C0257}"/>
              </a:ext>
            </a:extLst>
          </p:cNvPr>
          <p:cNvSpPr txBox="1"/>
          <p:nvPr/>
        </p:nvSpPr>
        <p:spPr>
          <a:xfrm>
            <a:off x="1226713" y="2731041"/>
            <a:ext cx="41291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2000" dirty="0">
                <a:latin typeface="Libre Franklin" pitchFamily="2" charset="0"/>
              </a:rPr>
              <a:t>Como notamos en el gráfico las economías avanzadas tuvieron el mayor incremento de su deuda como proporción del PIB en el promedio de 5 años posterior a la crisis.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C743C16-53D7-D3E4-3454-FF496ADD92C4}"/>
              </a:ext>
            </a:extLst>
          </p:cNvPr>
          <p:cNvSpPr txBox="1"/>
          <p:nvPr/>
        </p:nvSpPr>
        <p:spPr>
          <a:xfrm>
            <a:off x="6754969" y="2696909"/>
            <a:ext cx="43417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2000" dirty="0">
                <a:latin typeface="Libre Franklin" pitchFamily="2" charset="0"/>
              </a:rPr>
              <a:t>Las economías emergentes en América Latina no experimentaron este fenómeno con tanta severidad.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829546A-9CB1-CFC1-1375-CD33898A63BF}"/>
              </a:ext>
            </a:extLst>
          </p:cNvPr>
          <p:cNvGrpSpPr/>
          <p:nvPr/>
        </p:nvGrpSpPr>
        <p:grpSpPr>
          <a:xfrm>
            <a:off x="0" y="553338"/>
            <a:ext cx="12192000" cy="1893630"/>
            <a:chOff x="0" y="553338"/>
            <a:chExt cx="12192000" cy="1893630"/>
          </a:xfrm>
        </p:grpSpPr>
        <p:pic>
          <p:nvPicPr>
            <p:cNvPr id="4" name="slide2" descr="Hoja 1">
              <a:extLst>
                <a:ext uri="{FF2B5EF4-FFF2-40B4-BE49-F238E27FC236}">
                  <a16:creationId xmlns:a16="http://schemas.microsoft.com/office/drawing/2014/main" id="{2FFEB5AC-4088-497A-BD29-6538D27FD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736" b="11907"/>
            <a:stretch>
              <a:fillRect/>
            </a:stretch>
          </p:blipFill>
          <p:spPr>
            <a:xfrm>
              <a:off x="0" y="1122363"/>
              <a:ext cx="12192000" cy="1048385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C001A9FF-14DD-3A40-0F4B-0ECDBBFAF51C}"/>
                </a:ext>
              </a:extLst>
            </p:cNvPr>
            <p:cNvSpPr txBox="1"/>
            <p:nvPr/>
          </p:nvSpPr>
          <p:spPr>
            <a:xfrm>
              <a:off x="2904187" y="553338"/>
              <a:ext cx="6497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2400" b="1" dirty="0"/>
                <a:t>Crecimiento de la deuda durante la crisis 2008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9630303-11E5-04FB-DBB2-7813F55DB0C8}"/>
                </a:ext>
              </a:extLst>
            </p:cNvPr>
            <p:cNvSpPr txBox="1"/>
            <p:nvPr/>
          </p:nvSpPr>
          <p:spPr>
            <a:xfrm>
              <a:off x="0" y="2185358"/>
              <a:ext cx="23761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100" dirty="0">
                  <a:latin typeface="Libre Franklin" pitchFamily="2" charset="0"/>
                </a:rPr>
                <a:t>Fuente: Banco Mundial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52125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1FFCA-B12A-05DD-9960-35EB7F8D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058C3E-8E2C-CE18-58DF-5BAD4C52A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1E7CD02-3C2B-E3AE-4503-C0DB9CDFBC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BFD13A9-E59F-204B-6AC5-BEE9808D3E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0A3476C-4C3B-B573-79B6-26F32D218BE8}"/>
              </a:ext>
            </a:extLst>
          </p:cNvPr>
          <p:cNvSpPr txBox="1"/>
          <p:nvPr/>
        </p:nvSpPr>
        <p:spPr>
          <a:xfrm>
            <a:off x="94058" y="2121595"/>
            <a:ext cx="48102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>
                <a:solidFill>
                  <a:schemeClr val="bg1"/>
                </a:solidFill>
                <a:latin typeface="Libre Franklin" pitchFamily="2" charset="0"/>
              </a:rPr>
              <a:t>Discusión en torno a la meta de inflación en economía avanzadas </a:t>
            </a:r>
            <a:endParaRPr lang="es-GT" sz="2400" b="1" dirty="0">
              <a:solidFill>
                <a:schemeClr val="bg1"/>
              </a:solidFill>
              <a:latin typeface="Libre Franklin" pitchFamily="2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B4C1375-D1DE-17F8-C88E-CBB3B42B94F2}"/>
              </a:ext>
            </a:extLst>
          </p:cNvPr>
          <p:cNvSpPr txBox="1"/>
          <p:nvPr/>
        </p:nvSpPr>
        <p:spPr>
          <a:xfrm>
            <a:off x="5511964" y="1122363"/>
            <a:ext cx="607238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dirty="0">
                <a:latin typeface="Libre Franklin" pitchFamily="2" charset="0"/>
              </a:rPr>
              <a:t>Distintos economistas y trabajos han postulado que una meta del 2% no es del todo óptima para una economía argumentando lo siguiente:</a:t>
            </a:r>
          </a:p>
          <a:p>
            <a:pPr algn="just"/>
            <a:endParaRPr lang="es-MX" dirty="0">
              <a:latin typeface="Libre Franklin" pitchFamily="2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>
                <a:latin typeface="Libre Franklin" pitchFamily="2" charset="0"/>
              </a:rPr>
              <a:t> Una meta mas elevada brinda mayor margen de acción a la política monetaria.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dirty="0">
              <a:latin typeface="Libre Franklin" pitchFamily="2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>
                <a:latin typeface="Libre Franklin" pitchFamily="2" charset="0"/>
              </a:rPr>
              <a:t>Un Banco Central con mayor margen de acción podría reducir la severidad de los periodos de recesión.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dirty="0">
              <a:latin typeface="Libre Franklin" pitchFamily="2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>
                <a:latin typeface="Libre Franklin" pitchFamily="2" charset="0"/>
              </a:rPr>
              <a:t>Bajo contextos inflacionarios bajos los agentes no incorporan la inflación en la toma de decisiones, lo cual los vuelve susceptibles a choques inflacionarios desanclando sus exceptivas con mayor facilidad.</a:t>
            </a:r>
          </a:p>
        </p:txBody>
      </p:sp>
    </p:spTree>
    <p:extLst>
      <p:ext uri="{BB962C8B-B14F-4D97-AF65-F5344CB8AC3E}">
        <p14:creationId xmlns:p14="http://schemas.microsoft.com/office/powerpoint/2010/main" val="1676154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7C53C-70AD-5013-9D50-D6960624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54CCE951-D57B-EE5F-B26E-21BA91100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48475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858D0594-A903-1530-8BCE-D4BE146B5EE9}"/>
              </a:ext>
            </a:extLst>
          </p:cNvPr>
          <p:cNvSpPr txBox="1"/>
          <p:nvPr/>
        </p:nvSpPr>
        <p:spPr>
          <a:xfrm>
            <a:off x="3503054" y="2166338"/>
            <a:ext cx="50488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>
                <a:solidFill>
                  <a:schemeClr val="bg1"/>
                </a:solidFill>
                <a:latin typeface="Libre Franklin" pitchFamily="2" charset="0"/>
              </a:rPr>
              <a:t>Cambio de meta de inflación y credibilidad del Banco Central</a:t>
            </a:r>
            <a:endParaRPr lang="es-GT" sz="2400" b="1" dirty="0">
              <a:solidFill>
                <a:schemeClr val="bg1"/>
              </a:solidFill>
              <a:latin typeface="Libre Frankli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822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80712-5331-76A0-C704-2F9E400FB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FC8177-DCB4-35B7-FCA8-3ADE509805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9FBE3F-E28C-451D-21E2-B373F6899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18331"/>
            <a:ext cx="9144000" cy="1655762"/>
          </a:xfrm>
        </p:spPr>
        <p:txBody>
          <a:bodyPr/>
          <a:lstStyle/>
          <a:p>
            <a:endParaRPr lang="es-GT"/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53238796-79DF-9183-5BB4-DB12F7D627D8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FFA391E8-6802-D900-138F-0EA91DCE4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BC3EC0D0-158A-7B8C-78BA-92BDAC11B4A0}"/>
                </a:ext>
              </a:extLst>
            </p:cNvPr>
            <p:cNvSpPr/>
            <p:nvPr/>
          </p:nvSpPr>
          <p:spPr>
            <a:xfrm>
              <a:off x="6439" y="5783088"/>
              <a:ext cx="6587544" cy="118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89D28C65-EF85-167D-85A2-7635757E9C83}"/>
              </a:ext>
            </a:extLst>
          </p:cNvPr>
          <p:cNvSpPr txBox="1"/>
          <p:nvPr/>
        </p:nvSpPr>
        <p:spPr>
          <a:xfrm>
            <a:off x="165181" y="142848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Condiciones previas a la reducción de la meta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FC8B459D-E446-FAD8-507A-AF56DB776210}"/>
              </a:ext>
            </a:extLst>
          </p:cNvPr>
          <p:cNvCxnSpPr>
            <a:cxnSpLocks/>
          </p:cNvCxnSpPr>
          <p:nvPr/>
        </p:nvCxnSpPr>
        <p:spPr>
          <a:xfrm>
            <a:off x="265471" y="666068"/>
            <a:ext cx="7655036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C0CEC8F3-3608-FF3A-558F-74A98EB376E5}"/>
              </a:ext>
            </a:extLst>
          </p:cNvPr>
          <p:cNvSpPr txBox="1"/>
          <p:nvPr/>
        </p:nvSpPr>
        <p:spPr>
          <a:xfrm>
            <a:off x="530624" y="1431686"/>
            <a:ext cx="11131578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latin typeface="Libre Franklin" pitchFamily="2" charset="0"/>
              </a:rPr>
              <a:t>Independencia del Banco Central</a:t>
            </a:r>
          </a:p>
          <a:p>
            <a:pPr marL="985838" indent="-985838" algn="just"/>
            <a:r>
              <a:rPr lang="es-ES" sz="2000" dirty="0">
                <a:latin typeface="Libre Franklin" pitchFamily="2" charset="0"/>
              </a:rPr>
              <a:t>	</a:t>
            </a:r>
            <a:r>
              <a:rPr lang="es-ES" dirty="0">
                <a:latin typeface="Libre Franklin" pitchFamily="2" charset="0"/>
              </a:rPr>
              <a:t>El Banco Central debe establecer su política sin intromisión alguna con el propósito de mantener la inflación en el objetivo fijado</a:t>
            </a:r>
            <a:endParaRPr lang="es-ES" sz="2000" dirty="0">
              <a:latin typeface="Libre Franklin" pitchFamily="2" charset="0"/>
            </a:endParaRPr>
          </a:p>
          <a:p>
            <a:endParaRPr lang="es-ES" sz="2000" b="1" dirty="0">
              <a:latin typeface="Libre Franklin" pitchFamily="2" charset="0"/>
            </a:endParaRPr>
          </a:p>
          <a:p>
            <a:r>
              <a:rPr lang="es-ES" sz="2000" b="1" dirty="0">
                <a:latin typeface="Libre Franklin" pitchFamily="2" charset="0"/>
              </a:rPr>
              <a:t>Integración con la política fiscal</a:t>
            </a:r>
          </a:p>
          <a:p>
            <a:pPr marL="985838" algn="just"/>
            <a:r>
              <a:rPr lang="es-ES" dirty="0">
                <a:latin typeface="Libre Franklin" pitchFamily="2" charset="0"/>
              </a:rPr>
              <a:t>La política fiscal no debe contrariar a la monetaria en el sentido de que ambas deben contener la demanda agregada cuando así se requiera.</a:t>
            </a:r>
          </a:p>
          <a:p>
            <a:endParaRPr lang="es-ES" sz="2000" b="1" dirty="0">
              <a:latin typeface="Libre Franklin" pitchFamily="2" charset="0"/>
            </a:endParaRPr>
          </a:p>
          <a:p>
            <a:r>
              <a:rPr lang="es-ES" sz="2000" b="1" dirty="0">
                <a:latin typeface="Libre Franklin" pitchFamily="2" charset="0"/>
              </a:rPr>
              <a:t>Un mecanismo de transmisión fortalecido</a:t>
            </a:r>
          </a:p>
          <a:p>
            <a:pPr marL="985838" algn="just"/>
            <a:r>
              <a:rPr lang="es-ES" dirty="0">
                <a:latin typeface="Libre Franklin" pitchFamily="2" charset="0"/>
              </a:rPr>
              <a:t>Estudios han sugerido que el mecanismo de transmisión en Guatemala es débil y proponen que este se fortalecería mediante el desarrollo del mercado secundario.</a:t>
            </a:r>
          </a:p>
          <a:p>
            <a:endParaRPr lang="es-ES" sz="2000" b="1" dirty="0">
              <a:latin typeface="Libre Franklin" pitchFamily="2" charset="0"/>
            </a:endParaRPr>
          </a:p>
          <a:p>
            <a:r>
              <a:rPr lang="es-ES" sz="2000" b="1" dirty="0">
                <a:latin typeface="Libre Franklin" pitchFamily="2" charset="0"/>
              </a:rPr>
              <a:t>Credibilidad del Banco Central</a:t>
            </a:r>
          </a:p>
          <a:p>
            <a:pPr marL="985838"/>
            <a:r>
              <a:rPr lang="es-ES" dirty="0">
                <a:latin typeface="Libre Franklin" pitchFamily="2" charset="0"/>
              </a:rPr>
              <a:t>Los bancos centrales deben contar con un capital de credibilidad previo a reducir la meta de inflación.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5DD472B-4A98-6AE4-ED72-EB4B3FC4BE11}"/>
              </a:ext>
            </a:extLst>
          </p:cNvPr>
          <p:cNvSpPr txBox="1"/>
          <p:nvPr/>
        </p:nvSpPr>
        <p:spPr>
          <a:xfrm>
            <a:off x="265471" y="753160"/>
            <a:ext cx="11396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GT" dirty="0">
                <a:latin typeface="Libre Franklin" pitchFamily="2" charset="0"/>
              </a:rPr>
              <a:t>Existen condiciones que deben cumplirse antes que una autoridad monetaria reduzca su metas de inflación. Entre ellas destacan las siguientes: 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F76A3DF-97B5-5377-0C93-52F85735400E}"/>
              </a:ext>
            </a:extLst>
          </p:cNvPr>
          <p:cNvCxnSpPr>
            <a:cxnSpLocks/>
          </p:cNvCxnSpPr>
          <p:nvPr/>
        </p:nvCxnSpPr>
        <p:spPr>
          <a:xfrm>
            <a:off x="438356" y="1624056"/>
            <a:ext cx="14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D3699448-32C7-D74F-2DA1-A0B372A93277}"/>
              </a:ext>
            </a:extLst>
          </p:cNvPr>
          <p:cNvCxnSpPr>
            <a:cxnSpLocks/>
          </p:cNvCxnSpPr>
          <p:nvPr/>
        </p:nvCxnSpPr>
        <p:spPr>
          <a:xfrm>
            <a:off x="458118" y="2819645"/>
            <a:ext cx="14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795E5196-CB0D-FA8D-6F6B-F0B337154E4E}"/>
              </a:ext>
            </a:extLst>
          </p:cNvPr>
          <p:cNvCxnSpPr>
            <a:cxnSpLocks/>
          </p:cNvCxnSpPr>
          <p:nvPr/>
        </p:nvCxnSpPr>
        <p:spPr>
          <a:xfrm>
            <a:off x="458118" y="3954303"/>
            <a:ext cx="14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C1101AE-5D7E-1D79-71B7-792ED7BA1E60}"/>
              </a:ext>
            </a:extLst>
          </p:cNvPr>
          <p:cNvCxnSpPr>
            <a:cxnSpLocks/>
          </p:cNvCxnSpPr>
          <p:nvPr/>
        </p:nvCxnSpPr>
        <p:spPr>
          <a:xfrm>
            <a:off x="452122" y="5130572"/>
            <a:ext cx="14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0646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C75DC-67BC-9518-D21F-0E740DDCC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FBB272-C571-645A-36F0-62BD33A7C5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C01979E-F6A0-63FA-37DC-1FF856DADA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72DE02-BA25-6201-631E-B13C84025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BEC758C3-9BF1-8286-3732-50A6A40C9677}"/>
              </a:ext>
            </a:extLst>
          </p:cNvPr>
          <p:cNvSpPr txBox="1"/>
          <p:nvPr/>
        </p:nvSpPr>
        <p:spPr>
          <a:xfrm>
            <a:off x="-64394" y="2828835"/>
            <a:ext cx="48102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>
                <a:solidFill>
                  <a:schemeClr val="bg1"/>
                </a:solidFill>
                <a:latin typeface="Libre Franklin" pitchFamily="2" charset="0"/>
              </a:rPr>
              <a:t>Credibilidad del Banco Central</a:t>
            </a:r>
            <a:endParaRPr lang="es-GT" sz="2400" b="1" dirty="0">
              <a:solidFill>
                <a:schemeClr val="bg1"/>
              </a:solidFill>
              <a:latin typeface="Libre Franklin" pitchFamily="2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4A791EE-AEFE-7664-E4F3-21A27FE1A4F1}"/>
              </a:ext>
            </a:extLst>
          </p:cNvPr>
          <p:cNvSpPr txBox="1"/>
          <p:nvPr/>
        </p:nvSpPr>
        <p:spPr>
          <a:xfrm>
            <a:off x="5647193" y="2491870"/>
            <a:ext cx="607238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2000" dirty="0">
                <a:latin typeface="Libre Franklin" pitchFamily="2" charset="0"/>
              </a:rPr>
              <a:t>Dentro del actual ambiente macroeconómico consideramos que la credibilidad del Banco Central reviste de especial importancia al momento de considerar una revisión hacia la baja de la meta de inflación.</a:t>
            </a:r>
          </a:p>
        </p:txBody>
      </p:sp>
    </p:spTree>
    <p:extLst>
      <p:ext uri="{BB962C8B-B14F-4D97-AF65-F5344CB8AC3E}">
        <p14:creationId xmlns:p14="http://schemas.microsoft.com/office/powerpoint/2010/main" val="22551673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7B5F2-10A4-C994-7BE9-EBB95B0C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5F934F-126C-7A14-4B96-23967A7876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F6CE7F6-C99E-0676-6DF0-1D4A26BFE35B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F507F8F0-65C3-3468-542F-653F5AAEBC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573F1218-1F16-2BA6-162F-2EF7E54148EF}"/>
                </a:ext>
              </a:extLst>
            </p:cNvPr>
            <p:cNvSpPr/>
            <p:nvPr/>
          </p:nvSpPr>
          <p:spPr>
            <a:xfrm>
              <a:off x="6439" y="5783088"/>
              <a:ext cx="6587544" cy="118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A6B3F45E-BA7B-CE0C-35A8-3228A89353B8}"/>
              </a:ext>
            </a:extLst>
          </p:cNvPr>
          <p:cNvSpPr txBox="1"/>
          <p:nvPr/>
        </p:nvSpPr>
        <p:spPr>
          <a:xfrm>
            <a:off x="165181" y="142848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Credibilidad del Banco Central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F878A72-7579-F937-DCA9-B7F4434D2446}"/>
              </a:ext>
            </a:extLst>
          </p:cNvPr>
          <p:cNvCxnSpPr>
            <a:cxnSpLocks/>
          </p:cNvCxnSpPr>
          <p:nvPr/>
        </p:nvCxnSpPr>
        <p:spPr>
          <a:xfrm>
            <a:off x="265471" y="666068"/>
            <a:ext cx="518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E8C68AE-7377-2F3C-2D59-95F07FE3668E}"/>
              </a:ext>
            </a:extLst>
          </p:cNvPr>
          <p:cNvSpPr txBox="1"/>
          <p:nvPr/>
        </p:nvSpPr>
        <p:spPr>
          <a:xfrm>
            <a:off x="265471" y="753160"/>
            <a:ext cx="1139673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GT" i="1" dirty="0" err="1">
                <a:latin typeface="Libre Franklin" pitchFamily="2" charset="0"/>
              </a:rPr>
              <a:t>Cukierman</a:t>
            </a:r>
            <a:r>
              <a:rPr lang="es-GT" i="1" dirty="0">
                <a:latin typeface="Libre Franklin" pitchFamily="2" charset="0"/>
              </a:rPr>
              <a:t> (1986) </a:t>
            </a:r>
            <a:r>
              <a:rPr lang="es-GT" dirty="0">
                <a:latin typeface="Libre Franklin" pitchFamily="2" charset="0"/>
              </a:rPr>
              <a:t>define la credibilidad de un Banco Central como:</a:t>
            </a:r>
          </a:p>
          <a:p>
            <a:pPr algn="just"/>
            <a:endParaRPr lang="es-GT" dirty="0">
              <a:latin typeface="Libre Franklin" pitchFamily="2" charset="0"/>
            </a:endParaRPr>
          </a:p>
          <a:p>
            <a:pPr algn="just"/>
            <a:endParaRPr lang="es-GT" i="1" dirty="0">
              <a:latin typeface="Libre Franklin" pitchFamily="2" charset="0"/>
            </a:endParaRPr>
          </a:p>
          <a:p>
            <a:pPr algn="just"/>
            <a:endParaRPr lang="es-GT" i="1" dirty="0">
              <a:latin typeface="Libre Franklin" pitchFamily="2" charset="0"/>
            </a:endParaRPr>
          </a:p>
          <a:p>
            <a:pPr algn="just"/>
            <a:endParaRPr lang="es-GT" i="1" dirty="0">
              <a:latin typeface="Libre Franklin" pitchFamily="2" charset="0"/>
            </a:endParaRPr>
          </a:p>
          <a:p>
            <a:pPr algn="just"/>
            <a:endParaRPr lang="es-GT" i="1" dirty="0">
              <a:latin typeface="Libre Franklin" pitchFamily="2" charset="0"/>
            </a:endParaRPr>
          </a:p>
          <a:p>
            <a:pPr algn="just"/>
            <a:r>
              <a:rPr lang="es-GT" dirty="0">
                <a:latin typeface="Libre Franklin" pitchFamily="2" charset="0"/>
              </a:rPr>
              <a:t>Otros economistas como </a:t>
            </a:r>
            <a:r>
              <a:rPr lang="es-GT" i="1" dirty="0">
                <a:latin typeface="Libre Franklin" pitchFamily="2" charset="0"/>
              </a:rPr>
              <a:t>Frederic </a:t>
            </a:r>
            <a:r>
              <a:rPr lang="es-GT" i="1" dirty="0" err="1">
                <a:latin typeface="Libre Franklin" pitchFamily="2" charset="0"/>
              </a:rPr>
              <a:t>Mishkin</a:t>
            </a:r>
            <a:r>
              <a:rPr lang="es-GT" i="1" dirty="0">
                <a:latin typeface="Libre Franklin" pitchFamily="2" charset="0"/>
              </a:rPr>
              <a:t> (2008)</a:t>
            </a:r>
            <a:r>
              <a:rPr lang="es-GT" dirty="0">
                <a:latin typeface="Libre Franklin" pitchFamily="2" charset="0"/>
              </a:rPr>
              <a:t> sugieren que los Bancos Centrales deben generar un compromiso firme con el ancla nominal que han escogido. Algo muy en línea con  autores como </a:t>
            </a:r>
            <a:r>
              <a:rPr lang="es-GT" i="1" dirty="0">
                <a:latin typeface="Libre Franklin" pitchFamily="2" charset="0"/>
              </a:rPr>
              <a:t>Bordo </a:t>
            </a:r>
            <a:r>
              <a:rPr lang="es-GT" dirty="0">
                <a:latin typeface="Libre Franklin" pitchFamily="2" charset="0"/>
              </a:rPr>
              <a:t>y </a:t>
            </a:r>
            <a:r>
              <a:rPr lang="es-GT" i="1" dirty="0" err="1">
                <a:latin typeface="Libre Franklin" pitchFamily="2" charset="0"/>
              </a:rPr>
              <a:t>Siklos</a:t>
            </a:r>
            <a:r>
              <a:rPr lang="es-GT" i="1" dirty="0">
                <a:latin typeface="Libre Franklin" pitchFamily="2" charset="0"/>
              </a:rPr>
              <a:t> (2014)</a:t>
            </a:r>
            <a:r>
              <a:rPr lang="es-GT" dirty="0">
                <a:latin typeface="Libre Franklin" pitchFamily="2" charset="0"/>
              </a:rPr>
              <a:t> que definen la credibilidad de un Banco Central en términos del desempeño de la inflación.</a:t>
            </a:r>
          </a:p>
          <a:p>
            <a:pPr algn="just"/>
            <a:endParaRPr lang="es-GT" i="1" dirty="0">
              <a:latin typeface="Libre Franklin" pitchFamily="2" charset="0"/>
            </a:endParaRPr>
          </a:p>
          <a:p>
            <a:pPr algn="just"/>
            <a:endParaRPr lang="es-GT" i="1" dirty="0">
              <a:latin typeface="Libre Franklin" pitchFamily="2" charset="0"/>
            </a:endParaRPr>
          </a:p>
          <a:p>
            <a:pPr algn="just"/>
            <a:r>
              <a:rPr lang="es-GT" i="1" dirty="0">
                <a:latin typeface="Libre Franklin" pitchFamily="2" charset="0"/>
              </a:rPr>
              <a:t>Bordo </a:t>
            </a:r>
            <a:r>
              <a:rPr lang="es-GT" dirty="0">
                <a:latin typeface="Libre Franklin" pitchFamily="2" charset="0"/>
              </a:rPr>
              <a:t>y </a:t>
            </a:r>
            <a:r>
              <a:rPr lang="es-GT" i="1" dirty="0" err="1">
                <a:latin typeface="Libre Franklin" pitchFamily="2" charset="0"/>
              </a:rPr>
              <a:t>Siklos</a:t>
            </a:r>
            <a:r>
              <a:rPr lang="es-GT" i="1" dirty="0">
                <a:latin typeface="Libre Franklin" pitchFamily="2" charset="0"/>
              </a:rPr>
              <a:t> (2014) </a:t>
            </a:r>
            <a:r>
              <a:rPr lang="es-GT" dirty="0">
                <a:latin typeface="Libre Franklin" pitchFamily="2" charset="0"/>
              </a:rPr>
              <a:t>También señalan que la credibilidad consiste en </a:t>
            </a:r>
            <a:r>
              <a:rPr lang="es-GT" i="1" dirty="0">
                <a:latin typeface="Libre Franklin" pitchFamily="2" charset="0"/>
              </a:rPr>
              <a:t>“el compromiso de seguir reglas y objetivos políticos bien articulados y transparentes”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37F6339-FF3E-893A-2329-D0A852984060}"/>
              </a:ext>
            </a:extLst>
          </p:cNvPr>
          <p:cNvSpPr txBox="1"/>
          <p:nvPr/>
        </p:nvSpPr>
        <p:spPr>
          <a:xfrm>
            <a:off x="2270819" y="1481022"/>
            <a:ext cx="7386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GT" i="1" dirty="0">
                <a:latin typeface="Libre Franklin" pitchFamily="2" charset="0"/>
              </a:rPr>
              <a:t>“El grado en que el público cree que se ha producido un cambio en la política cuando, de hecho, dicho cambio se ha producido realmente”</a:t>
            </a:r>
          </a:p>
        </p:txBody>
      </p:sp>
    </p:spTree>
    <p:extLst>
      <p:ext uri="{BB962C8B-B14F-4D97-AF65-F5344CB8AC3E}">
        <p14:creationId xmlns:p14="http://schemas.microsoft.com/office/powerpoint/2010/main" val="14562501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39ECD-49CC-0F04-4F06-651E9259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DC057A-D042-7193-DA96-943CACC575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0685767A-064B-2708-C280-33B95E75C6C3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66EC95C2-4BF1-2788-208C-87A6E3A97E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8B76BA8D-53BC-0D0D-994B-5693A9366B1D}"/>
                </a:ext>
              </a:extLst>
            </p:cNvPr>
            <p:cNvSpPr/>
            <p:nvPr/>
          </p:nvSpPr>
          <p:spPr>
            <a:xfrm>
              <a:off x="6439" y="5783088"/>
              <a:ext cx="6587544" cy="118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5406FCF1-AD1D-A4B2-BEA4-D7A43C204183}"/>
              </a:ext>
            </a:extLst>
          </p:cNvPr>
          <p:cNvSpPr txBox="1"/>
          <p:nvPr/>
        </p:nvSpPr>
        <p:spPr>
          <a:xfrm>
            <a:off x="165181" y="142848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Credibilidad del Banco Central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D14929B8-966D-06CC-5EE4-018EC76AE0BA}"/>
              </a:ext>
            </a:extLst>
          </p:cNvPr>
          <p:cNvCxnSpPr>
            <a:cxnSpLocks/>
          </p:cNvCxnSpPr>
          <p:nvPr/>
        </p:nvCxnSpPr>
        <p:spPr>
          <a:xfrm>
            <a:off x="265471" y="666068"/>
            <a:ext cx="518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23E3710-BB3B-F6D7-78DB-BEDC713E0379}"/>
              </a:ext>
            </a:extLst>
          </p:cNvPr>
          <p:cNvSpPr txBox="1"/>
          <p:nvPr/>
        </p:nvSpPr>
        <p:spPr>
          <a:xfrm>
            <a:off x="265471" y="1114648"/>
            <a:ext cx="11396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GT" dirty="0">
                <a:latin typeface="Libre Franklin" pitchFamily="2" charset="0"/>
              </a:rPr>
              <a:t>La credibilidad del Banco de Guatemala se ha construido con base a tres pilares fundamentes.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BC87925-0E5F-30D6-1493-41E66BC202AD}"/>
              </a:ext>
            </a:extLst>
          </p:cNvPr>
          <p:cNvSpPr txBox="1"/>
          <p:nvPr/>
        </p:nvSpPr>
        <p:spPr>
          <a:xfrm>
            <a:off x="-64395" y="2171324"/>
            <a:ext cx="58083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+mj-lt"/>
              <a:buAutoNum type="arabicPeriod"/>
            </a:pPr>
            <a:r>
              <a:rPr lang="es-GT" dirty="0">
                <a:latin typeface="Libre Franklin" pitchFamily="2" charset="0"/>
              </a:rPr>
              <a:t>Reducción del nivel promedio de inflación desde la adopción del Esquema de Metas Explicitas de Inflación (EMEI).</a:t>
            </a:r>
          </a:p>
          <a:p>
            <a:pPr marL="800100" lvl="1" indent="-342900" algn="just">
              <a:buFont typeface="+mj-lt"/>
              <a:buAutoNum type="arabicPeriod"/>
            </a:pPr>
            <a:endParaRPr lang="es-GT" dirty="0">
              <a:latin typeface="Libre Franklin" pitchFamily="2" charset="0"/>
            </a:endParaRPr>
          </a:p>
          <a:p>
            <a:pPr marL="800100" lvl="1" indent="-342900" algn="just">
              <a:buFont typeface="+mj-lt"/>
              <a:buAutoNum type="arabicPeriod"/>
            </a:pPr>
            <a:r>
              <a:rPr lang="es-GT" dirty="0">
                <a:latin typeface="Libre Franklin" pitchFamily="2" charset="0"/>
              </a:rPr>
              <a:t>Reducción de la volatilidad de la inflación desde la adopción del al EMEI.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8E68976-7692-96D9-0DCA-067F0B63774C}"/>
              </a:ext>
            </a:extLst>
          </p:cNvPr>
          <p:cNvSpPr txBox="1"/>
          <p:nvPr/>
        </p:nvSpPr>
        <p:spPr>
          <a:xfrm>
            <a:off x="5698901" y="2136994"/>
            <a:ext cx="58924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+mj-lt"/>
              <a:buAutoNum type="arabicPeriod" startAt="3"/>
            </a:pPr>
            <a:r>
              <a:rPr lang="es-GT" dirty="0">
                <a:latin typeface="Libre Franklin" pitchFamily="2" charset="0"/>
              </a:rPr>
              <a:t>Constituirse como un Banco Central que ejecuta su Política Monetaria de forma independiente.</a:t>
            </a:r>
          </a:p>
          <a:p>
            <a:pPr marL="800100" lvl="1" indent="-342900" algn="just">
              <a:buFont typeface="+mj-lt"/>
              <a:buAutoNum type="arabicPeriod" startAt="3"/>
            </a:pPr>
            <a:endParaRPr lang="es-GT" dirty="0">
              <a:latin typeface="Libre Franklin" pitchFamily="2" charset="0"/>
            </a:endParaRPr>
          </a:p>
          <a:p>
            <a:pPr marL="800100" lvl="1" indent="-342900" algn="just">
              <a:buFont typeface="+mj-lt"/>
              <a:buAutoNum type="arabicPeriod" startAt="3"/>
            </a:pPr>
            <a:r>
              <a:rPr lang="es-GT" dirty="0">
                <a:latin typeface="Libre Franklin" pitchFamily="2" charset="0"/>
              </a:rPr>
              <a:t>Se rige por los principios de transparencia mediante el mandato de publicar información oportuna.</a:t>
            </a:r>
          </a:p>
        </p:txBody>
      </p:sp>
    </p:spTree>
    <p:extLst>
      <p:ext uri="{BB962C8B-B14F-4D97-AF65-F5344CB8AC3E}">
        <p14:creationId xmlns:p14="http://schemas.microsoft.com/office/powerpoint/2010/main" val="22487994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4988B-532B-C7D5-6183-BA71E1184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0CF1CC-D9DC-AC26-E279-5B6A905CA9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83B75C50-76AF-0D13-C5A3-994C6BBDF7FC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AE1FBC95-14C4-215C-E7FC-81D5AF05C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BBED8873-958B-CCEE-F1D3-892FD589E3F9}"/>
                </a:ext>
              </a:extLst>
            </p:cNvPr>
            <p:cNvSpPr/>
            <p:nvPr/>
          </p:nvSpPr>
          <p:spPr>
            <a:xfrm>
              <a:off x="6439" y="5783088"/>
              <a:ext cx="6587544" cy="118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B9B2125A-8934-74E2-D123-252B6192AE21}"/>
              </a:ext>
            </a:extLst>
          </p:cNvPr>
          <p:cNvSpPr txBox="1"/>
          <p:nvPr/>
        </p:nvSpPr>
        <p:spPr>
          <a:xfrm>
            <a:off x="165181" y="142848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Credibilidad del Banco Central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835506-42A0-5127-98D3-82E26CA2B0AB}"/>
              </a:ext>
            </a:extLst>
          </p:cNvPr>
          <p:cNvCxnSpPr>
            <a:cxnSpLocks/>
          </p:cNvCxnSpPr>
          <p:nvPr/>
        </p:nvCxnSpPr>
        <p:spPr>
          <a:xfrm>
            <a:off x="265471" y="666068"/>
            <a:ext cx="518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6384E770-E56D-A6EE-E715-0122916A6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69" y="789762"/>
            <a:ext cx="8721557" cy="5008744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E6154CBA-E923-0B45-1F8D-5E97B7214585}"/>
              </a:ext>
            </a:extLst>
          </p:cNvPr>
          <p:cNvSpPr txBox="1"/>
          <p:nvPr/>
        </p:nvSpPr>
        <p:spPr>
          <a:xfrm>
            <a:off x="9066726" y="1862973"/>
            <a:ext cx="291706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1700" dirty="0">
                <a:latin typeface="Libre Franklin" pitchFamily="2" charset="0"/>
              </a:rPr>
              <a:t>En términos de las expectativas estas se encuentran ancladas dentro de las bandas de tolerancia de la meta. Lo cual constituye otra factor a favor de la credibilidad que ha construido el Banco de Guatemala.</a:t>
            </a:r>
          </a:p>
        </p:txBody>
      </p:sp>
    </p:spTree>
    <p:extLst>
      <p:ext uri="{BB962C8B-B14F-4D97-AF65-F5344CB8AC3E}">
        <p14:creationId xmlns:p14="http://schemas.microsoft.com/office/powerpoint/2010/main" val="329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34660-F0E2-5DFA-8D02-A4EEC934C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85782-8188-2878-E08B-CDE8E99B2F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348A83CC-BBFE-32D3-FF3B-4C54CFC5EC66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5AA61022-E8DE-07EF-7C17-3B2C1C9331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02042324-CADE-8504-BAE0-6A24126DBF22}"/>
                </a:ext>
              </a:extLst>
            </p:cNvPr>
            <p:cNvSpPr/>
            <p:nvPr/>
          </p:nvSpPr>
          <p:spPr>
            <a:xfrm>
              <a:off x="6439" y="5783088"/>
              <a:ext cx="6587544" cy="118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6B18BED7-8254-A6D3-CFE3-8A4CF5CB233B}"/>
              </a:ext>
            </a:extLst>
          </p:cNvPr>
          <p:cNvSpPr txBox="1"/>
          <p:nvPr/>
        </p:nvSpPr>
        <p:spPr>
          <a:xfrm>
            <a:off x="165181" y="142848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Credibilidad del Banco Central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18297ACF-3CEB-1EC0-C2BD-F2B223BF4E54}"/>
              </a:ext>
            </a:extLst>
          </p:cNvPr>
          <p:cNvCxnSpPr>
            <a:cxnSpLocks/>
          </p:cNvCxnSpPr>
          <p:nvPr/>
        </p:nvCxnSpPr>
        <p:spPr>
          <a:xfrm>
            <a:off x="265471" y="666068"/>
            <a:ext cx="518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027A40F-C4D6-9E2A-7F64-68EB72CC24EF}"/>
              </a:ext>
            </a:extLst>
          </p:cNvPr>
          <p:cNvSpPr txBox="1"/>
          <p:nvPr/>
        </p:nvSpPr>
        <p:spPr>
          <a:xfrm>
            <a:off x="265471" y="753031"/>
            <a:ext cx="1139673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GT" dirty="0">
                <a:latin typeface="Libre Franklin" pitchFamily="2" charset="0"/>
              </a:rPr>
              <a:t>Con el promedio de inflación en los últimos 12 meses de 1.61% por debajo del límite inferior de la meta y considerando la credibilidad construida por el Banco de Guatemala, es razonable considerar una convergencia prudente hacia un nivel meta más bajo.</a:t>
            </a:r>
          </a:p>
          <a:p>
            <a:pPr algn="just"/>
            <a:endParaRPr lang="es-GT" dirty="0">
              <a:latin typeface="Libre Franklin" pitchFamily="2" charset="0"/>
            </a:endParaRPr>
          </a:p>
          <a:p>
            <a:pPr algn="just"/>
            <a:r>
              <a:rPr lang="es-GT" b="1" dirty="0">
                <a:latin typeface="Libre Franklin" pitchFamily="2" charset="0"/>
              </a:rPr>
              <a:t>Aspectos positivos de la reducción</a:t>
            </a:r>
          </a:p>
          <a:p>
            <a:pPr algn="just"/>
            <a:endParaRPr lang="es-GT" b="1" dirty="0">
              <a:latin typeface="Libre Franklin" pitchFamily="2" charset="0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Sintonía con el resto de economías en desarrollo con Esquema de Metas Explicitas de Inflación.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s-GT" dirty="0">
              <a:latin typeface="Libre Franklin" pitchFamily="2" charset="0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Posible reducción en la inercia inflacionaria </a:t>
            </a:r>
            <a:r>
              <a:rPr lang="es-GT" i="1" dirty="0">
                <a:latin typeface="Libre Franklin" pitchFamily="2" charset="0"/>
              </a:rPr>
              <a:t>Edwards (2012)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s-GT" i="1" dirty="0">
              <a:latin typeface="Libre Franklin" pitchFamily="2" charset="0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La reducción en la inercia inflacionaria podría reducir la sensibilidad de las expectativas de los agentes a variables como el tipo de cambio nominal </a:t>
            </a:r>
            <a:r>
              <a:rPr lang="es-GT" i="1" dirty="0">
                <a:latin typeface="Libre Franklin" pitchFamily="2" charset="0"/>
              </a:rPr>
              <a:t>Edwards (2012)</a:t>
            </a:r>
            <a:r>
              <a:rPr lang="es-GT" dirty="0">
                <a:latin typeface="Libre Franklin" pitchFamily="2" charset="0"/>
              </a:rPr>
              <a:t>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s-GT" i="1" dirty="0">
              <a:latin typeface="Libre Franklin" pitchFamily="2" charset="0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Reducción del riesgo de experimentar alzas súbitas de inflación </a:t>
            </a:r>
            <a:r>
              <a:rPr lang="es-GT" i="1" dirty="0">
                <a:latin typeface="Libre Franklin" pitchFamily="2" charset="0"/>
              </a:rPr>
              <a:t>Edwards (2012)</a:t>
            </a:r>
          </a:p>
          <a:p>
            <a:pPr lvl="1" algn="just"/>
            <a:endParaRPr lang="es-GT" i="1" dirty="0">
              <a:latin typeface="Libre Frankli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93924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DA29D-7098-C5A1-3C3C-DC36C1872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E5A707-6A37-FFED-3B74-8259D61774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D9800621-B9C3-EFC1-2893-E29CC525E61B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4CA772CF-E845-D5E4-A0E9-F29B6AB00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559F9216-6240-ADFA-0693-D6293A87C9D8}"/>
                </a:ext>
              </a:extLst>
            </p:cNvPr>
            <p:cNvSpPr/>
            <p:nvPr/>
          </p:nvSpPr>
          <p:spPr>
            <a:xfrm>
              <a:off x="6439" y="5783088"/>
              <a:ext cx="6587544" cy="118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58240353-E7B5-1E21-0BAE-114AEBBC8AC5}"/>
              </a:ext>
            </a:extLst>
          </p:cNvPr>
          <p:cNvSpPr txBox="1"/>
          <p:nvPr/>
        </p:nvSpPr>
        <p:spPr>
          <a:xfrm>
            <a:off x="165181" y="142848"/>
            <a:ext cx="98991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latin typeface="Libre Franklin" pitchFamily="2" charset="0"/>
              </a:rPr>
              <a:t>Credibilidad del Banco Central</a:t>
            </a:r>
            <a:endParaRPr lang="es-GT" b="1" dirty="0">
              <a:latin typeface="Libre Franklin" pitchFamily="2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0821F2F4-7AE7-B858-5FCE-5B6FDC8EBD33}"/>
              </a:ext>
            </a:extLst>
          </p:cNvPr>
          <p:cNvCxnSpPr>
            <a:cxnSpLocks/>
          </p:cNvCxnSpPr>
          <p:nvPr/>
        </p:nvCxnSpPr>
        <p:spPr>
          <a:xfrm>
            <a:off x="265471" y="666068"/>
            <a:ext cx="5184000" cy="0"/>
          </a:xfrm>
          <a:prstGeom prst="line">
            <a:avLst/>
          </a:prstGeom>
          <a:ln w="38100">
            <a:solidFill>
              <a:srgbClr val="FF7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FC7F765-A9F0-E05C-F69D-8B8AA07EC144}"/>
              </a:ext>
            </a:extLst>
          </p:cNvPr>
          <p:cNvSpPr txBox="1"/>
          <p:nvPr/>
        </p:nvSpPr>
        <p:spPr>
          <a:xfrm>
            <a:off x="265471" y="753031"/>
            <a:ext cx="1139673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just"/>
            <a:r>
              <a:rPr lang="es-GT" dirty="0">
                <a:latin typeface="Libre Franklin" pitchFamily="2" charset="0"/>
              </a:rPr>
              <a:t>Pese lo anterior, de materializarse una reducción de la meta, no hay que olvidar el costo que tendría a la credibilidad del Banco Central una posible reversión de la meta de inflación al 4%.</a:t>
            </a:r>
          </a:p>
          <a:p>
            <a:pPr marL="0" lvl="1" algn="just"/>
            <a:endParaRPr lang="es-GT" dirty="0">
              <a:latin typeface="Libre Franklin" pitchFamily="2" charset="0"/>
            </a:endParaRPr>
          </a:p>
          <a:p>
            <a:pPr marL="0" lvl="1" algn="just"/>
            <a:r>
              <a:rPr lang="es-GT" dirty="0">
                <a:latin typeface="Libre Franklin" pitchFamily="2" charset="0"/>
              </a:rPr>
              <a:t>Estos son algunos costos de una pérdida de credibilidad:</a:t>
            </a:r>
          </a:p>
          <a:p>
            <a:pPr marL="0" lvl="1" algn="just"/>
            <a:endParaRPr lang="es-GT" dirty="0">
              <a:latin typeface="Libre Franklin" pitchFamily="2" charset="0"/>
            </a:endParaRP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Una mayor razón de sacrificio del producto. El Banco Central sería menos agresivo al momento de ejecutar su política monetaria.</a:t>
            </a: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endParaRPr lang="es-GT" dirty="0">
              <a:latin typeface="Libre Franklin" pitchFamily="2" charset="0"/>
            </a:endParaRP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Existe un des anclaje de las expectativas de inflación que es difícil de recuperar en el tiempo.</a:t>
            </a: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endParaRPr lang="es-GT" dirty="0">
              <a:latin typeface="Libre Franklin" pitchFamily="2" charset="0"/>
            </a:endParaRP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Podría conducir a un escenario en el cual las empresas aumenten la frecuencia en la cual actualicen precios con un sesgo hacia el alza (posible espiral inflacionaria).</a:t>
            </a: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endParaRPr lang="es-GT" dirty="0">
              <a:latin typeface="Libre Franklin" pitchFamily="2" charset="0"/>
            </a:endParaRP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r>
              <a:rPr lang="es-GT" dirty="0">
                <a:latin typeface="Libre Franklin" pitchFamily="2" charset="0"/>
              </a:rPr>
              <a:t>Un escenario económico con mayor incertidumbre que conduce a un incremento en la volatilidad de la inflación.</a:t>
            </a:r>
          </a:p>
          <a:p>
            <a:pPr marL="742950" lvl="2" indent="-285750" algn="just">
              <a:buFont typeface="Arial" panose="020B0604020202020204" pitchFamily="34" charset="0"/>
              <a:buChar char="•"/>
            </a:pPr>
            <a:endParaRPr lang="es-GT" dirty="0">
              <a:latin typeface="Libre Franklin" pitchFamily="2" charset="0"/>
            </a:endParaRPr>
          </a:p>
          <a:p>
            <a:pPr marL="0" lvl="2" algn="just"/>
            <a:r>
              <a:rPr lang="es-GT" dirty="0">
                <a:latin typeface="Libre Franklin" pitchFamily="2" charset="0"/>
              </a:rPr>
              <a:t>Dado lo anterior reconocemos los beneficios y los riesgos de una reducción de la meta de inflación.</a:t>
            </a:r>
          </a:p>
        </p:txBody>
      </p:sp>
    </p:spTree>
    <p:extLst>
      <p:ext uri="{BB962C8B-B14F-4D97-AF65-F5344CB8AC3E}">
        <p14:creationId xmlns:p14="http://schemas.microsoft.com/office/powerpoint/2010/main" val="36389534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42FA9-20D0-DFBA-C648-AFC98DDB3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3F779-56F8-9794-7159-AF92ABAC32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EC480B-F783-8A0A-AD72-20C686DAD5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0BF37C9-84BC-786F-A247-8B79A826D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988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6216</TotalTime>
  <Words>2578</Words>
  <Application>Microsoft Office PowerPoint</Application>
  <PresentationFormat>Panorámica</PresentationFormat>
  <Paragraphs>185</Paragraphs>
  <Slides>27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4" baseType="lpstr">
      <vt:lpstr>Aptos</vt:lpstr>
      <vt:lpstr>Arial</vt:lpstr>
      <vt:lpstr>Calibri</vt:lpstr>
      <vt:lpstr>Calibri Light</vt:lpstr>
      <vt:lpstr>Cambria Math</vt:lpstr>
      <vt:lpstr>Libre Franklin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Marjhori Carolina Fuentes Heiz</dc:creator>
  <cp:lastModifiedBy>JGOR</cp:lastModifiedBy>
  <cp:revision>31</cp:revision>
  <dcterms:created xsi:type="dcterms:W3CDTF">2025-08-04T20:22:14Z</dcterms:created>
  <dcterms:modified xsi:type="dcterms:W3CDTF">2025-11-04T15:13:10Z</dcterms:modified>
</cp:coreProperties>
</file>